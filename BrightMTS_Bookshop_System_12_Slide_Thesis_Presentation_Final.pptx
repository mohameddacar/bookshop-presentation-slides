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08d835f6d5cd42c5" /><Relationship Type="http://schemas.openxmlformats.org/officeDocument/2006/relationships/extended-properties" Target="/docProps/app.xml" Id="Rd8857748c9ab4c27" /><Relationship Type="http://schemas.openxmlformats.org/officeDocument/2006/relationships/officeDocument" Target="/ppt/presentation.xml" Id="Rcbc3355182c4488a" /></Relationships>
</file>

<file path=ppt/presentation.xml><?xml version="1.0" encoding="utf-8"?>
<p:presentation xmlns:p="http://schemas.openxmlformats.org/presentationml/2006/main">
  <p:sldMasterIdLst>
    <p:sldMasterId xmlns:r="http://schemas.openxmlformats.org/officeDocument/2006/relationships" id="2147483648" r:id="Ra4ea9f9467c84618"/>
  </p:sldMasterIdLst>
  <p:notesMasterIdLst>
    <p:notesMasterId xmlns:r="http://schemas.openxmlformats.org/officeDocument/2006/relationships" r:id="R69a71578e6ba4a87"/>
  </p:notesMasterIdLst>
  <p:sldIdLst>
    <p:sldId xmlns:r="http://schemas.openxmlformats.org/officeDocument/2006/relationships" id="256" r:id="Ra577f66cc5b04bfc"/>
    <p:sldId xmlns:r="http://schemas.openxmlformats.org/officeDocument/2006/relationships" id="257" r:id="R0156c7d70ef34f6e"/>
    <p:sldId xmlns:r="http://schemas.openxmlformats.org/officeDocument/2006/relationships" id="258" r:id="R03b851b6d3f64093"/>
    <p:sldId xmlns:r="http://schemas.openxmlformats.org/officeDocument/2006/relationships" id="259" r:id="Re740f406175c49e3"/>
    <p:sldId xmlns:r="http://schemas.openxmlformats.org/officeDocument/2006/relationships" id="260" r:id="Rc599c36c5f014cca"/>
    <p:sldId xmlns:r="http://schemas.openxmlformats.org/officeDocument/2006/relationships" id="261" r:id="R79330c4c10d94e6a"/>
    <p:sldId xmlns:r="http://schemas.openxmlformats.org/officeDocument/2006/relationships" id="262" r:id="R9f9ad08c1e7344ab"/>
    <p:sldId xmlns:r="http://schemas.openxmlformats.org/officeDocument/2006/relationships" id="263" r:id="R3b1df0cb4dfd4240"/>
    <p:sldId xmlns:r="http://schemas.openxmlformats.org/officeDocument/2006/relationships" id="264" r:id="Re07cfdaa9a0843fd"/>
    <p:sldId xmlns:r="http://schemas.openxmlformats.org/officeDocument/2006/relationships" id="265" r:id="R6685aa17c9014687"/>
    <p:sldId xmlns:r="http://schemas.openxmlformats.org/officeDocument/2006/relationships" id="266" r:id="R1d7391bc2abf4dcb"/>
    <p:sldId xmlns:r="http://schemas.openxmlformats.org/officeDocument/2006/relationships" id="267" r:id="R4cf84cee92894358"/>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25168baea4744647" /><Relationship Type="http://schemas.openxmlformats.org/officeDocument/2006/relationships/slideMaster" Target="/ppt/slideMasters/slideMaster1.xml" Id="Ra4ea9f9467c84618" /><Relationship Type="http://schemas.openxmlformats.org/officeDocument/2006/relationships/notesMaster" Target="/ppt/notesMasters/notesMaster1.xml" Id="R69a71578e6ba4a87" /><Relationship Type="http://schemas.openxmlformats.org/officeDocument/2006/relationships/presProps" Target="/ppt/presProps.xml" Id="R34fd074759894d53" /><Relationship Type="http://schemas.openxmlformats.org/officeDocument/2006/relationships/tableStyles" Target="/ppt/tableStyles.xml" Id="Rdd7adcd70aa54dc3" /><Relationship Type="http://schemas.openxmlformats.org/officeDocument/2006/relationships/slide" Target="/ppt/slides/slide1.xml" Id="Ra577f66cc5b04bfc" /><Relationship Type="http://schemas.openxmlformats.org/officeDocument/2006/relationships/slide" Target="/ppt/slides/slide2.xml" Id="R0156c7d70ef34f6e" /><Relationship Type="http://schemas.openxmlformats.org/officeDocument/2006/relationships/slide" Target="/ppt/slides/slide3.xml" Id="R03b851b6d3f64093" /><Relationship Type="http://schemas.openxmlformats.org/officeDocument/2006/relationships/slide" Target="/ppt/slides/slide4.xml" Id="Re740f406175c49e3" /><Relationship Type="http://schemas.openxmlformats.org/officeDocument/2006/relationships/slide" Target="/ppt/slides/slide5.xml" Id="Rc599c36c5f014cca" /><Relationship Type="http://schemas.openxmlformats.org/officeDocument/2006/relationships/slide" Target="/ppt/slides/slide6.xml" Id="R79330c4c10d94e6a" /><Relationship Type="http://schemas.openxmlformats.org/officeDocument/2006/relationships/slide" Target="/ppt/slides/slide7.xml" Id="R9f9ad08c1e7344ab" /><Relationship Type="http://schemas.openxmlformats.org/officeDocument/2006/relationships/slide" Target="/ppt/slides/slide8.xml" Id="R3b1df0cb4dfd4240" /><Relationship Type="http://schemas.openxmlformats.org/officeDocument/2006/relationships/slide" Target="/ppt/slides/slide9.xml" Id="Re07cfdaa9a0843fd" /><Relationship Type="http://schemas.openxmlformats.org/officeDocument/2006/relationships/slide" Target="/ppt/slides/slide10.xml" Id="R6685aa17c9014687" /><Relationship Type="http://schemas.openxmlformats.org/officeDocument/2006/relationships/slide" Target="/ppt/slides/slide11.xml" Id="R1d7391bc2abf4dcb" /><Relationship Type="http://schemas.openxmlformats.org/officeDocument/2006/relationships/slide" Target="/ppt/slides/slide12.xml" Id="R4cf84cee9289435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c4f17197aa21406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3f816a960654ec9" /><Relationship Type="http://schemas.openxmlformats.org/officeDocument/2006/relationships/notesMaster" Target="/ppt/notesMasters/notesMaster1.xml" Id="Rc73c69206df34654" /></Relationships>
</file>

<file path=ppt/notesSlides/_rels/notesSlide2.xml.rels>&#65279;<?xml version="1.0" encoding="utf-8"?><Relationships xmlns="http://schemas.openxmlformats.org/package/2006/relationships"><Relationship Type="http://schemas.openxmlformats.org/officeDocument/2006/relationships/slide" Target="/ppt/slides/slide2.xml" Id="Ra4689ed3d0744ce7" /><Relationship Type="http://schemas.openxmlformats.org/officeDocument/2006/relationships/notesMaster" Target="/ppt/notesMasters/notesMaster1.xml" Id="Rc88da2c4c30e4cdf" /></Relationships>
</file>

<file path=ppt/notesSlides/_rels/notesSlide3.xml.rels>&#65279;<?xml version="1.0" encoding="utf-8"?><Relationships xmlns="http://schemas.openxmlformats.org/package/2006/relationships"><Relationship Type="http://schemas.openxmlformats.org/officeDocument/2006/relationships/slide" Target="/ppt/slides/slide3.xml" Id="R749f685fe9d24f68" /><Relationship Type="http://schemas.openxmlformats.org/officeDocument/2006/relationships/notesMaster" Target="/ppt/notesMasters/notesMaster1.xml" Id="Re6571f45a89b4fca" /></Relationships>
</file>

<file path=ppt/notesSlides/_rels/notesSlide4.xml.rels>&#65279;<?xml version="1.0" encoding="utf-8"?><Relationships xmlns="http://schemas.openxmlformats.org/package/2006/relationships"><Relationship Type="http://schemas.openxmlformats.org/officeDocument/2006/relationships/slide" Target="/ppt/slides/slide4.xml" Id="R1afec718074944de" /><Relationship Type="http://schemas.openxmlformats.org/officeDocument/2006/relationships/notesMaster" Target="/ppt/notesMasters/notesMaster1.xml" Id="R46b5861138fa4223" /></Relationships>
</file>

<file path=ppt/notesSlides/_rels/notesSlide5.xml.rels>&#65279;<?xml version="1.0" encoding="utf-8"?><Relationships xmlns="http://schemas.openxmlformats.org/package/2006/relationships"><Relationship Type="http://schemas.openxmlformats.org/officeDocument/2006/relationships/slide" Target="/ppt/slides/slide5.xml" Id="R68dc04f4dff740f0" /><Relationship Type="http://schemas.openxmlformats.org/officeDocument/2006/relationships/notesMaster" Target="/ppt/notesMasters/notesMaster1.xml" Id="R38d15cb5bb354c1c" /></Relationships>
</file>

<file path=ppt/notesSlides/_rels/notesSlide6.xml.rels>&#65279;<?xml version="1.0" encoding="utf-8"?><Relationships xmlns="http://schemas.openxmlformats.org/package/2006/relationships"><Relationship Type="http://schemas.openxmlformats.org/officeDocument/2006/relationships/slide" Target="/ppt/slides/slide6.xml" Id="Ra95ac0e74dcc44ef" /><Relationship Type="http://schemas.openxmlformats.org/officeDocument/2006/relationships/notesMaster" Target="/ppt/notesMasters/notesMaster1.xml" Id="R1c132b24fe3145ee" /></Relationships>
</file>

<file path=ppt/notesSlides/_rels/notesSlide7.xml.rels>&#65279;<?xml version="1.0" encoding="utf-8"?><Relationships xmlns="http://schemas.openxmlformats.org/package/2006/relationships"><Relationship Type="http://schemas.openxmlformats.org/officeDocument/2006/relationships/slide" Target="/ppt/slides/slide7.xml" Id="R7421222de2864802" /><Relationship Type="http://schemas.openxmlformats.org/officeDocument/2006/relationships/notesMaster" Target="/ppt/notesMasters/notesMaster1.xml" Id="R93870a14bc074561" /></Relationships>
</file>

<file path=ppt/notesSlides/_rels/notesSlide8.xml.rels>&#65279;<?xml version="1.0" encoding="utf-8"?><Relationships xmlns="http://schemas.openxmlformats.org/package/2006/relationships"><Relationship Type="http://schemas.openxmlformats.org/officeDocument/2006/relationships/slide" Target="/ppt/slides/slide8.xml" Id="R59d4c78a72e049e4" /><Relationship Type="http://schemas.openxmlformats.org/officeDocument/2006/relationships/notesMaster" Target="/ppt/notesMasters/notesMaster1.xml" Id="R69d8b893a99b41be" /></Relationships>
</file>

<file path=ppt/notesSlides/_rels/notesSlide9.xml.rels>&#65279;<?xml version="1.0" encoding="utf-8"?><Relationships xmlns="http://schemas.openxmlformats.org/package/2006/relationships"><Relationship Type="http://schemas.openxmlformats.org/officeDocument/2006/relationships/slide" Target="/ppt/slides/slide9.xml" Id="R7a1922494f9848e7" /><Relationship Type="http://schemas.openxmlformats.org/officeDocument/2006/relationships/notesMaster" Target="/ppt/notesMasters/notesMaster1.xml" Id="Ra10a73bc1e21437e"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ad55388095d6474a" /><Relationship Type="http://schemas.openxmlformats.org/officeDocument/2006/relationships/notesMaster" Target="/ppt/notesMasters/notesMaster1.xml" Id="Rec82077b551c4aa2"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44c4f040dde442f6" /><Relationship Type="http://schemas.openxmlformats.org/officeDocument/2006/relationships/notesMaster" Target="/ppt/notesMasters/notesMaster1.xml" Id="Rdbcefa8966d74b45"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8ac59549caa74ada" /><Relationship Type="http://schemas.openxmlformats.org/officeDocument/2006/relationships/notesMaster" Target="/ppt/notesMasters/notesMaster1.xml" Id="R58e4e845a23343d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Welcome. This presentation summarizes the complete Bookshop System developed for Bright Multiservices and Tech Solutions. It follows the research journey from the problem identified in Chapter One to the implementation and results presented in Chapter Six.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Bookshop system.docx, Chapter One, Background of the Study. BrightMTS distributes educational learning materials to several customer groups. Growth made handwritten records and separate Microsoft Office files increasingly difficult to manage.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Chapter One, Section 1.2. The existing process made it difficult to monitor stock, update inventory after sales, manage customer records, process orders, coordinate deliveries and generate timely reports. The fragmented records affected operational efficiency and customer service.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Chapter One, Section 1.3. The general objective focused on a web-based Bookshop System. The specific objectives covered implementation, validation and real-time reporting. These same objectives appear in Chapter Six as achieved outcomes.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Chapter One, Section 1.7.1, and Chapter Three, Section 3.5. The scope includes authentication, role-based access, catalog management, warehouses, inventory, stock movements, customers, sponsors, sales, online ordering, payments, delivery, notifications, dashboards and reports.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Chapter One, Section 1.6. The system benefits the organization, employees, customers and management. It also provides a practical academic reference for students and researchers studying information systems and automation.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Chapters Three and Four. Requirements came from observation, interviews and review of company documents. The system used Next.js, TypeScript, Tailwind CSS and shadcn/ui on the frontend, Node.js and Express on the backend, and PostgreSQL with Prisma for data management.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Chapter Three system features and Chapter Six results. Walk-in sales use the POS while online customers browse products and place orders. Payment, inventory, delivery status and management reports remain connected through the centralized database.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Chapter Six, Tables 6.1 and 6.2. The thesis records every major module as completed. It also states that all three research objectives were achieved: implement core functionality, validate the system and generate accurate real-time reports.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Chapter Six, System Evaluation Metrics. The recorded results were login response 1.3 seconds, dashboard loading 2.1 seconds, inventory and sales accuracy at 100%, report generation 2.8 seconds, and implemented role-based security.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Chapter Six comparison between the existing manual system and the proposed system. The completed system directly addressed manual product records, stock counting, paper sales, lack of online ordering, manual delivery follow-up, delayed reporting and limited security.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Chapter Six and the thesis conclusion. The system achieved the research objectives by centralizing core processes, automating routine work, protecting access through roles and producing current reports. The project provides BrightMTS with a practical and reliable digital operating foundation. Thank you. We welcome your questions.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f4f7a9ce7c8c4b05"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856ea523badf4291" /><Relationship Type="http://schemas.openxmlformats.org/officeDocument/2006/relationships/slideLayout" Target="/ppt/slideLayouts/slideLayout1.xml" Id="R944298086676422a"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44298086676422a"/>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1b6cde71c2974555" /><Relationship Type="http://schemas.openxmlformats.org/officeDocument/2006/relationships/image" Target="/ppt/media/image.png" Id="R821726d6848947bb" /><Relationship Type="http://schemas.openxmlformats.org/officeDocument/2006/relationships/notesSlide" Target="/ppt/notesSlides/notesSlide1.xml" Id="Rc486367c662648ba"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6a228e053bda44aa" /><Relationship Type="http://schemas.openxmlformats.org/officeDocument/2006/relationships/notesSlide" Target="/ppt/notesSlides/notesSlide2.xml" Id="R74687d70946c4062"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2ef74ba3b679482d" /><Relationship Type="http://schemas.openxmlformats.org/officeDocument/2006/relationships/notesSlide" Target="/ppt/notesSlides/notesSlide3.xml" Id="R2198d5319a6f46c2"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db969ee300744990" /><Relationship Type="http://schemas.openxmlformats.org/officeDocument/2006/relationships/notesSlide" Target="/ppt/notesSlides/notesSlide4.xml" Id="Ra1369d3e02944bd2"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9b5693ef708f4e48" /><Relationship Type="http://schemas.openxmlformats.org/officeDocument/2006/relationships/notesSlide" Target="/ppt/notesSlides/notesSlide5.xml" Id="R512a39e7a40e4b36"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899624746f924747" /><Relationship Type="http://schemas.openxmlformats.org/officeDocument/2006/relationships/notesSlide" Target="/ppt/notesSlides/notesSlide6.xml" Id="R2e420576269e43e1"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d83a426109e9431b" /><Relationship Type="http://schemas.openxmlformats.org/officeDocument/2006/relationships/notesSlide" Target="/ppt/notesSlides/notesSlide7.xml" Id="Rc13660994dad4c71"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2e291d0a89b94466" /><Relationship Type="http://schemas.openxmlformats.org/officeDocument/2006/relationships/image" Target="/ppt/media/image2.png" Id="Rbef4e2a3dea34c90" /><Relationship Type="http://schemas.openxmlformats.org/officeDocument/2006/relationships/image" Target="/ppt/media/image3.png" Id="R34efd8769862418a" /><Relationship Type="http://schemas.openxmlformats.org/officeDocument/2006/relationships/notesSlide" Target="/ppt/notesSlides/notesSlide8.xml" Id="R2769f195946740b8"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a905af2198f44fae" /><Relationship Type="http://schemas.openxmlformats.org/officeDocument/2006/relationships/image" Target="/ppt/media/image4.png" Id="R2a593f4a545149ea" /><Relationship Type="http://schemas.openxmlformats.org/officeDocument/2006/relationships/notesSlide" Target="/ppt/notesSlides/notesSlide9.xml" Id="Rb41ce860e0394416"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2f54cedc63de4b16" /><Relationship Type="http://schemas.openxmlformats.org/officeDocument/2006/relationships/notesSlide" Target="/ppt/notesSlides/notesSlide10.xml" Id="Re2d96f569038429d"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66afb05a06b148e0" /><Relationship Type="http://schemas.openxmlformats.org/officeDocument/2006/relationships/notesSlide" Target="/ppt/notesSlides/notesSlide11.xml" Id="R32d7040725f143cc"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c9ea6025acb54c1b" /><Relationship Type="http://schemas.openxmlformats.org/officeDocument/2006/relationships/notesSlide" Target="/ppt/notesSlides/notesSlide12.xml" Id="R5f993c3876de4c97" /></Relationships>
</file>

<file path=ppt/slides/slide1.xml><?xml version="1.0" encoding="utf-8"?>
<p:sld xmlns:p="http://schemas.openxmlformats.org/presentationml/2006/main">
  <p:cSld>
    <p:bg>
      <p:bgPr>
        <a:solidFill xmlns:a="http://schemas.openxmlformats.org/drawingml/2006/main">
          <a:srgbClr val="101829"/>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82B9A487-31AE-4DE8-B390-BEE6E7D3CF30}"/>
              </a:ext>
            </a:extLst>
          </p:cNvPr>
          <p:cNvSpPr>
            <a:spLocks xmlns:a="http://schemas.openxmlformats.org/drawingml/2006/main" noGrp="1"/>
          </p:cNvSpPr>
          <p:nvPr/>
        </p:nvSpPr>
        <p:spPr>
          <a:xfrm xmlns:a="http://schemas.openxmlformats.org/drawingml/2006/main">
            <a:off x="0" y="0"/>
            <a:ext cx="152400" cy="6858000"/>
          </a:xfrm>
          <a:prstGeom xmlns:a="http://schemas.openxmlformats.org/drawingml/2006/main" prst="rect">
            <a:avLst/>
          </a:prstGeom>
          <a:solidFill xmlns:a="http://schemas.openxmlformats.org/drawingml/2006/main">
            <a:srgbClr val="16A34A"/>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62B132C6-FB0A-4168-9F87-DEF0C536D592}"/>
              </a:ext>
            </a:extLst>
          </p:cNvPr>
          <p:cNvSpPr>
            <a:spLocks xmlns:a="http://schemas.openxmlformats.org/drawingml/2006/main" noGrp="1"/>
          </p:cNvSpPr>
          <p:nvPr/>
        </p:nvSpPr>
        <p:spPr>
          <a:xfrm xmlns:a="http://schemas.openxmlformats.org/drawingml/2006/main">
            <a:off x="723900" y="609600"/>
            <a:ext cx="4000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7619"/>
          </a:bodyPr>
          <a:lstStyle xmlns:a="http://schemas.openxmlformats.org/drawingml/2006/main"/>
          <a:p xmlns:a="http://schemas.openxmlformats.org/drawingml/2006/main">
            <a:pPr>
              <a:defRPr sz="1050" b="1">
                <a:solidFill>
                  <a:srgbClr val="71E6A0"/>
                </a:solidFill>
                <a:latin typeface="Bitstream Charter"/>
                <a:ea typeface="Bitstream Charter"/>
                <a:cs typeface="Bitstream Charter"/>
              </a:defRPr>
            </a:pPr>
            <a:r>
              <a:rPr sz="1050" b="1">
                <a:solidFill>
                  <a:srgbClr val="71E6A0"/>
                </a:solidFill>
                <a:latin typeface="Bitstream Charter"/>
                <a:ea typeface="Bitstream Charter"/>
                <a:cs typeface="Bitstream Charter"/>
              </a:rPr>
              <a:t>BOOKSHOP SYSTEM</a:t>
            </a:r>
          </a:p>
        </p:txBody>
      </p:sp>
      <p:sp>
        <p:nvSpPr>
          <p:cNvPr id="3" name="">
            <a:extLst xmlns:a="http://schemas.openxmlformats.org/drawingml/2006/main">
              <a:ext uri="{FF2B5EF4-FFF2-40B4-BE49-F238E27FC236}">
                <a16:creationId xmlns:a16="http://schemas.microsoft.com/office/drawing/2014/main" id="{7156C64F-4E3E-4DBA-9EDA-54C37A9F70C0}"/>
              </a:ext>
            </a:extLst>
          </p:cNvPr>
          <p:cNvSpPr>
            <a:spLocks xmlns:a="http://schemas.openxmlformats.org/drawingml/2006/main" noGrp="1"/>
          </p:cNvSpPr>
          <p:nvPr/>
        </p:nvSpPr>
        <p:spPr>
          <a:xfrm xmlns:a="http://schemas.openxmlformats.org/drawingml/2006/main">
            <a:off x="723900" y="1104900"/>
            <a:ext cx="58102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3600" b="1">
                <a:solidFill>
                  <a:srgbClr val="FFFFFF"/>
                </a:solidFill>
                <a:latin typeface="Bitstream Charter"/>
                <a:ea typeface="Bitstream Charter"/>
                <a:cs typeface="Bitstream Charter"/>
              </a:defRPr>
            </a:pPr>
            <a:r>
              <a:rPr sz="3600" b="1">
                <a:solidFill>
                  <a:srgbClr val="FFFFFF"/>
                </a:solidFill>
                <a:latin typeface="Bitstream Charter"/>
                <a:ea typeface="Bitstream Charter"/>
                <a:cs typeface="Bitstream Charter"/>
              </a:rPr>
              <a:t>A centralized platform for</a:t>
            </a:r>
          </a:p>
          <a:p xmlns:a="http://schemas.openxmlformats.org/drawingml/2006/main">
            <a:pPr>
              <a:defRPr sz="3600" b="1">
                <a:solidFill>
                  <a:srgbClr val="FFFFFF"/>
                </a:solidFill>
                <a:latin typeface="Bitstream Charter"/>
                <a:ea typeface="Bitstream Charter"/>
                <a:cs typeface="Bitstream Charter"/>
              </a:defRPr>
            </a:pPr>
            <a:r>
              <a:rPr sz="3600" b="1">
                <a:solidFill>
                  <a:srgbClr val="FFFFFF"/>
                </a:solidFill>
                <a:latin typeface="Bitstream Charter"/>
                <a:ea typeface="Bitstream Charter"/>
                <a:cs typeface="Bitstream Charter"/>
              </a:rPr>
              <a:t>BrightMTS operations</a:t>
            </a:r>
          </a:p>
        </p:txBody>
      </p:sp>
      <p:sp>
        <p:nvSpPr>
          <p:cNvPr id="4" name="">
            <a:extLst xmlns:a="http://schemas.openxmlformats.org/drawingml/2006/main">
              <a:ext uri="{FF2B5EF4-FFF2-40B4-BE49-F238E27FC236}">
                <a16:creationId xmlns:a16="http://schemas.microsoft.com/office/drawing/2014/main" id="{8F2CF1F1-BD90-4CD5-995E-64F368C06311}"/>
              </a:ext>
            </a:extLst>
          </p:cNvPr>
          <p:cNvSpPr>
            <a:spLocks xmlns:a="http://schemas.openxmlformats.org/drawingml/2006/main" noGrp="1"/>
          </p:cNvSpPr>
          <p:nvPr/>
        </p:nvSpPr>
        <p:spPr>
          <a:xfrm xmlns:a="http://schemas.openxmlformats.org/drawingml/2006/main">
            <a:off x="723900" y="2781300"/>
            <a:ext cx="5334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425" b="0">
                <a:solidFill>
                  <a:srgbClr val="CDD5E2"/>
                </a:solidFill>
                <a:latin typeface="Bitstream Charter"/>
                <a:ea typeface="Bitstream Charter"/>
                <a:cs typeface="Bitstream Charter"/>
              </a:defRPr>
            </a:pPr>
            <a:r>
              <a:rPr sz="1425" b="0">
                <a:solidFill>
                  <a:srgbClr val="CDD5E2"/>
                </a:solidFill>
                <a:latin typeface="Bitstream Charter"/>
                <a:ea typeface="Bitstream Charter"/>
                <a:cs typeface="Bitstream Charter"/>
              </a:rPr>
              <a:t>Case Study: Bright Multiservices and Tech Solutions</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821726d6848947bb"/>
          <a:srcRect xmlns:a="http://schemas.openxmlformats.org/drawingml/2006/main" l="14707" t="0" r="14707" b="0"/>
          <a:stretch xmlns:a="http://schemas.openxmlformats.org/drawingml/2006/main">
            <a:fillRect l="0" t="0" r="0" b="0"/>
          </a:stretch>
        </p:blipFill>
        <p:spPr>
          <a:xfrm xmlns:a="http://schemas.openxmlformats.org/drawingml/2006/main">
            <a:off x="6667500" y="762000"/>
            <a:ext cx="4762500" cy="3095625"/>
          </a:xfrm>
          <a:prstGeom xmlns:a="http://schemas.openxmlformats.org/drawingml/2006/main" prst="roundRect">
            <a:avLst>
              <a:gd name="adj" fmla="val 4308"/>
            </a:avLst>
          </a:prstGeom>
        </p:spPr>
      </p:pic>
      <p:sp>
        <p:nvSpPr>
          <p:cNvPr id="6" name="">
            <a:extLst xmlns:a="http://schemas.openxmlformats.org/drawingml/2006/main">
              <a:ext uri="{FF2B5EF4-FFF2-40B4-BE49-F238E27FC236}">
                <a16:creationId xmlns:a16="http://schemas.microsoft.com/office/drawing/2014/main" id="{D22E3570-D22D-4DE0-A391-F0C2F513449F}"/>
              </a:ext>
            </a:extLst>
          </p:cNvPr>
          <p:cNvSpPr>
            <a:spLocks xmlns:a="http://schemas.openxmlformats.org/drawingml/2006/main" noGrp="1"/>
          </p:cNvSpPr>
          <p:nvPr/>
        </p:nvSpPr>
        <p:spPr>
          <a:xfrm xmlns:a="http://schemas.openxmlformats.org/drawingml/2006/main">
            <a:off x="723900" y="5657850"/>
            <a:ext cx="285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6111"/>
          </a:bodyPr>
          <a:lstStyle xmlns:a="http://schemas.openxmlformats.org/drawingml/2006/main"/>
          <a:p xmlns:a="http://schemas.openxmlformats.org/drawingml/2006/main">
            <a:pPr>
              <a:defRPr sz="900" b="1">
                <a:solidFill>
                  <a:srgbClr val="8FA0B7"/>
                </a:solidFill>
                <a:latin typeface="Bitstream Charter"/>
                <a:ea typeface="Bitstream Charter"/>
                <a:cs typeface="Bitstream Charter"/>
              </a:defRPr>
            </a:pPr>
            <a:r>
              <a:rPr sz="900" b="1">
                <a:solidFill>
                  <a:srgbClr val="8FA0B7"/>
                </a:solidFill>
                <a:latin typeface="Bitstream Charter"/>
                <a:ea typeface="Bitstream Charter"/>
                <a:cs typeface="Bitstream Charter"/>
              </a:rPr>
              <a:t>THESIS PRESENTATION</a:t>
            </a:r>
          </a:p>
        </p:txBody>
      </p:sp>
      <p:sp>
        <p:nvSpPr>
          <p:cNvPr id="7" name="">
            <a:extLst xmlns:a="http://schemas.openxmlformats.org/drawingml/2006/main">
              <a:ext uri="{FF2B5EF4-FFF2-40B4-BE49-F238E27FC236}">
                <a16:creationId xmlns:a16="http://schemas.microsoft.com/office/drawing/2014/main" id="{9E84B19A-499C-44C8-B849-A700A17C42F3}"/>
              </a:ext>
            </a:extLst>
          </p:cNvPr>
          <p:cNvSpPr>
            <a:spLocks xmlns:a="http://schemas.openxmlformats.org/drawingml/2006/main" noGrp="1"/>
          </p:cNvSpPr>
          <p:nvPr/>
        </p:nvSpPr>
        <p:spPr>
          <a:xfrm xmlns:a="http://schemas.openxmlformats.org/drawingml/2006/main">
            <a:off x="723900" y="5924550"/>
            <a:ext cx="5810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00" b="0">
                <a:solidFill>
                  <a:srgbClr val="DCE3EC"/>
                </a:solidFill>
                <a:latin typeface="Bitstream Charter"/>
                <a:ea typeface="Bitstream Charter"/>
                <a:cs typeface="Bitstream Charter"/>
              </a:defRPr>
            </a:pPr>
            <a:r>
              <a:rPr sz="1200" b="0">
                <a:solidFill>
                  <a:srgbClr val="DCE3EC"/>
                </a:solidFill>
                <a:latin typeface="Bitstream Charter"/>
                <a:ea typeface="Bitstream Charter"/>
                <a:cs typeface="Bitstream Charter"/>
              </a:rPr>
              <a:t>From operational problem to implemented and tested solution</a:t>
            </a:r>
          </a:p>
        </p:txBody>
      </p:sp>
      <p:sp>
        <p:nvSpPr>
          <p:cNvPr id="8" name="">
            <a:extLst xmlns:a="http://schemas.openxmlformats.org/drawingml/2006/main">
              <a:ext uri="{FF2B5EF4-FFF2-40B4-BE49-F238E27FC236}">
                <a16:creationId xmlns:a16="http://schemas.microsoft.com/office/drawing/2014/main" id="{93D29058-2293-4699-BD7E-F6F3568DD1BB}"/>
              </a:ext>
            </a:extLst>
          </p:cNvPr>
          <p:cNvSpPr>
            <a:spLocks xmlns:a="http://schemas.openxmlformats.org/drawingml/2006/main" noGrp="1"/>
          </p:cNvSpPr>
          <p:nvPr/>
        </p:nvSpPr>
        <p:spPr>
          <a:xfrm xmlns:a="http://schemas.openxmlformats.org/drawingml/2006/main">
            <a:off x="685800" y="6496050"/>
            <a:ext cx="6191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0000"/>
          </a:bodyPr>
          <a:lstStyle xmlns:a="http://schemas.openxmlformats.org/drawingml/2006/main"/>
          <a:p xmlns:a="http://schemas.openxmlformats.org/drawingml/2006/main">
            <a:pPr>
              <a:defRPr sz="750" b="1">
                <a:solidFill>
                  <a:srgbClr val="9EABC0"/>
                </a:solidFill>
                <a:latin typeface="Bitstream Charter"/>
                <a:ea typeface="Bitstream Charter"/>
                <a:cs typeface="Bitstream Charter"/>
              </a:defRPr>
            </a:pPr>
            <a:r>
              <a:rPr sz="750" b="1">
                <a:solidFill>
                  <a:srgbClr val="9EABC0"/>
                </a:solidFill>
                <a:latin typeface="Bitstream Charter"/>
                <a:ea typeface="Bitstream Charter"/>
                <a:cs typeface="Bitstream Charter"/>
              </a:rPr>
              <a:t>BOOKSHOP SYSTEM  •  BRIGHT MULTISERVICES AND TECH SOLUTIONS</a:t>
            </a:r>
          </a:p>
        </p:txBody>
      </p:sp>
      <p:sp>
        <p:nvSpPr>
          <p:cNvPr id="9" name="">
            <a:extLst xmlns:a="http://schemas.openxmlformats.org/drawingml/2006/main">
              <a:ext uri="{FF2B5EF4-FFF2-40B4-BE49-F238E27FC236}">
                <a16:creationId xmlns:a16="http://schemas.microsoft.com/office/drawing/2014/main" id="{09DFF1F5-1AE5-43F3-9A9F-EF1CAEB0A58B}"/>
              </a:ext>
            </a:extLst>
          </p:cNvPr>
          <p:cNvSpPr>
            <a:spLocks xmlns:a="http://schemas.openxmlformats.org/drawingml/2006/main" noGrp="1"/>
          </p:cNvSpPr>
          <p:nvPr/>
        </p:nvSpPr>
        <p:spPr>
          <a:xfrm xmlns:a="http://schemas.openxmlformats.org/drawingml/2006/main">
            <a:off x="11049000" y="6496050"/>
            <a:ext cx="4572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0000"/>
          </a:bodyPr>
          <a:lstStyle xmlns:a="http://schemas.openxmlformats.org/drawingml/2006/main"/>
          <a:p xmlns:a="http://schemas.openxmlformats.org/drawingml/2006/main">
            <a:pPr>
              <a:defRPr sz="750" b="1">
                <a:solidFill>
                  <a:srgbClr val="9EABC0"/>
                </a:solidFill>
                <a:latin typeface="Bitstream Charter"/>
                <a:ea typeface="Bitstream Charter"/>
                <a:cs typeface="Bitstream Charter"/>
              </a:defRPr>
            </a:pPr>
            <a:r>
              <a:rPr sz="750" b="1">
                <a:solidFill>
                  <a:srgbClr val="9EABC0"/>
                </a:solidFill>
                <a:latin typeface="Bitstream Charter"/>
                <a:ea typeface="Bitstream Charter"/>
                <a:cs typeface="Bitstream Charter"/>
              </a:rPr>
              <a:t>01</a:t>
            </a:r>
          </a:p>
        </p:txBody>
      </p:sp>
    </p:spTree>
    <p:extLst>
      <p:ext uri="{BB962C8B-B14F-4D97-AF65-F5344CB8AC3E}">
        <p14:creationId xmlns:p14="http://schemas.microsoft.com/office/powerpoint/2010/main" val="2120741523"/>
      </p:ext>
    </p:extLst>
  </p:cSld>
</p:sld>
</file>

<file path=ppt/slides/slide2.xml><?xml version="1.0" encoding="utf-8"?>
<p:sld xmlns:p="http://schemas.openxmlformats.org/presentationml/2006/main">
  <p:cSld>
    <p:bg>
      <p:bgPr>
        <a:solidFill xmlns:a="http://schemas.openxmlformats.org/drawingml/2006/main">
          <a:srgbClr val="F6F8FC"/>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7E786AE3-D4E4-4138-B0EF-7DC5BFBF131E}"/>
              </a:ext>
            </a:extLst>
          </p:cNvPr>
          <p:cNvSpPr>
            <a:spLocks xmlns:a="http://schemas.openxmlformats.org/drawingml/2006/main" noGrp="1"/>
          </p:cNvSpPr>
          <p:nvPr/>
        </p:nvSpPr>
        <p:spPr>
          <a:xfrm xmlns:a="http://schemas.openxmlformats.org/drawingml/2006/main">
            <a:off x="685800" y="361950"/>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308"/>
          </a:bodyPr>
          <a:lstStyle xmlns:a="http://schemas.openxmlformats.org/drawingml/2006/main"/>
          <a:p xmlns:a="http://schemas.openxmlformats.org/drawingml/2006/main">
            <a:pPr>
              <a:defRPr sz="975" b="1">
                <a:solidFill>
                  <a:srgbClr val="7759E8"/>
                </a:solidFill>
                <a:latin typeface="Bitstream Charter"/>
                <a:ea typeface="Bitstream Charter"/>
                <a:cs typeface="Bitstream Charter"/>
              </a:defRPr>
            </a:pPr>
            <a:r>
              <a:rPr sz="975" b="1">
                <a:solidFill>
                  <a:srgbClr val="7759E8"/>
                </a:solidFill>
                <a:latin typeface="Bitstream Charter"/>
                <a:ea typeface="Bitstream Charter"/>
                <a:cs typeface="Bitstream Charter"/>
              </a:rPr>
              <a:t>01 / STUDY BACKGROUND</a:t>
            </a:r>
          </a:p>
        </p:txBody>
      </p:sp>
      <p:sp>
        <p:nvSpPr>
          <p:cNvPr id="2" name="">
            <a:extLst xmlns:a="http://schemas.openxmlformats.org/drawingml/2006/main">
              <a:ext uri="{FF2B5EF4-FFF2-40B4-BE49-F238E27FC236}">
                <a16:creationId xmlns:a16="http://schemas.microsoft.com/office/drawing/2014/main" id="{645AB043-E8DA-44EA-A006-4F78EC89E428}"/>
              </a:ext>
            </a:extLst>
          </p:cNvPr>
          <p:cNvSpPr>
            <a:spLocks xmlns:a="http://schemas.openxmlformats.org/drawingml/2006/main" noGrp="1"/>
          </p:cNvSpPr>
          <p:nvPr/>
        </p:nvSpPr>
        <p:spPr>
          <a:xfrm xmlns:a="http://schemas.openxmlformats.org/drawingml/2006/main">
            <a:off x="685800" y="647700"/>
            <a:ext cx="108204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625" b="1">
                <a:solidFill>
                  <a:srgbClr val="14233A"/>
                </a:solidFill>
                <a:latin typeface="Bitstream Charter"/>
                <a:ea typeface="Bitstream Charter"/>
                <a:cs typeface="Bitstream Charter"/>
              </a:defRPr>
            </a:pPr>
            <a:r>
              <a:rPr sz="2625" b="1">
                <a:solidFill>
                  <a:srgbClr val="14233A"/>
                </a:solidFill>
                <a:latin typeface="Bitstream Charter"/>
                <a:ea typeface="Bitstream Charter"/>
                <a:cs typeface="Bitstream Charter"/>
              </a:rPr>
              <a:t>BrightMTS needed one system for a growing operation</a:t>
            </a:r>
          </a:p>
        </p:txBody>
      </p:sp>
      <p:sp>
        <p:nvSpPr>
          <p:cNvPr id="3" name="">
            <a:extLst xmlns:a="http://schemas.openxmlformats.org/drawingml/2006/main">
              <a:ext uri="{FF2B5EF4-FFF2-40B4-BE49-F238E27FC236}">
                <a16:creationId xmlns:a16="http://schemas.microsoft.com/office/drawing/2014/main" id="{B26248FE-6F09-4181-AB2E-8BEDCA6DF545}"/>
              </a:ext>
            </a:extLst>
          </p:cNvPr>
          <p:cNvSpPr>
            <a:spLocks xmlns:a="http://schemas.openxmlformats.org/drawingml/2006/main" noGrp="1"/>
          </p:cNvSpPr>
          <p:nvPr/>
        </p:nvSpPr>
        <p:spPr>
          <a:xfrm xmlns:a="http://schemas.openxmlformats.org/drawingml/2006/main">
            <a:off x="685800" y="1238250"/>
            <a:ext cx="10287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b="0">
                <a:solidFill>
                  <a:srgbClr val="64748B"/>
                </a:solidFill>
                <a:latin typeface="Bitstream Charter"/>
                <a:ea typeface="Bitstream Charter"/>
                <a:cs typeface="Bitstream Charter"/>
              </a:defRPr>
            </a:pPr>
            <a:r>
              <a:rPr sz="1275" b="0">
                <a:solidFill>
                  <a:srgbClr val="64748B"/>
                </a:solidFill>
                <a:latin typeface="Bitstream Charter"/>
                <a:ea typeface="Bitstream Charter"/>
                <a:cs typeface="Bitstream Charter"/>
              </a:rPr>
              <a:t>The company distributes Magic Pearls and Kokos AI learning series from Waberi District, Mogadishu.</a:t>
            </a:r>
          </a:p>
        </p:txBody>
      </p:sp>
      <p:sp>
        <p:nvSpPr>
          <p:cNvPr id="4" name="">
            <a:extLst xmlns:a="http://schemas.openxmlformats.org/drawingml/2006/main">
              <a:ext uri="{FF2B5EF4-FFF2-40B4-BE49-F238E27FC236}">
                <a16:creationId xmlns:a16="http://schemas.microsoft.com/office/drawing/2014/main" id="{AB3E5701-B1E8-4C3C-9347-C045395E0DF5}"/>
              </a:ext>
            </a:extLst>
          </p:cNvPr>
          <p:cNvSpPr>
            <a:spLocks xmlns:a="http://schemas.openxmlformats.org/drawingml/2006/main" noGrp="1"/>
          </p:cNvSpPr>
          <p:nvPr/>
        </p:nvSpPr>
        <p:spPr>
          <a:xfrm xmlns:a="http://schemas.openxmlformats.org/drawingml/2006/main">
            <a:off x="685800" y="1924050"/>
            <a:ext cx="238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308"/>
          </a:bodyPr>
          <a:lstStyle xmlns:a="http://schemas.openxmlformats.org/drawingml/2006/main"/>
          <a:p xmlns:a="http://schemas.openxmlformats.org/drawingml/2006/main">
            <a:pPr>
              <a:defRPr sz="975" b="1">
                <a:solidFill>
                  <a:srgbClr val="7759E8"/>
                </a:solidFill>
                <a:latin typeface="Bitstream Charter"/>
                <a:ea typeface="Bitstream Charter"/>
                <a:cs typeface="Bitstream Charter"/>
              </a:defRPr>
            </a:pPr>
            <a:r>
              <a:rPr sz="975" b="1">
                <a:solidFill>
                  <a:srgbClr val="7759E8"/>
                </a:solidFill>
                <a:latin typeface="Bitstream Charter"/>
                <a:ea typeface="Bitstream Charter"/>
                <a:cs typeface="Bitstream Charter"/>
              </a:rPr>
              <a:t>OPERATIONAL CONTEXT</a:t>
            </a:r>
          </a:p>
        </p:txBody>
      </p:sp>
      <p:sp>
        <p:nvSpPr>
          <p:cNvPr id="5" name="">
            <a:extLst xmlns:a="http://schemas.openxmlformats.org/drawingml/2006/main">
              <a:ext uri="{FF2B5EF4-FFF2-40B4-BE49-F238E27FC236}">
                <a16:creationId xmlns:a16="http://schemas.microsoft.com/office/drawing/2014/main" id="{A1E5EDF1-8301-4DE1-B141-4FE4B4824B2F}"/>
              </a:ext>
            </a:extLst>
          </p:cNvPr>
          <p:cNvSpPr>
            <a:spLocks xmlns:a="http://schemas.openxmlformats.org/drawingml/2006/main" noGrp="1"/>
          </p:cNvSpPr>
          <p:nvPr/>
        </p:nvSpPr>
        <p:spPr>
          <a:xfrm xmlns:a="http://schemas.openxmlformats.org/drawingml/2006/main">
            <a:off x="685800" y="2238375"/>
            <a:ext cx="447675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800" b="1">
                <a:solidFill>
                  <a:srgbClr val="14233A"/>
                </a:solidFill>
                <a:latin typeface="Bitstream Charter"/>
                <a:ea typeface="Bitstream Charter"/>
                <a:cs typeface="Bitstream Charter"/>
              </a:defRPr>
            </a:pPr>
            <a:r>
              <a:rPr sz="1800" b="1">
                <a:solidFill>
                  <a:srgbClr val="14233A"/>
                </a:solidFill>
                <a:latin typeface="Bitstream Charter"/>
                <a:ea typeface="Bitstream Charter"/>
                <a:cs typeface="Bitstream Charter"/>
              </a:rPr>
              <a:t>Bright Multiservices and Tech Solutions serves schools, institutions, organizations, bookstores and individual customers.</a:t>
            </a:r>
          </a:p>
        </p:txBody>
      </p:sp>
      <p:sp>
        <p:nvSpPr>
          <p:cNvPr id="6" name="">
            <a:extLst xmlns:a="http://schemas.openxmlformats.org/drawingml/2006/main">
              <a:ext uri="{FF2B5EF4-FFF2-40B4-BE49-F238E27FC236}">
                <a16:creationId xmlns:a16="http://schemas.microsoft.com/office/drawing/2014/main" id="{0C4DA9C9-7E9F-430F-8FB6-EEB29082E6C8}"/>
              </a:ext>
            </a:extLst>
          </p:cNvPr>
          <p:cNvSpPr>
            <a:spLocks xmlns:a="http://schemas.openxmlformats.org/drawingml/2006/main" noGrp="1"/>
          </p:cNvSpPr>
          <p:nvPr/>
        </p:nvSpPr>
        <p:spPr>
          <a:xfrm xmlns:a="http://schemas.openxmlformats.org/drawingml/2006/main">
            <a:off x="5829300" y="1952625"/>
            <a:ext cx="2476500" cy="1476375"/>
          </a:xfrm>
          <a:prstGeom xmlns:a="http://schemas.openxmlformats.org/drawingml/2006/main" prst="roundRect">
            <a:avLst>
              <a:gd name="adj" fmla="val 11613"/>
            </a:avLst>
          </a:prstGeom>
          <a:solidFill xmlns:a="http://schemas.openxmlformats.org/drawingml/2006/main">
            <a:srgbClr val="FFFFFF"/>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377DB142-F0B5-4250-BAAE-FFEE4D0269D8}"/>
              </a:ext>
            </a:extLst>
          </p:cNvPr>
          <p:cNvSpPr>
            <a:spLocks xmlns:a="http://schemas.openxmlformats.org/drawingml/2006/main" noGrp="1"/>
          </p:cNvSpPr>
          <p:nvPr/>
        </p:nvSpPr>
        <p:spPr>
          <a:xfrm xmlns:a="http://schemas.openxmlformats.org/drawingml/2006/main">
            <a:off x="6038850" y="2124075"/>
            <a:ext cx="4191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7619"/>
          </a:bodyPr>
          <a:lstStyle xmlns:a="http://schemas.openxmlformats.org/drawingml/2006/main"/>
          <a:p xmlns:a="http://schemas.openxmlformats.org/drawingml/2006/main">
            <a:pPr>
              <a:defRPr sz="1050" b="1">
                <a:solidFill>
                  <a:srgbClr val="3B5BDB"/>
                </a:solidFill>
                <a:latin typeface="Bitstream Charter"/>
                <a:ea typeface="Bitstream Charter"/>
                <a:cs typeface="Bitstream Charter"/>
              </a:defRPr>
            </a:pPr>
            <a:r>
              <a:rPr sz="1050" b="1">
                <a:solidFill>
                  <a:srgbClr val="3B5BDB"/>
                </a:solidFill>
                <a:latin typeface="Bitstream Charter"/>
                <a:ea typeface="Bitstream Charter"/>
                <a:cs typeface="Bitstream Charter"/>
              </a:rPr>
              <a:t>01</a:t>
            </a:r>
          </a:p>
        </p:txBody>
      </p:sp>
      <p:sp>
        <p:nvSpPr>
          <p:cNvPr id="8" name="">
            <a:extLst xmlns:a="http://schemas.openxmlformats.org/drawingml/2006/main">
              <a:ext uri="{FF2B5EF4-FFF2-40B4-BE49-F238E27FC236}">
                <a16:creationId xmlns:a16="http://schemas.microsoft.com/office/drawing/2014/main" id="{9D338BDC-5605-4894-BA70-D2FCA71B52CA}"/>
              </a:ext>
            </a:extLst>
          </p:cNvPr>
          <p:cNvSpPr>
            <a:spLocks xmlns:a="http://schemas.openxmlformats.org/drawingml/2006/main" noGrp="1"/>
          </p:cNvSpPr>
          <p:nvPr/>
        </p:nvSpPr>
        <p:spPr>
          <a:xfrm xmlns:a="http://schemas.openxmlformats.org/drawingml/2006/main">
            <a:off x="6553200" y="2085975"/>
            <a:ext cx="15430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6825"/>
          </a:bodyPr>
          <a:lstStyle xmlns:a="http://schemas.openxmlformats.org/drawingml/2006/main"/>
          <a:p xmlns:a="http://schemas.openxmlformats.org/drawingml/2006/main">
            <a:pPr>
              <a:defRPr sz="1575" b="1">
                <a:solidFill>
                  <a:srgbClr val="14233A"/>
                </a:solidFill>
                <a:latin typeface="Bitstream Charter"/>
                <a:ea typeface="Bitstream Charter"/>
                <a:cs typeface="Bitstream Charter"/>
              </a:defRPr>
            </a:pPr>
            <a:r>
              <a:rPr sz="1575" b="1">
                <a:solidFill>
                  <a:srgbClr val="14233A"/>
                </a:solidFill>
                <a:latin typeface="Bitstream Charter"/>
                <a:ea typeface="Bitstream Charter"/>
                <a:cs typeface="Bitstream Charter"/>
              </a:rPr>
              <a:t>More activity</a:t>
            </a:r>
          </a:p>
        </p:txBody>
      </p:sp>
      <p:sp>
        <p:nvSpPr>
          <p:cNvPr id="9" name="">
            <a:extLst xmlns:a="http://schemas.openxmlformats.org/drawingml/2006/main">
              <a:ext uri="{FF2B5EF4-FFF2-40B4-BE49-F238E27FC236}">
                <a16:creationId xmlns:a16="http://schemas.microsoft.com/office/drawing/2014/main" id="{9F562C8F-C919-41C2-8516-CAD803571F60}"/>
              </a:ext>
            </a:extLst>
          </p:cNvPr>
          <p:cNvSpPr>
            <a:spLocks xmlns:a="http://schemas.openxmlformats.org/drawingml/2006/main" noGrp="1"/>
          </p:cNvSpPr>
          <p:nvPr/>
        </p:nvSpPr>
        <p:spPr>
          <a:xfrm xmlns:a="http://schemas.openxmlformats.org/drawingml/2006/main">
            <a:off x="6038850" y="2505075"/>
            <a:ext cx="205740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00" b="0">
                <a:solidFill>
                  <a:srgbClr val="64748B"/>
                </a:solidFill>
                <a:latin typeface="Bitstream Charter"/>
                <a:ea typeface="Bitstream Charter"/>
                <a:cs typeface="Bitstream Charter"/>
              </a:defRPr>
            </a:pPr>
            <a:r>
              <a:rPr sz="1200" b="0">
                <a:solidFill>
                  <a:srgbClr val="64748B"/>
                </a:solidFill>
                <a:latin typeface="Bitstream Charter"/>
                <a:ea typeface="Bitstream Charter"/>
                <a:cs typeface="Bitstream Charter"/>
              </a:rPr>
              <a:t>Products, customers and daily transactions continued to increase.</a:t>
            </a:r>
          </a:p>
        </p:txBody>
      </p:sp>
      <p:sp>
        <p:nvSpPr>
          <p:cNvPr id="10" name="">
            <a:extLst xmlns:a="http://schemas.openxmlformats.org/drawingml/2006/main">
              <a:ext uri="{FF2B5EF4-FFF2-40B4-BE49-F238E27FC236}">
                <a16:creationId xmlns:a16="http://schemas.microsoft.com/office/drawing/2014/main" id="{A66AAD25-BD73-4DA9-B0BA-8BD51164457D}"/>
              </a:ext>
            </a:extLst>
          </p:cNvPr>
          <p:cNvSpPr>
            <a:spLocks xmlns:a="http://schemas.openxmlformats.org/drawingml/2006/main" noGrp="1"/>
          </p:cNvSpPr>
          <p:nvPr/>
        </p:nvSpPr>
        <p:spPr>
          <a:xfrm xmlns:a="http://schemas.openxmlformats.org/drawingml/2006/main">
            <a:off x="8572500" y="1952625"/>
            <a:ext cx="2476500" cy="1476375"/>
          </a:xfrm>
          <a:prstGeom xmlns:a="http://schemas.openxmlformats.org/drawingml/2006/main" prst="roundRect">
            <a:avLst>
              <a:gd name="adj" fmla="val 11613"/>
            </a:avLst>
          </a:prstGeom>
          <a:solidFill xmlns:a="http://schemas.openxmlformats.org/drawingml/2006/main">
            <a:srgbClr val="FFFFFF"/>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805546D8-0EB5-437B-82C1-CE88171A31C7}"/>
              </a:ext>
            </a:extLst>
          </p:cNvPr>
          <p:cNvSpPr>
            <a:spLocks xmlns:a="http://schemas.openxmlformats.org/drawingml/2006/main" noGrp="1"/>
          </p:cNvSpPr>
          <p:nvPr/>
        </p:nvSpPr>
        <p:spPr>
          <a:xfrm xmlns:a="http://schemas.openxmlformats.org/drawingml/2006/main">
            <a:off x="8782050" y="2124075"/>
            <a:ext cx="4191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7619"/>
          </a:bodyPr>
          <a:lstStyle xmlns:a="http://schemas.openxmlformats.org/drawingml/2006/main"/>
          <a:p xmlns:a="http://schemas.openxmlformats.org/drawingml/2006/main">
            <a:pPr>
              <a:defRPr sz="1050" b="1">
                <a:solidFill>
                  <a:srgbClr val="16A34A"/>
                </a:solidFill>
                <a:latin typeface="Bitstream Charter"/>
                <a:ea typeface="Bitstream Charter"/>
                <a:cs typeface="Bitstream Charter"/>
              </a:defRPr>
            </a:pPr>
            <a:r>
              <a:rPr sz="1050" b="1">
                <a:solidFill>
                  <a:srgbClr val="16A34A"/>
                </a:solidFill>
                <a:latin typeface="Bitstream Charter"/>
                <a:ea typeface="Bitstream Charter"/>
                <a:cs typeface="Bitstream Charter"/>
              </a:rPr>
              <a:t>02</a:t>
            </a:r>
          </a:p>
        </p:txBody>
      </p:sp>
      <p:sp>
        <p:nvSpPr>
          <p:cNvPr id="12" name="">
            <a:extLst xmlns:a="http://schemas.openxmlformats.org/drawingml/2006/main">
              <a:ext uri="{FF2B5EF4-FFF2-40B4-BE49-F238E27FC236}">
                <a16:creationId xmlns:a16="http://schemas.microsoft.com/office/drawing/2014/main" id="{15BEE9F4-5549-40B2-9E0A-5A36B84E1476}"/>
              </a:ext>
            </a:extLst>
          </p:cNvPr>
          <p:cNvSpPr>
            <a:spLocks xmlns:a="http://schemas.openxmlformats.org/drawingml/2006/main" noGrp="1"/>
          </p:cNvSpPr>
          <p:nvPr/>
        </p:nvSpPr>
        <p:spPr>
          <a:xfrm xmlns:a="http://schemas.openxmlformats.org/drawingml/2006/main">
            <a:off x="9296400" y="2085975"/>
            <a:ext cx="15430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8721"/>
          </a:bodyPr>
          <a:lstStyle xmlns:a="http://schemas.openxmlformats.org/drawingml/2006/main"/>
          <a:p xmlns:a="http://schemas.openxmlformats.org/drawingml/2006/main">
            <a:pPr>
              <a:defRPr sz="1575" b="1">
                <a:solidFill>
                  <a:srgbClr val="14233A"/>
                </a:solidFill>
                <a:latin typeface="Bitstream Charter"/>
                <a:ea typeface="Bitstream Charter"/>
                <a:cs typeface="Bitstream Charter"/>
              </a:defRPr>
            </a:pPr>
            <a:r>
              <a:rPr sz="1575" b="1">
                <a:solidFill>
                  <a:srgbClr val="14233A"/>
                </a:solidFill>
                <a:latin typeface="Bitstream Charter"/>
                <a:ea typeface="Bitstream Charter"/>
                <a:cs typeface="Bitstream Charter"/>
              </a:rPr>
              <a:t>More coordination</a:t>
            </a:r>
          </a:p>
        </p:txBody>
      </p:sp>
      <p:sp>
        <p:nvSpPr>
          <p:cNvPr id="13" name="">
            <a:extLst xmlns:a="http://schemas.openxmlformats.org/drawingml/2006/main">
              <a:ext uri="{FF2B5EF4-FFF2-40B4-BE49-F238E27FC236}">
                <a16:creationId xmlns:a16="http://schemas.microsoft.com/office/drawing/2014/main" id="{3A81C238-BD7A-4805-B7FF-BBA1FC13E625}"/>
              </a:ext>
            </a:extLst>
          </p:cNvPr>
          <p:cNvSpPr>
            <a:spLocks xmlns:a="http://schemas.openxmlformats.org/drawingml/2006/main" noGrp="1"/>
          </p:cNvSpPr>
          <p:nvPr/>
        </p:nvSpPr>
        <p:spPr>
          <a:xfrm xmlns:a="http://schemas.openxmlformats.org/drawingml/2006/main">
            <a:off x="8782050" y="2505075"/>
            <a:ext cx="205740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00" b="0">
                <a:solidFill>
                  <a:srgbClr val="64748B"/>
                </a:solidFill>
                <a:latin typeface="Bitstream Charter"/>
                <a:ea typeface="Bitstream Charter"/>
                <a:cs typeface="Bitstream Charter"/>
              </a:defRPr>
            </a:pPr>
            <a:r>
              <a:rPr sz="1200" b="0">
                <a:solidFill>
                  <a:srgbClr val="64748B"/>
                </a:solidFill>
                <a:latin typeface="Bitstream Charter"/>
                <a:ea typeface="Bitstream Charter"/>
                <a:cs typeface="Bitstream Charter"/>
              </a:rPr>
              <a:t>Sales, inventory, payments and delivery needed shared information.</a:t>
            </a:r>
          </a:p>
        </p:txBody>
      </p:sp>
      <p:sp>
        <p:nvSpPr>
          <p:cNvPr id="14" name="">
            <a:extLst xmlns:a="http://schemas.openxmlformats.org/drawingml/2006/main">
              <a:ext uri="{FF2B5EF4-FFF2-40B4-BE49-F238E27FC236}">
                <a16:creationId xmlns:a16="http://schemas.microsoft.com/office/drawing/2014/main" id="{D161F06C-61C1-430B-B7D9-615C1CB84BD3}"/>
              </a:ext>
            </a:extLst>
          </p:cNvPr>
          <p:cNvSpPr>
            <a:spLocks xmlns:a="http://schemas.openxmlformats.org/drawingml/2006/main" noGrp="1"/>
          </p:cNvSpPr>
          <p:nvPr/>
        </p:nvSpPr>
        <p:spPr>
          <a:xfrm xmlns:a="http://schemas.openxmlformats.org/drawingml/2006/main">
            <a:off x="5829300" y="3714750"/>
            <a:ext cx="5219700" cy="1619250"/>
          </a:xfrm>
          <a:prstGeom xmlns:a="http://schemas.openxmlformats.org/drawingml/2006/main" prst="roundRect">
            <a:avLst>
              <a:gd name="adj" fmla="val 10588"/>
            </a:avLst>
          </a:prstGeom>
          <a:solidFill xmlns:a="http://schemas.openxmlformats.org/drawingml/2006/main">
            <a:srgbClr val="EEEAFE"/>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F2FC71FC-D9B1-4380-9B3C-1D62BA986A1A}"/>
              </a:ext>
            </a:extLst>
          </p:cNvPr>
          <p:cNvSpPr>
            <a:spLocks xmlns:a="http://schemas.openxmlformats.org/drawingml/2006/main" noGrp="1"/>
          </p:cNvSpPr>
          <p:nvPr/>
        </p:nvSpPr>
        <p:spPr>
          <a:xfrm xmlns:a="http://schemas.openxmlformats.org/drawingml/2006/main">
            <a:off x="6096000" y="3943350"/>
            <a:ext cx="2286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111"/>
          </a:bodyPr>
          <a:lstStyle xmlns:a="http://schemas.openxmlformats.org/drawingml/2006/main"/>
          <a:p xmlns:a="http://schemas.openxmlformats.org/drawingml/2006/main">
            <a:pPr>
              <a:defRPr sz="1125" b="1">
                <a:solidFill>
                  <a:srgbClr val="7759E8"/>
                </a:solidFill>
                <a:latin typeface="Bitstream Charter"/>
                <a:ea typeface="Bitstream Charter"/>
                <a:cs typeface="Bitstream Charter"/>
              </a:defRPr>
            </a:pPr>
            <a:r>
              <a:rPr sz="1125" b="1">
                <a:solidFill>
                  <a:srgbClr val="7759E8"/>
                </a:solidFill>
                <a:latin typeface="Bitstream Charter"/>
                <a:ea typeface="Bitstream Charter"/>
                <a:cs typeface="Bitstream Charter"/>
              </a:rPr>
              <a:t>Research need</a:t>
            </a:r>
          </a:p>
        </p:txBody>
      </p:sp>
      <p:sp>
        <p:nvSpPr>
          <p:cNvPr id="16" name="">
            <a:extLst xmlns:a="http://schemas.openxmlformats.org/drawingml/2006/main">
              <a:ext uri="{FF2B5EF4-FFF2-40B4-BE49-F238E27FC236}">
                <a16:creationId xmlns:a16="http://schemas.microsoft.com/office/drawing/2014/main" id="{6DA95B83-1B8D-404F-9795-5FA42229E023}"/>
              </a:ext>
            </a:extLst>
          </p:cNvPr>
          <p:cNvSpPr>
            <a:spLocks xmlns:a="http://schemas.openxmlformats.org/drawingml/2006/main" noGrp="1"/>
          </p:cNvSpPr>
          <p:nvPr/>
        </p:nvSpPr>
        <p:spPr>
          <a:xfrm xmlns:a="http://schemas.openxmlformats.org/drawingml/2006/main">
            <a:off x="6096000" y="4314825"/>
            <a:ext cx="4476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2609"/>
          </a:bodyPr>
          <a:lstStyle xmlns:a="http://schemas.openxmlformats.org/drawingml/2006/main"/>
          <a:p xmlns:a="http://schemas.openxmlformats.org/drawingml/2006/main">
            <a:pPr>
              <a:defRPr sz="1725" b="1">
                <a:solidFill>
                  <a:srgbClr val="14233A"/>
                </a:solidFill>
                <a:latin typeface="Bitstream Charter"/>
                <a:ea typeface="Bitstream Charter"/>
                <a:cs typeface="Bitstream Charter"/>
              </a:defRPr>
            </a:pPr>
            <a:r>
              <a:rPr sz="1725" b="1">
                <a:solidFill>
                  <a:srgbClr val="14233A"/>
                </a:solidFill>
                <a:latin typeface="Bitstream Charter"/>
                <a:ea typeface="Bitstream Charter"/>
                <a:cs typeface="Bitstream Charter"/>
              </a:rPr>
              <a:t>A web-based system that integrates the company’s main business processes and supports accurate decisions.</a:t>
            </a:r>
          </a:p>
        </p:txBody>
      </p:sp>
      <p:sp>
        <p:nvSpPr>
          <p:cNvPr id="17" name="">
            <a:extLst xmlns:a="http://schemas.openxmlformats.org/drawingml/2006/main">
              <a:ext uri="{FF2B5EF4-FFF2-40B4-BE49-F238E27FC236}">
                <a16:creationId xmlns:a16="http://schemas.microsoft.com/office/drawing/2014/main" id="{254BFDA9-3CFA-4BD8-9583-0A4FCBA18BC2}"/>
              </a:ext>
            </a:extLst>
          </p:cNvPr>
          <p:cNvSpPr>
            <a:spLocks xmlns:a="http://schemas.openxmlformats.org/drawingml/2006/main" noGrp="1"/>
          </p:cNvSpPr>
          <p:nvPr/>
        </p:nvSpPr>
        <p:spPr>
          <a:xfrm xmlns:a="http://schemas.openxmlformats.org/drawingml/2006/main">
            <a:off x="685800" y="6496050"/>
            <a:ext cx="6191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0000"/>
          </a:bodyPr>
          <a:lstStyle xmlns:a="http://schemas.openxmlformats.org/drawingml/2006/main"/>
          <a:p xmlns:a="http://schemas.openxmlformats.org/drawingml/2006/main">
            <a:pPr>
              <a:defRPr sz="750" b="1">
                <a:solidFill>
                  <a:srgbClr val="64748B"/>
                </a:solidFill>
                <a:latin typeface="Bitstream Charter"/>
                <a:ea typeface="Bitstream Charter"/>
                <a:cs typeface="Bitstream Charter"/>
              </a:defRPr>
            </a:pPr>
            <a:r>
              <a:rPr sz="750" b="1">
                <a:solidFill>
                  <a:srgbClr val="64748B"/>
                </a:solidFill>
                <a:latin typeface="Bitstream Charter"/>
                <a:ea typeface="Bitstream Charter"/>
                <a:cs typeface="Bitstream Charter"/>
              </a:rPr>
              <a:t>BOOKSHOP SYSTEM  •  BRIGHT MULTISERVICES AND TECH SOLUTIONS</a:t>
            </a:r>
          </a:p>
        </p:txBody>
      </p:sp>
      <p:sp>
        <p:nvSpPr>
          <p:cNvPr id="18" name="">
            <a:extLst xmlns:a="http://schemas.openxmlformats.org/drawingml/2006/main">
              <a:ext uri="{FF2B5EF4-FFF2-40B4-BE49-F238E27FC236}">
                <a16:creationId xmlns:a16="http://schemas.microsoft.com/office/drawing/2014/main" id="{DE451E16-4076-4056-B880-DAA197C55222}"/>
              </a:ext>
            </a:extLst>
          </p:cNvPr>
          <p:cNvSpPr>
            <a:spLocks xmlns:a="http://schemas.openxmlformats.org/drawingml/2006/main" noGrp="1"/>
          </p:cNvSpPr>
          <p:nvPr/>
        </p:nvSpPr>
        <p:spPr>
          <a:xfrm xmlns:a="http://schemas.openxmlformats.org/drawingml/2006/main">
            <a:off x="11049000" y="6496050"/>
            <a:ext cx="4572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0000"/>
          </a:bodyPr>
          <a:lstStyle xmlns:a="http://schemas.openxmlformats.org/drawingml/2006/main"/>
          <a:p xmlns:a="http://schemas.openxmlformats.org/drawingml/2006/main">
            <a:pPr>
              <a:defRPr sz="750" b="1">
                <a:solidFill>
                  <a:srgbClr val="64748B"/>
                </a:solidFill>
                <a:latin typeface="Bitstream Charter"/>
                <a:ea typeface="Bitstream Charter"/>
                <a:cs typeface="Bitstream Charter"/>
              </a:defRPr>
            </a:pPr>
            <a:r>
              <a:rPr sz="750" b="1">
                <a:solidFill>
                  <a:srgbClr val="64748B"/>
                </a:solidFill>
                <a:latin typeface="Bitstream Charter"/>
                <a:ea typeface="Bitstream Charter"/>
                <a:cs typeface="Bitstream Charter"/>
              </a:rPr>
              <a:t>02</a:t>
            </a:r>
          </a:p>
        </p:txBody>
      </p:sp>
    </p:spTree>
    <p:extLst>
      <p:ext uri="{BB962C8B-B14F-4D97-AF65-F5344CB8AC3E}">
        <p14:creationId xmlns:p14="http://schemas.microsoft.com/office/powerpoint/2010/main" val="17010420"/>
      </p:ext>
    </p:extLst>
  </p:cSld>
</p:sld>
</file>

<file path=ppt/slides/slide3.xml><?xml version="1.0" encoding="utf-8"?>
<p:sld xmlns:p="http://schemas.openxmlformats.org/presentationml/2006/main">
  <p:cSld>
    <p:bg>
      <p:bgPr>
        <a:solidFill xmlns:a="http://schemas.openxmlformats.org/drawingml/2006/main">
          <a:srgbClr val="F6F8FC"/>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DD179BEA-A13B-49B4-B263-F2BED2A5A340}"/>
              </a:ext>
            </a:extLst>
          </p:cNvPr>
          <p:cNvSpPr>
            <a:spLocks xmlns:a="http://schemas.openxmlformats.org/drawingml/2006/main" noGrp="1"/>
          </p:cNvSpPr>
          <p:nvPr/>
        </p:nvSpPr>
        <p:spPr>
          <a:xfrm xmlns:a="http://schemas.openxmlformats.org/drawingml/2006/main">
            <a:off x="685800" y="361950"/>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308"/>
          </a:bodyPr>
          <a:lstStyle xmlns:a="http://schemas.openxmlformats.org/drawingml/2006/main"/>
          <a:p xmlns:a="http://schemas.openxmlformats.org/drawingml/2006/main">
            <a:pPr>
              <a:defRPr sz="975" b="1">
                <a:solidFill>
                  <a:srgbClr val="7759E8"/>
                </a:solidFill>
                <a:latin typeface="Bitstream Charter"/>
                <a:ea typeface="Bitstream Charter"/>
                <a:cs typeface="Bitstream Charter"/>
              </a:defRPr>
            </a:pPr>
            <a:r>
              <a:rPr sz="975" b="1">
                <a:solidFill>
                  <a:srgbClr val="7759E8"/>
                </a:solidFill>
                <a:latin typeface="Bitstream Charter"/>
                <a:ea typeface="Bitstream Charter"/>
                <a:cs typeface="Bitstream Charter"/>
              </a:rPr>
              <a:t>02 / PROBLEM STATEMENT</a:t>
            </a:r>
          </a:p>
        </p:txBody>
      </p:sp>
      <p:sp>
        <p:nvSpPr>
          <p:cNvPr id="2" name="">
            <a:extLst xmlns:a="http://schemas.openxmlformats.org/drawingml/2006/main">
              <a:ext uri="{FF2B5EF4-FFF2-40B4-BE49-F238E27FC236}">
                <a16:creationId xmlns:a16="http://schemas.microsoft.com/office/drawing/2014/main" id="{8410F183-8FAF-41C1-AD7D-1263CBEEA89A}"/>
              </a:ext>
            </a:extLst>
          </p:cNvPr>
          <p:cNvSpPr>
            <a:spLocks xmlns:a="http://schemas.openxmlformats.org/drawingml/2006/main" noGrp="1"/>
          </p:cNvSpPr>
          <p:nvPr/>
        </p:nvSpPr>
        <p:spPr>
          <a:xfrm xmlns:a="http://schemas.openxmlformats.org/drawingml/2006/main">
            <a:off x="685800" y="647700"/>
            <a:ext cx="108204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625" b="1">
                <a:solidFill>
                  <a:srgbClr val="14233A"/>
                </a:solidFill>
                <a:latin typeface="Bitstream Charter"/>
                <a:ea typeface="Bitstream Charter"/>
                <a:cs typeface="Bitstream Charter"/>
              </a:defRPr>
            </a:pPr>
            <a:r>
              <a:rPr sz="2625" b="1">
                <a:solidFill>
                  <a:srgbClr val="14233A"/>
                </a:solidFill>
                <a:latin typeface="Bitstream Charter"/>
                <a:ea typeface="Bitstream Charter"/>
                <a:cs typeface="Bitstream Charter"/>
              </a:rPr>
              <a:t>Manual records created errors, delays and limited visibility</a:t>
            </a:r>
          </a:p>
        </p:txBody>
      </p:sp>
      <p:sp>
        <p:nvSpPr>
          <p:cNvPr id="3" name="">
            <a:extLst xmlns:a="http://schemas.openxmlformats.org/drawingml/2006/main">
              <a:ext uri="{FF2B5EF4-FFF2-40B4-BE49-F238E27FC236}">
                <a16:creationId xmlns:a16="http://schemas.microsoft.com/office/drawing/2014/main" id="{4D56C623-7AC3-462A-96B4-ECB7FEB5EB4F}"/>
              </a:ext>
            </a:extLst>
          </p:cNvPr>
          <p:cNvSpPr>
            <a:spLocks xmlns:a="http://schemas.openxmlformats.org/drawingml/2006/main" noGrp="1"/>
          </p:cNvSpPr>
          <p:nvPr/>
        </p:nvSpPr>
        <p:spPr>
          <a:xfrm xmlns:a="http://schemas.openxmlformats.org/drawingml/2006/main">
            <a:off x="685800" y="1238250"/>
            <a:ext cx="10287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b="0">
                <a:solidFill>
                  <a:srgbClr val="64748B"/>
                </a:solidFill>
                <a:latin typeface="Bitstream Charter"/>
                <a:ea typeface="Bitstream Charter"/>
                <a:cs typeface="Bitstream Charter"/>
              </a:defRPr>
            </a:pPr>
            <a:r>
              <a:rPr sz="1275" b="0">
                <a:solidFill>
                  <a:srgbClr val="64748B"/>
                </a:solidFill>
                <a:latin typeface="Bitstream Charter"/>
                <a:ea typeface="Bitstream Charter"/>
                <a:cs typeface="Bitstream Charter"/>
              </a:rPr>
              <a:t>Information was distributed across handwritten records and separate Microsoft Office files.</a:t>
            </a:r>
          </a:p>
        </p:txBody>
      </p:sp>
      <p:sp>
        <p:nvSpPr>
          <p:cNvPr id="4" name="">
            <a:extLst xmlns:a="http://schemas.openxmlformats.org/drawingml/2006/main">
              <a:ext uri="{FF2B5EF4-FFF2-40B4-BE49-F238E27FC236}">
                <a16:creationId xmlns:a16="http://schemas.microsoft.com/office/drawing/2014/main" id="{7FE9CDE3-9AB3-45F0-A79D-7558546877AB}"/>
              </a:ext>
            </a:extLst>
          </p:cNvPr>
          <p:cNvSpPr>
            <a:spLocks xmlns:a="http://schemas.openxmlformats.org/drawingml/2006/main" noGrp="1"/>
          </p:cNvSpPr>
          <p:nvPr/>
        </p:nvSpPr>
        <p:spPr>
          <a:xfrm xmlns:a="http://schemas.openxmlformats.org/drawingml/2006/main">
            <a:off x="685800" y="1952625"/>
            <a:ext cx="5105400" cy="1476375"/>
          </a:xfrm>
          <a:prstGeom xmlns:a="http://schemas.openxmlformats.org/drawingml/2006/main" prst="roundRect">
            <a:avLst>
              <a:gd name="adj" fmla="val 11613"/>
            </a:avLst>
          </a:prstGeom>
          <a:solidFill xmlns:a="http://schemas.openxmlformats.org/drawingml/2006/main">
            <a:srgbClr val="FFFFFF"/>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27DA5704-BFFF-45EB-B1D6-57CD1DEF4CD7}"/>
              </a:ext>
            </a:extLst>
          </p:cNvPr>
          <p:cNvSpPr>
            <a:spLocks xmlns:a="http://schemas.openxmlformats.org/drawingml/2006/main" noGrp="1"/>
          </p:cNvSpPr>
          <p:nvPr/>
        </p:nvSpPr>
        <p:spPr>
          <a:xfrm xmlns:a="http://schemas.openxmlformats.org/drawingml/2006/main">
            <a:off x="895350" y="2124075"/>
            <a:ext cx="4191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7619"/>
          </a:bodyPr>
          <a:lstStyle xmlns:a="http://schemas.openxmlformats.org/drawingml/2006/main"/>
          <a:p xmlns:a="http://schemas.openxmlformats.org/drawingml/2006/main">
            <a:pPr>
              <a:defRPr sz="1050" b="1">
                <a:solidFill>
                  <a:srgbClr val="EF5B5B"/>
                </a:solidFill>
                <a:latin typeface="Bitstream Charter"/>
                <a:ea typeface="Bitstream Charter"/>
                <a:cs typeface="Bitstream Charter"/>
              </a:defRPr>
            </a:pPr>
            <a:r>
              <a:rPr sz="1050" b="1">
                <a:solidFill>
                  <a:srgbClr val="EF5B5B"/>
                </a:solidFill>
                <a:latin typeface="Bitstream Charter"/>
                <a:ea typeface="Bitstream Charter"/>
                <a:cs typeface="Bitstream Charter"/>
              </a:rPr>
              <a:t>01</a:t>
            </a:r>
          </a:p>
        </p:txBody>
      </p:sp>
      <p:sp>
        <p:nvSpPr>
          <p:cNvPr id="6" name="">
            <a:extLst xmlns:a="http://schemas.openxmlformats.org/drawingml/2006/main">
              <a:ext uri="{FF2B5EF4-FFF2-40B4-BE49-F238E27FC236}">
                <a16:creationId xmlns:a16="http://schemas.microsoft.com/office/drawing/2014/main" id="{7A4A8EAB-0E94-4409-92F4-1F41DEC30282}"/>
              </a:ext>
            </a:extLst>
          </p:cNvPr>
          <p:cNvSpPr>
            <a:spLocks xmlns:a="http://schemas.openxmlformats.org/drawingml/2006/main" noGrp="1"/>
          </p:cNvSpPr>
          <p:nvPr/>
        </p:nvSpPr>
        <p:spPr>
          <a:xfrm xmlns:a="http://schemas.openxmlformats.org/drawingml/2006/main">
            <a:off x="1409700" y="2085975"/>
            <a:ext cx="41719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6825"/>
          </a:bodyPr>
          <a:lstStyle xmlns:a="http://schemas.openxmlformats.org/drawingml/2006/main"/>
          <a:p xmlns:a="http://schemas.openxmlformats.org/drawingml/2006/main">
            <a:pPr>
              <a:defRPr sz="1575" b="1">
                <a:solidFill>
                  <a:srgbClr val="14233A"/>
                </a:solidFill>
                <a:latin typeface="Bitstream Charter"/>
                <a:ea typeface="Bitstream Charter"/>
                <a:cs typeface="Bitstream Charter"/>
              </a:defRPr>
            </a:pPr>
            <a:r>
              <a:rPr sz="1575" b="1">
                <a:solidFill>
                  <a:srgbClr val="14233A"/>
                </a:solidFill>
                <a:latin typeface="Bitstream Charter"/>
                <a:ea typeface="Bitstream Charter"/>
                <a:cs typeface="Bitstream Charter"/>
              </a:rPr>
              <a:t>Inventory</a:t>
            </a:r>
          </a:p>
        </p:txBody>
      </p:sp>
      <p:sp>
        <p:nvSpPr>
          <p:cNvPr id="7" name="">
            <a:extLst xmlns:a="http://schemas.openxmlformats.org/drawingml/2006/main">
              <a:ext uri="{FF2B5EF4-FFF2-40B4-BE49-F238E27FC236}">
                <a16:creationId xmlns:a16="http://schemas.microsoft.com/office/drawing/2014/main" id="{CCA9BFE8-16DE-4FD3-9460-680CFFF06EE6}"/>
              </a:ext>
            </a:extLst>
          </p:cNvPr>
          <p:cNvSpPr>
            <a:spLocks xmlns:a="http://schemas.openxmlformats.org/drawingml/2006/main" noGrp="1"/>
          </p:cNvSpPr>
          <p:nvPr/>
        </p:nvSpPr>
        <p:spPr>
          <a:xfrm xmlns:a="http://schemas.openxmlformats.org/drawingml/2006/main">
            <a:off x="895350" y="2505075"/>
            <a:ext cx="468630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00" b="0">
                <a:solidFill>
                  <a:srgbClr val="64748B"/>
                </a:solidFill>
                <a:latin typeface="Bitstream Charter"/>
                <a:ea typeface="Bitstream Charter"/>
                <a:cs typeface="Bitstream Charter"/>
              </a:defRPr>
            </a:pPr>
            <a:r>
              <a:rPr sz="1200" b="0">
                <a:solidFill>
                  <a:srgbClr val="64748B"/>
                </a:solidFill>
                <a:latin typeface="Bitstream Charter"/>
                <a:ea typeface="Bitstream Charter"/>
                <a:cs typeface="Bitstream Charter"/>
              </a:rPr>
              <a:t>Stock levels and movements were difficult to monitor accurately.</a:t>
            </a:r>
          </a:p>
        </p:txBody>
      </p:sp>
      <p:sp>
        <p:nvSpPr>
          <p:cNvPr id="8" name="">
            <a:extLst xmlns:a="http://schemas.openxmlformats.org/drawingml/2006/main">
              <a:ext uri="{FF2B5EF4-FFF2-40B4-BE49-F238E27FC236}">
                <a16:creationId xmlns:a16="http://schemas.microsoft.com/office/drawing/2014/main" id="{F8994FF0-A4F9-4BC8-95ED-9B61661767DF}"/>
              </a:ext>
            </a:extLst>
          </p:cNvPr>
          <p:cNvSpPr>
            <a:spLocks xmlns:a="http://schemas.openxmlformats.org/drawingml/2006/main" noGrp="1"/>
          </p:cNvSpPr>
          <p:nvPr/>
        </p:nvSpPr>
        <p:spPr>
          <a:xfrm xmlns:a="http://schemas.openxmlformats.org/drawingml/2006/main">
            <a:off x="6096000" y="1952625"/>
            <a:ext cx="5105400" cy="1476375"/>
          </a:xfrm>
          <a:prstGeom xmlns:a="http://schemas.openxmlformats.org/drawingml/2006/main" prst="roundRect">
            <a:avLst>
              <a:gd name="adj" fmla="val 11613"/>
            </a:avLst>
          </a:prstGeom>
          <a:solidFill xmlns:a="http://schemas.openxmlformats.org/drawingml/2006/main">
            <a:srgbClr val="FFFFFF"/>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BA1C087C-735A-4D72-94C3-FE011372C8C0}"/>
              </a:ext>
            </a:extLst>
          </p:cNvPr>
          <p:cNvSpPr>
            <a:spLocks xmlns:a="http://schemas.openxmlformats.org/drawingml/2006/main" noGrp="1"/>
          </p:cNvSpPr>
          <p:nvPr/>
        </p:nvSpPr>
        <p:spPr>
          <a:xfrm xmlns:a="http://schemas.openxmlformats.org/drawingml/2006/main">
            <a:off x="6305550" y="2124075"/>
            <a:ext cx="4191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7619"/>
          </a:bodyPr>
          <a:lstStyle xmlns:a="http://schemas.openxmlformats.org/drawingml/2006/main"/>
          <a:p xmlns:a="http://schemas.openxmlformats.org/drawingml/2006/main">
            <a:pPr>
              <a:defRPr sz="1050" b="1">
                <a:solidFill>
                  <a:srgbClr val="F59E0B"/>
                </a:solidFill>
                <a:latin typeface="Bitstream Charter"/>
                <a:ea typeface="Bitstream Charter"/>
                <a:cs typeface="Bitstream Charter"/>
              </a:defRPr>
            </a:pPr>
            <a:r>
              <a:rPr sz="1050" b="1">
                <a:solidFill>
                  <a:srgbClr val="F59E0B"/>
                </a:solidFill>
                <a:latin typeface="Bitstream Charter"/>
                <a:ea typeface="Bitstream Charter"/>
                <a:cs typeface="Bitstream Charter"/>
              </a:rPr>
              <a:t>02</a:t>
            </a:r>
          </a:p>
        </p:txBody>
      </p:sp>
      <p:sp>
        <p:nvSpPr>
          <p:cNvPr id="10" name="">
            <a:extLst xmlns:a="http://schemas.openxmlformats.org/drawingml/2006/main">
              <a:ext uri="{FF2B5EF4-FFF2-40B4-BE49-F238E27FC236}">
                <a16:creationId xmlns:a16="http://schemas.microsoft.com/office/drawing/2014/main" id="{E68F7E47-6BF0-4E23-8E71-9FB2C83785A6}"/>
              </a:ext>
            </a:extLst>
          </p:cNvPr>
          <p:cNvSpPr>
            <a:spLocks xmlns:a="http://schemas.openxmlformats.org/drawingml/2006/main" noGrp="1"/>
          </p:cNvSpPr>
          <p:nvPr/>
        </p:nvSpPr>
        <p:spPr>
          <a:xfrm xmlns:a="http://schemas.openxmlformats.org/drawingml/2006/main">
            <a:off x="6819900" y="2085975"/>
            <a:ext cx="41719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6825"/>
          </a:bodyPr>
          <a:lstStyle xmlns:a="http://schemas.openxmlformats.org/drawingml/2006/main"/>
          <a:p xmlns:a="http://schemas.openxmlformats.org/drawingml/2006/main">
            <a:pPr>
              <a:defRPr sz="1575" b="1">
                <a:solidFill>
                  <a:srgbClr val="14233A"/>
                </a:solidFill>
                <a:latin typeface="Bitstream Charter"/>
                <a:ea typeface="Bitstream Charter"/>
                <a:cs typeface="Bitstream Charter"/>
              </a:defRPr>
            </a:pPr>
            <a:r>
              <a:rPr sz="1575" b="1">
                <a:solidFill>
                  <a:srgbClr val="14233A"/>
                </a:solidFill>
                <a:latin typeface="Bitstream Charter"/>
                <a:ea typeface="Bitstream Charter"/>
                <a:cs typeface="Bitstream Charter"/>
              </a:rPr>
              <a:t>Transactions</a:t>
            </a:r>
          </a:p>
        </p:txBody>
      </p:sp>
      <p:sp>
        <p:nvSpPr>
          <p:cNvPr id="11" name="">
            <a:extLst xmlns:a="http://schemas.openxmlformats.org/drawingml/2006/main">
              <a:ext uri="{FF2B5EF4-FFF2-40B4-BE49-F238E27FC236}">
                <a16:creationId xmlns:a16="http://schemas.microsoft.com/office/drawing/2014/main" id="{9A61CB46-8B1E-4C0C-A44D-ED3C254EDD86}"/>
              </a:ext>
            </a:extLst>
          </p:cNvPr>
          <p:cNvSpPr>
            <a:spLocks xmlns:a="http://schemas.openxmlformats.org/drawingml/2006/main" noGrp="1"/>
          </p:cNvSpPr>
          <p:nvPr/>
        </p:nvSpPr>
        <p:spPr>
          <a:xfrm xmlns:a="http://schemas.openxmlformats.org/drawingml/2006/main">
            <a:off x="6305550" y="2505075"/>
            <a:ext cx="468630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00" b="0">
                <a:solidFill>
                  <a:srgbClr val="64748B"/>
                </a:solidFill>
                <a:latin typeface="Bitstream Charter"/>
                <a:ea typeface="Bitstream Charter"/>
                <a:cs typeface="Bitstream Charter"/>
              </a:defRPr>
            </a:pPr>
            <a:r>
              <a:rPr sz="1200" b="0">
                <a:solidFill>
                  <a:srgbClr val="64748B"/>
                </a:solidFill>
                <a:latin typeface="Bitstream Charter"/>
                <a:ea typeface="Bitstream Charter"/>
                <a:cs typeface="Bitstream Charter"/>
              </a:rPr>
              <a:t>Manual recording increased duplication and calculation errors.</a:t>
            </a:r>
          </a:p>
        </p:txBody>
      </p:sp>
      <p:sp>
        <p:nvSpPr>
          <p:cNvPr id="12" name="">
            <a:extLst xmlns:a="http://schemas.openxmlformats.org/drawingml/2006/main">
              <a:ext uri="{FF2B5EF4-FFF2-40B4-BE49-F238E27FC236}">
                <a16:creationId xmlns:a16="http://schemas.microsoft.com/office/drawing/2014/main" id="{D6352C6E-3BDF-4FF1-B427-9C8641EB370D}"/>
              </a:ext>
            </a:extLst>
          </p:cNvPr>
          <p:cNvSpPr>
            <a:spLocks xmlns:a="http://schemas.openxmlformats.org/drawingml/2006/main" noGrp="1"/>
          </p:cNvSpPr>
          <p:nvPr/>
        </p:nvSpPr>
        <p:spPr>
          <a:xfrm xmlns:a="http://schemas.openxmlformats.org/drawingml/2006/main">
            <a:off x="685800" y="3714750"/>
            <a:ext cx="5105400" cy="1476375"/>
          </a:xfrm>
          <a:prstGeom xmlns:a="http://schemas.openxmlformats.org/drawingml/2006/main" prst="roundRect">
            <a:avLst>
              <a:gd name="adj" fmla="val 11613"/>
            </a:avLst>
          </a:prstGeom>
          <a:solidFill xmlns:a="http://schemas.openxmlformats.org/drawingml/2006/main">
            <a:srgbClr val="FFFFFF"/>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9DACF767-D5BA-4996-AA42-E2ED5A1DC8AD}"/>
              </a:ext>
            </a:extLst>
          </p:cNvPr>
          <p:cNvSpPr>
            <a:spLocks xmlns:a="http://schemas.openxmlformats.org/drawingml/2006/main" noGrp="1"/>
          </p:cNvSpPr>
          <p:nvPr/>
        </p:nvSpPr>
        <p:spPr>
          <a:xfrm xmlns:a="http://schemas.openxmlformats.org/drawingml/2006/main">
            <a:off x="895350" y="3886200"/>
            <a:ext cx="4191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7619"/>
          </a:bodyPr>
          <a:lstStyle xmlns:a="http://schemas.openxmlformats.org/drawingml/2006/main"/>
          <a:p xmlns:a="http://schemas.openxmlformats.org/drawingml/2006/main">
            <a:pPr>
              <a:defRPr sz="1050" b="1">
                <a:solidFill>
                  <a:srgbClr val="3B5BDB"/>
                </a:solidFill>
                <a:latin typeface="Bitstream Charter"/>
                <a:ea typeface="Bitstream Charter"/>
                <a:cs typeface="Bitstream Charter"/>
              </a:defRPr>
            </a:pPr>
            <a:r>
              <a:rPr sz="1050" b="1">
                <a:solidFill>
                  <a:srgbClr val="3B5BDB"/>
                </a:solidFill>
                <a:latin typeface="Bitstream Charter"/>
                <a:ea typeface="Bitstream Charter"/>
                <a:cs typeface="Bitstream Charter"/>
              </a:rPr>
              <a:t>03</a:t>
            </a:r>
          </a:p>
        </p:txBody>
      </p:sp>
      <p:sp>
        <p:nvSpPr>
          <p:cNvPr id="14" name="">
            <a:extLst xmlns:a="http://schemas.openxmlformats.org/drawingml/2006/main">
              <a:ext uri="{FF2B5EF4-FFF2-40B4-BE49-F238E27FC236}">
                <a16:creationId xmlns:a16="http://schemas.microsoft.com/office/drawing/2014/main" id="{3EF4776D-BD4D-4C8B-9464-B68D28EC4F89}"/>
              </a:ext>
            </a:extLst>
          </p:cNvPr>
          <p:cNvSpPr>
            <a:spLocks xmlns:a="http://schemas.openxmlformats.org/drawingml/2006/main" noGrp="1"/>
          </p:cNvSpPr>
          <p:nvPr/>
        </p:nvSpPr>
        <p:spPr>
          <a:xfrm xmlns:a="http://schemas.openxmlformats.org/drawingml/2006/main">
            <a:off x="1409700" y="3848100"/>
            <a:ext cx="41719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6825"/>
          </a:bodyPr>
          <a:lstStyle xmlns:a="http://schemas.openxmlformats.org/drawingml/2006/main"/>
          <a:p xmlns:a="http://schemas.openxmlformats.org/drawingml/2006/main">
            <a:pPr>
              <a:defRPr sz="1575" b="1">
                <a:solidFill>
                  <a:srgbClr val="14233A"/>
                </a:solidFill>
                <a:latin typeface="Bitstream Charter"/>
                <a:ea typeface="Bitstream Charter"/>
                <a:cs typeface="Bitstream Charter"/>
              </a:defRPr>
            </a:pPr>
            <a:r>
              <a:rPr sz="1575" b="1">
                <a:solidFill>
                  <a:srgbClr val="14233A"/>
                </a:solidFill>
                <a:latin typeface="Bitstream Charter"/>
                <a:ea typeface="Bitstream Charter"/>
                <a:cs typeface="Bitstream Charter"/>
              </a:rPr>
              <a:t>Customer service</a:t>
            </a:r>
          </a:p>
        </p:txBody>
      </p:sp>
      <p:sp>
        <p:nvSpPr>
          <p:cNvPr id="15" name="">
            <a:extLst xmlns:a="http://schemas.openxmlformats.org/drawingml/2006/main">
              <a:ext uri="{FF2B5EF4-FFF2-40B4-BE49-F238E27FC236}">
                <a16:creationId xmlns:a16="http://schemas.microsoft.com/office/drawing/2014/main" id="{8F46B4F2-327D-42F4-92BC-7744C5FCCA94}"/>
              </a:ext>
            </a:extLst>
          </p:cNvPr>
          <p:cNvSpPr>
            <a:spLocks xmlns:a="http://schemas.openxmlformats.org/drawingml/2006/main" noGrp="1"/>
          </p:cNvSpPr>
          <p:nvPr/>
        </p:nvSpPr>
        <p:spPr>
          <a:xfrm xmlns:a="http://schemas.openxmlformats.org/drawingml/2006/main">
            <a:off x="895350" y="4267200"/>
            <a:ext cx="468630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00" b="0">
                <a:solidFill>
                  <a:srgbClr val="64748B"/>
                </a:solidFill>
                <a:latin typeface="Bitstream Charter"/>
                <a:ea typeface="Bitstream Charter"/>
                <a:cs typeface="Bitstream Charter"/>
              </a:defRPr>
            </a:pPr>
            <a:r>
              <a:rPr sz="1200" b="0">
                <a:solidFill>
                  <a:srgbClr val="64748B"/>
                </a:solidFill>
                <a:latin typeface="Bitstream Charter"/>
                <a:ea typeface="Bitstream Charter"/>
                <a:cs typeface="Bitstream Charter"/>
              </a:rPr>
              <a:t>Physical and online orders were harder to process and follow.</a:t>
            </a:r>
          </a:p>
        </p:txBody>
      </p:sp>
      <p:sp>
        <p:nvSpPr>
          <p:cNvPr id="16" name="">
            <a:extLst xmlns:a="http://schemas.openxmlformats.org/drawingml/2006/main">
              <a:ext uri="{FF2B5EF4-FFF2-40B4-BE49-F238E27FC236}">
                <a16:creationId xmlns:a16="http://schemas.microsoft.com/office/drawing/2014/main" id="{A82180C1-91EE-4E5C-A047-E92A7445680A}"/>
              </a:ext>
            </a:extLst>
          </p:cNvPr>
          <p:cNvSpPr>
            <a:spLocks xmlns:a="http://schemas.openxmlformats.org/drawingml/2006/main" noGrp="1"/>
          </p:cNvSpPr>
          <p:nvPr/>
        </p:nvSpPr>
        <p:spPr>
          <a:xfrm xmlns:a="http://schemas.openxmlformats.org/drawingml/2006/main">
            <a:off x="6096000" y="3714750"/>
            <a:ext cx="5105400" cy="1476375"/>
          </a:xfrm>
          <a:prstGeom xmlns:a="http://schemas.openxmlformats.org/drawingml/2006/main" prst="roundRect">
            <a:avLst>
              <a:gd name="adj" fmla="val 11613"/>
            </a:avLst>
          </a:prstGeom>
          <a:solidFill xmlns:a="http://schemas.openxmlformats.org/drawingml/2006/main">
            <a:srgbClr val="FFFFFF"/>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87143137-063A-43B4-BCBA-47162686034D}"/>
              </a:ext>
            </a:extLst>
          </p:cNvPr>
          <p:cNvSpPr>
            <a:spLocks xmlns:a="http://schemas.openxmlformats.org/drawingml/2006/main" noGrp="1"/>
          </p:cNvSpPr>
          <p:nvPr/>
        </p:nvSpPr>
        <p:spPr>
          <a:xfrm xmlns:a="http://schemas.openxmlformats.org/drawingml/2006/main">
            <a:off x="6305550" y="3886200"/>
            <a:ext cx="4191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7619"/>
          </a:bodyPr>
          <a:lstStyle xmlns:a="http://schemas.openxmlformats.org/drawingml/2006/main"/>
          <a:p xmlns:a="http://schemas.openxmlformats.org/drawingml/2006/main">
            <a:pPr>
              <a:defRPr sz="1050" b="1">
                <a:solidFill>
                  <a:srgbClr val="7759E8"/>
                </a:solidFill>
                <a:latin typeface="Bitstream Charter"/>
                <a:ea typeface="Bitstream Charter"/>
                <a:cs typeface="Bitstream Charter"/>
              </a:defRPr>
            </a:pPr>
            <a:r>
              <a:rPr sz="1050" b="1">
                <a:solidFill>
                  <a:srgbClr val="7759E8"/>
                </a:solidFill>
                <a:latin typeface="Bitstream Charter"/>
                <a:ea typeface="Bitstream Charter"/>
                <a:cs typeface="Bitstream Charter"/>
              </a:rPr>
              <a:t>04</a:t>
            </a:r>
          </a:p>
        </p:txBody>
      </p:sp>
      <p:sp>
        <p:nvSpPr>
          <p:cNvPr id="18" name="">
            <a:extLst xmlns:a="http://schemas.openxmlformats.org/drawingml/2006/main">
              <a:ext uri="{FF2B5EF4-FFF2-40B4-BE49-F238E27FC236}">
                <a16:creationId xmlns:a16="http://schemas.microsoft.com/office/drawing/2014/main" id="{1913619E-60C9-42E2-8331-A1F753F95A97}"/>
              </a:ext>
            </a:extLst>
          </p:cNvPr>
          <p:cNvSpPr>
            <a:spLocks xmlns:a="http://schemas.openxmlformats.org/drawingml/2006/main" noGrp="1"/>
          </p:cNvSpPr>
          <p:nvPr/>
        </p:nvSpPr>
        <p:spPr>
          <a:xfrm xmlns:a="http://schemas.openxmlformats.org/drawingml/2006/main">
            <a:off x="6819900" y="3848100"/>
            <a:ext cx="41719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6825"/>
          </a:bodyPr>
          <a:lstStyle xmlns:a="http://schemas.openxmlformats.org/drawingml/2006/main"/>
          <a:p xmlns:a="http://schemas.openxmlformats.org/drawingml/2006/main">
            <a:pPr>
              <a:defRPr sz="1575" b="1">
                <a:solidFill>
                  <a:srgbClr val="14233A"/>
                </a:solidFill>
                <a:latin typeface="Bitstream Charter"/>
                <a:ea typeface="Bitstream Charter"/>
                <a:cs typeface="Bitstream Charter"/>
              </a:defRPr>
            </a:pPr>
            <a:r>
              <a:rPr sz="1575" b="1">
                <a:solidFill>
                  <a:srgbClr val="14233A"/>
                </a:solidFill>
                <a:latin typeface="Bitstream Charter"/>
                <a:ea typeface="Bitstream Charter"/>
                <a:cs typeface="Bitstream Charter"/>
              </a:rPr>
              <a:t>Management</a:t>
            </a:r>
          </a:p>
        </p:txBody>
      </p:sp>
      <p:sp>
        <p:nvSpPr>
          <p:cNvPr id="19" name="">
            <a:extLst xmlns:a="http://schemas.openxmlformats.org/drawingml/2006/main">
              <a:ext uri="{FF2B5EF4-FFF2-40B4-BE49-F238E27FC236}">
                <a16:creationId xmlns:a16="http://schemas.microsoft.com/office/drawing/2014/main" id="{CB2BF652-C72E-49A0-960E-D72EA649CD45}"/>
              </a:ext>
            </a:extLst>
          </p:cNvPr>
          <p:cNvSpPr>
            <a:spLocks xmlns:a="http://schemas.openxmlformats.org/drawingml/2006/main" noGrp="1"/>
          </p:cNvSpPr>
          <p:nvPr/>
        </p:nvSpPr>
        <p:spPr>
          <a:xfrm xmlns:a="http://schemas.openxmlformats.org/drawingml/2006/main">
            <a:off x="6305550" y="4267200"/>
            <a:ext cx="468630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00" b="0">
                <a:solidFill>
                  <a:srgbClr val="64748B"/>
                </a:solidFill>
                <a:latin typeface="Bitstream Charter"/>
                <a:ea typeface="Bitstream Charter"/>
                <a:cs typeface="Bitstream Charter"/>
              </a:defRPr>
            </a:pPr>
            <a:r>
              <a:rPr sz="1200" b="0">
                <a:solidFill>
                  <a:srgbClr val="64748B"/>
                </a:solidFill>
                <a:latin typeface="Bitstream Charter"/>
                <a:ea typeface="Bitstream Charter"/>
                <a:cs typeface="Bitstream Charter"/>
              </a:rPr>
              <a:t>Reports were delayed, limiting timely decision-making.</a:t>
            </a:r>
          </a:p>
        </p:txBody>
      </p:sp>
      <p:sp>
        <p:nvSpPr>
          <p:cNvPr id="20" name="">
            <a:extLst xmlns:a="http://schemas.openxmlformats.org/drawingml/2006/main">
              <a:ext uri="{FF2B5EF4-FFF2-40B4-BE49-F238E27FC236}">
                <a16:creationId xmlns:a16="http://schemas.microsoft.com/office/drawing/2014/main" id="{4F987FBB-997E-4B7C-A6F7-8455BF7ACE8C}"/>
              </a:ext>
            </a:extLst>
          </p:cNvPr>
          <p:cNvSpPr>
            <a:spLocks xmlns:a="http://schemas.openxmlformats.org/drawingml/2006/main" noGrp="1"/>
          </p:cNvSpPr>
          <p:nvPr/>
        </p:nvSpPr>
        <p:spPr>
          <a:xfrm xmlns:a="http://schemas.openxmlformats.org/drawingml/2006/main">
            <a:off x="685800" y="6496050"/>
            <a:ext cx="6191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0000"/>
          </a:bodyPr>
          <a:lstStyle xmlns:a="http://schemas.openxmlformats.org/drawingml/2006/main"/>
          <a:p xmlns:a="http://schemas.openxmlformats.org/drawingml/2006/main">
            <a:pPr>
              <a:defRPr sz="750" b="1">
                <a:solidFill>
                  <a:srgbClr val="64748B"/>
                </a:solidFill>
                <a:latin typeface="Bitstream Charter"/>
                <a:ea typeface="Bitstream Charter"/>
                <a:cs typeface="Bitstream Charter"/>
              </a:defRPr>
            </a:pPr>
            <a:r>
              <a:rPr sz="750" b="1">
                <a:solidFill>
                  <a:srgbClr val="64748B"/>
                </a:solidFill>
                <a:latin typeface="Bitstream Charter"/>
                <a:ea typeface="Bitstream Charter"/>
                <a:cs typeface="Bitstream Charter"/>
              </a:rPr>
              <a:t>BOOKSHOP SYSTEM  •  BRIGHT MULTISERVICES AND TECH SOLUTIONS</a:t>
            </a:r>
          </a:p>
        </p:txBody>
      </p:sp>
      <p:sp>
        <p:nvSpPr>
          <p:cNvPr id="21" name="">
            <a:extLst xmlns:a="http://schemas.openxmlformats.org/drawingml/2006/main">
              <a:ext uri="{FF2B5EF4-FFF2-40B4-BE49-F238E27FC236}">
                <a16:creationId xmlns:a16="http://schemas.microsoft.com/office/drawing/2014/main" id="{A230A947-CA8C-40D5-9136-F4CBDDB8CF35}"/>
              </a:ext>
            </a:extLst>
          </p:cNvPr>
          <p:cNvSpPr>
            <a:spLocks xmlns:a="http://schemas.openxmlformats.org/drawingml/2006/main" noGrp="1"/>
          </p:cNvSpPr>
          <p:nvPr/>
        </p:nvSpPr>
        <p:spPr>
          <a:xfrm xmlns:a="http://schemas.openxmlformats.org/drawingml/2006/main">
            <a:off x="11049000" y="6496050"/>
            <a:ext cx="4572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0000"/>
          </a:bodyPr>
          <a:lstStyle xmlns:a="http://schemas.openxmlformats.org/drawingml/2006/main"/>
          <a:p xmlns:a="http://schemas.openxmlformats.org/drawingml/2006/main">
            <a:pPr>
              <a:defRPr sz="750" b="1">
                <a:solidFill>
                  <a:srgbClr val="64748B"/>
                </a:solidFill>
                <a:latin typeface="Bitstream Charter"/>
                <a:ea typeface="Bitstream Charter"/>
                <a:cs typeface="Bitstream Charter"/>
              </a:defRPr>
            </a:pPr>
            <a:r>
              <a:rPr sz="750" b="1">
                <a:solidFill>
                  <a:srgbClr val="64748B"/>
                </a:solidFill>
                <a:latin typeface="Bitstream Charter"/>
                <a:ea typeface="Bitstream Charter"/>
                <a:cs typeface="Bitstream Charter"/>
              </a:rPr>
              <a:t>03</a:t>
            </a:r>
          </a:p>
        </p:txBody>
      </p:sp>
    </p:spTree>
    <p:extLst>
      <p:ext uri="{BB962C8B-B14F-4D97-AF65-F5344CB8AC3E}">
        <p14:creationId xmlns:p14="http://schemas.microsoft.com/office/powerpoint/2010/main" val="161303277"/>
      </p:ext>
    </p:extLst>
  </p:cSld>
</p:sld>
</file>

<file path=ppt/slides/slide4.xml><?xml version="1.0" encoding="utf-8"?>
<p:sld xmlns:p="http://schemas.openxmlformats.org/presentationml/2006/main">
  <p:cSld>
    <p:bg>
      <p:bgPr>
        <a:solidFill xmlns:a="http://schemas.openxmlformats.org/drawingml/2006/main">
          <a:srgbClr val="F6F8FC"/>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86DD5438-AAF1-4652-B553-C36C510B416E}"/>
              </a:ext>
            </a:extLst>
          </p:cNvPr>
          <p:cNvSpPr>
            <a:spLocks xmlns:a="http://schemas.openxmlformats.org/drawingml/2006/main" noGrp="1"/>
          </p:cNvSpPr>
          <p:nvPr/>
        </p:nvSpPr>
        <p:spPr>
          <a:xfrm xmlns:a="http://schemas.openxmlformats.org/drawingml/2006/main">
            <a:off x="685800" y="361950"/>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308"/>
          </a:bodyPr>
          <a:lstStyle xmlns:a="http://schemas.openxmlformats.org/drawingml/2006/main"/>
          <a:p xmlns:a="http://schemas.openxmlformats.org/drawingml/2006/main">
            <a:pPr>
              <a:defRPr sz="975" b="1">
                <a:solidFill>
                  <a:srgbClr val="7759E8"/>
                </a:solidFill>
                <a:latin typeface="Bitstream Charter"/>
                <a:ea typeface="Bitstream Charter"/>
                <a:cs typeface="Bitstream Charter"/>
              </a:defRPr>
            </a:pPr>
            <a:r>
              <a:rPr sz="975" b="1">
                <a:solidFill>
                  <a:srgbClr val="7759E8"/>
                </a:solidFill>
                <a:latin typeface="Bitstream Charter"/>
                <a:ea typeface="Bitstream Charter"/>
                <a:cs typeface="Bitstream Charter"/>
              </a:rPr>
              <a:t>03 / RESEARCH OBJECTIVES</a:t>
            </a:r>
          </a:p>
        </p:txBody>
      </p:sp>
      <p:sp>
        <p:nvSpPr>
          <p:cNvPr id="2" name="">
            <a:extLst xmlns:a="http://schemas.openxmlformats.org/drawingml/2006/main">
              <a:ext uri="{FF2B5EF4-FFF2-40B4-BE49-F238E27FC236}">
                <a16:creationId xmlns:a16="http://schemas.microsoft.com/office/drawing/2014/main" id="{FF2CBD17-A191-47FB-9BE1-5FEC3AE11CB7}"/>
              </a:ext>
            </a:extLst>
          </p:cNvPr>
          <p:cNvSpPr>
            <a:spLocks xmlns:a="http://schemas.openxmlformats.org/drawingml/2006/main" noGrp="1"/>
          </p:cNvSpPr>
          <p:nvPr/>
        </p:nvSpPr>
        <p:spPr>
          <a:xfrm xmlns:a="http://schemas.openxmlformats.org/drawingml/2006/main">
            <a:off x="685800" y="647700"/>
            <a:ext cx="108204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625" b="1">
                <a:solidFill>
                  <a:srgbClr val="14233A"/>
                </a:solidFill>
                <a:latin typeface="Bitstream Charter"/>
                <a:ea typeface="Bitstream Charter"/>
                <a:cs typeface="Bitstream Charter"/>
              </a:defRPr>
            </a:pPr>
            <a:r>
              <a:rPr sz="2625" b="1">
                <a:solidFill>
                  <a:srgbClr val="14233A"/>
                </a:solidFill>
                <a:latin typeface="Bitstream Charter"/>
                <a:ea typeface="Bitstream Charter"/>
                <a:cs typeface="Bitstream Charter"/>
              </a:rPr>
              <a:t>The study linked system development, validation and reporting</a:t>
            </a:r>
          </a:p>
        </p:txBody>
      </p:sp>
      <p:sp>
        <p:nvSpPr>
          <p:cNvPr id="3" name="">
            <a:extLst xmlns:a="http://schemas.openxmlformats.org/drawingml/2006/main">
              <a:ext uri="{FF2B5EF4-FFF2-40B4-BE49-F238E27FC236}">
                <a16:creationId xmlns:a16="http://schemas.microsoft.com/office/drawing/2014/main" id="{304E87F9-8CE0-478F-BA4C-8937428DA12D}"/>
              </a:ext>
            </a:extLst>
          </p:cNvPr>
          <p:cNvSpPr>
            <a:spLocks xmlns:a="http://schemas.openxmlformats.org/drawingml/2006/main" noGrp="1"/>
          </p:cNvSpPr>
          <p:nvPr/>
        </p:nvSpPr>
        <p:spPr>
          <a:xfrm xmlns:a="http://schemas.openxmlformats.org/drawingml/2006/main">
            <a:off x="685800" y="1238250"/>
            <a:ext cx="10287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b="0">
                <a:solidFill>
                  <a:srgbClr val="64748B"/>
                </a:solidFill>
                <a:latin typeface="Bitstream Charter"/>
                <a:ea typeface="Bitstream Charter"/>
                <a:cs typeface="Bitstream Charter"/>
              </a:defRPr>
            </a:pPr>
            <a:r>
              <a:rPr sz="1275" b="0">
                <a:solidFill>
                  <a:srgbClr val="64748B"/>
                </a:solidFill>
                <a:latin typeface="Bitstream Charter"/>
                <a:ea typeface="Bitstream Charter"/>
                <a:cs typeface="Bitstream Charter"/>
              </a:rPr>
              <a:t>The general objective guided three specific objectives that were later evaluated in Chapter Six.</a:t>
            </a:r>
          </a:p>
        </p:txBody>
      </p:sp>
      <p:sp>
        <p:nvSpPr>
          <p:cNvPr id="4" name="">
            <a:extLst xmlns:a="http://schemas.openxmlformats.org/drawingml/2006/main">
              <a:ext uri="{FF2B5EF4-FFF2-40B4-BE49-F238E27FC236}">
                <a16:creationId xmlns:a16="http://schemas.microsoft.com/office/drawing/2014/main" id="{B450CBFB-2AAE-411B-ABCD-2DC196BB9167}"/>
              </a:ext>
            </a:extLst>
          </p:cNvPr>
          <p:cNvSpPr>
            <a:spLocks xmlns:a="http://schemas.openxmlformats.org/drawingml/2006/main" noGrp="1"/>
          </p:cNvSpPr>
          <p:nvPr/>
        </p:nvSpPr>
        <p:spPr>
          <a:xfrm xmlns:a="http://schemas.openxmlformats.org/drawingml/2006/main">
            <a:off x="685800" y="1857375"/>
            <a:ext cx="10820400" cy="1000125"/>
          </a:xfrm>
          <a:prstGeom xmlns:a="http://schemas.openxmlformats.org/drawingml/2006/main" prst="roundRect">
            <a:avLst>
              <a:gd name="adj" fmla="val 17143"/>
            </a:avLst>
          </a:prstGeom>
          <a:solidFill xmlns:a="http://schemas.openxmlformats.org/drawingml/2006/main">
            <a:srgbClr val="101829"/>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0F46B095-1725-427D-8750-C069994BD00E}"/>
              </a:ext>
            </a:extLst>
          </p:cNvPr>
          <p:cNvSpPr>
            <a:spLocks xmlns:a="http://schemas.openxmlformats.org/drawingml/2006/main" noGrp="1"/>
          </p:cNvSpPr>
          <p:nvPr/>
        </p:nvSpPr>
        <p:spPr>
          <a:xfrm xmlns:a="http://schemas.openxmlformats.org/drawingml/2006/main">
            <a:off x="952500" y="2038350"/>
            <a:ext cx="2381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9487"/>
          </a:bodyPr>
          <a:lstStyle xmlns:a="http://schemas.openxmlformats.org/drawingml/2006/main"/>
          <a:p xmlns:a="http://schemas.openxmlformats.org/drawingml/2006/main">
            <a:pPr>
              <a:defRPr sz="975" b="1">
                <a:solidFill>
                  <a:srgbClr val="A78BFA"/>
                </a:solidFill>
                <a:latin typeface="Bitstream Charter"/>
                <a:ea typeface="Bitstream Charter"/>
                <a:cs typeface="Bitstream Charter"/>
              </a:defRPr>
            </a:pPr>
            <a:r>
              <a:rPr sz="975" b="1">
                <a:solidFill>
                  <a:srgbClr val="A78BFA"/>
                </a:solidFill>
                <a:latin typeface="Bitstream Charter"/>
                <a:ea typeface="Bitstream Charter"/>
                <a:cs typeface="Bitstream Charter"/>
              </a:rPr>
              <a:t>GENERAL OBJECTIVE</a:t>
            </a:r>
          </a:p>
        </p:txBody>
      </p:sp>
      <p:sp>
        <p:nvSpPr>
          <p:cNvPr id="6" name="">
            <a:extLst xmlns:a="http://schemas.openxmlformats.org/drawingml/2006/main">
              <a:ext uri="{FF2B5EF4-FFF2-40B4-BE49-F238E27FC236}">
                <a16:creationId xmlns:a16="http://schemas.microsoft.com/office/drawing/2014/main" id="{26D94263-4750-4378-A39B-F80ACB2ADBFB}"/>
              </a:ext>
            </a:extLst>
          </p:cNvPr>
          <p:cNvSpPr>
            <a:spLocks xmlns:a="http://schemas.openxmlformats.org/drawingml/2006/main" noGrp="1"/>
          </p:cNvSpPr>
          <p:nvPr/>
        </p:nvSpPr>
        <p:spPr>
          <a:xfrm xmlns:a="http://schemas.openxmlformats.org/drawingml/2006/main">
            <a:off x="952500" y="2305050"/>
            <a:ext cx="10001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8254"/>
          </a:bodyPr>
          <a:lstStyle xmlns:a="http://schemas.openxmlformats.org/drawingml/2006/main"/>
          <a:p xmlns:a="http://schemas.openxmlformats.org/drawingml/2006/main">
            <a:pPr>
              <a:defRPr sz="1575" b="1">
                <a:solidFill>
                  <a:srgbClr val="FFFFFF"/>
                </a:solidFill>
                <a:latin typeface="Bitstream Charter"/>
                <a:ea typeface="Bitstream Charter"/>
                <a:cs typeface="Bitstream Charter"/>
              </a:defRPr>
            </a:pPr>
            <a:r>
              <a:rPr sz="1575" b="1">
                <a:solidFill>
                  <a:srgbClr val="FFFFFF"/>
                </a:solidFill>
                <a:latin typeface="Bitstream Charter"/>
                <a:ea typeface="Bitstream Charter"/>
                <a:cs typeface="Bitstream Charter"/>
              </a:rPr>
              <a:t>Design and develop a web-based Bookshop System that improves inventory management, automates sales operations and supports efficient business decision-making.</a:t>
            </a:r>
          </a:p>
        </p:txBody>
      </p:sp>
      <p:sp>
        <p:nvSpPr>
          <p:cNvPr id="7" name="">
            <a:extLst xmlns:a="http://schemas.openxmlformats.org/drawingml/2006/main">
              <a:ext uri="{FF2B5EF4-FFF2-40B4-BE49-F238E27FC236}">
                <a16:creationId xmlns:a16="http://schemas.microsoft.com/office/drawing/2014/main" id="{D36BA49A-8915-4B5D-9D9B-13542B81175D}"/>
              </a:ext>
            </a:extLst>
          </p:cNvPr>
          <p:cNvSpPr>
            <a:spLocks xmlns:a="http://schemas.openxmlformats.org/drawingml/2006/main" noGrp="1"/>
          </p:cNvSpPr>
          <p:nvPr/>
        </p:nvSpPr>
        <p:spPr>
          <a:xfrm xmlns:a="http://schemas.openxmlformats.org/drawingml/2006/main">
            <a:off x="685800" y="3190875"/>
            <a:ext cx="3295650" cy="1952625"/>
          </a:xfrm>
          <a:prstGeom xmlns:a="http://schemas.openxmlformats.org/drawingml/2006/main" prst="roundRect">
            <a:avLst>
              <a:gd name="adj" fmla="val 8780"/>
            </a:avLst>
          </a:prstGeom>
          <a:solidFill xmlns:a="http://schemas.openxmlformats.org/drawingml/2006/main">
            <a:srgbClr val="FFFFFF"/>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18DFADB3-8CF9-484F-BCA4-1ADF1C456161}"/>
              </a:ext>
            </a:extLst>
          </p:cNvPr>
          <p:cNvSpPr>
            <a:spLocks xmlns:a="http://schemas.openxmlformats.org/drawingml/2006/main" noGrp="1"/>
          </p:cNvSpPr>
          <p:nvPr/>
        </p:nvSpPr>
        <p:spPr>
          <a:xfrm xmlns:a="http://schemas.openxmlformats.org/drawingml/2006/main">
            <a:off x="895350" y="3362325"/>
            <a:ext cx="4191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7619"/>
          </a:bodyPr>
          <a:lstStyle xmlns:a="http://schemas.openxmlformats.org/drawingml/2006/main"/>
          <a:p xmlns:a="http://schemas.openxmlformats.org/drawingml/2006/main">
            <a:pPr>
              <a:defRPr sz="1050" b="1">
                <a:solidFill>
                  <a:srgbClr val="7759E8"/>
                </a:solidFill>
                <a:latin typeface="Bitstream Charter"/>
                <a:ea typeface="Bitstream Charter"/>
                <a:cs typeface="Bitstream Charter"/>
              </a:defRPr>
            </a:pPr>
            <a:r>
              <a:rPr sz="1050" b="1">
                <a:solidFill>
                  <a:srgbClr val="7759E8"/>
                </a:solidFill>
                <a:latin typeface="Bitstream Charter"/>
                <a:ea typeface="Bitstream Charter"/>
                <a:cs typeface="Bitstream Charter"/>
              </a:rPr>
              <a:t>01</a:t>
            </a:r>
          </a:p>
        </p:txBody>
      </p:sp>
      <p:sp>
        <p:nvSpPr>
          <p:cNvPr id="9" name="">
            <a:extLst xmlns:a="http://schemas.openxmlformats.org/drawingml/2006/main">
              <a:ext uri="{FF2B5EF4-FFF2-40B4-BE49-F238E27FC236}">
                <a16:creationId xmlns:a16="http://schemas.microsoft.com/office/drawing/2014/main" id="{B789C7D0-CA58-40CB-A385-9E763A077DB1}"/>
              </a:ext>
            </a:extLst>
          </p:cNvPr>
          <p:cNvSpPr>
            <a:spLocks xmlns:a="http://schemas.openxmlformats.org/drawingml/2006/main" noGrp="1"/>
          </p:cNvSpPr>
          <p:nvPr/>
        </p:nvSpPr>
        <p:spPr>
          <a:xfrm xmlns:a="http://schemas.openxmlformats.org/drawingml/2006/main">
            <a:off x="1409700" y="3324225"/>
            <a:ext cx="23622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4274"/>
          </a:bodyPr>
          <a:lstStyle xmlns:a="http://schemas.openxmlformats.org/drawingml/2006/main"/>
          <a:p xmlns:a="http://schemas.openxmlformats.org/drawingml/2006/main">
            <a:pPr>
              <a:defRPr sz="1575" b="1">
                <a:solidFill>
                  <a:srgbClr val="14233A"/>
                </a:solidFill>
                <a:latin typeface="Bitstream Charter"/>
                <a:ea typeface="Bitstream Charter"/>
                <a:cs typeface="Bitstream Charter"/>
              </a:defRPr>
            </a:pPr>
            <a:r>
              <a:rPr sz="1575" b="1">
                <a:solidFill>
                  <a:srgbClr val="14233A"/>
                </a:solidFill>
                <a:latin typeface="Bitstream Charter"/>
                <a:ea typeface="Bitstream Charter"/>
                <a:cs typeface="Bitstream Charter"/>
              </a:rPr>
              <a:t>Implement core modules</a:t>
            </a:r>
          </a:p>
        </p:txBody>
      </p:sp>
      <p:sp>
        <p:nvSpPr>
          <p:cNvPr id="10" name="">
            <a:extLst xmlns:a="http://schemas.openxmlformats.org/drawingml/2006/main">
              <a:ext uri="{FF2B5EF4-FFF2-40B4-BE49-F238E27FC236}">
                <a16:creationId xmlns:a16="http://schemas.microsoft.com/office/drawing/2014/main" id="{44F214ED-9478-4CCB-B181-3CE955DA2360}"/>
              </a:ext>
            </a:extLst>
          </p:cNvPr>
          <p:cNvSpPr>
            <a:spLocks xmlns:a="http://schemas.openxmlformats.org/drawingml/2006/main" noGrp="1"/>
          </p:cNvSpPr>
          <p:nvPr/>
        </p:nvSpPr>
        <p:spPr>
          <a:xfrm xmlns:a="http://schemas.openxmlformats.org/drawingml/2006/main">
            <a:off x="895350" y="3743325"/>
            <a:ext cx="2876550" cy="1247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00" b="0">
                <a:solidFill>
                  <a:srgbClr val="64748B"/>
                </a:solidFill>
                <a:latin typeface="Bitstream Charter"/>
                <a:ea typeface="Bitstream Charter"/>
                <a:cs typeface="Bitstream Charter"/>
              </a:defRPr>
            </a:pPr>
            <a:r>
              <a:rPr sz="1200" b="0">
                <a:solidFill>
                  <a:srgbClr val="64748B"/>
                </a:solidFill>
                <a:latin typeface="Bitstream Charter"/>
                <a:ea typeface="Bitstream Charter"/>
                <a:cs typeface="Bitstream Charter"/>
              </a:rPr>
              <a:t>Inventory control, sales processing, online ordering and role-based access control.</a:t>
            </a:r>
          </a:p>
        </p:txBody>
      </p:sp>
      <p:sp>
        <p:nvSpPr>
          <p:cNvPr id="11" name="">
            <a:extLst xmlns:a="http://schemas.openxmlformats.org/drawingml/2006/main">
              <a:ext uri="{FF2B5EF4-FFF2-40B4-BE49-F238E27FC236}">
                <a16:creationId xmlns:a16="http://schemas.microsoft.com/office/drawing/2014/main" id="{8A1C2D52-C1F2-4FBB-9A68-AC38BEBDBEBD}"/>
              </a:ext>
            </a:extLst>
          </p:cNvPr>
          <p:cNvSpPr>
            <a:spLocks xmlns:a="http://schemas.openxmlformats.org/drawingml/2006/main" noGrp="1"/>
          </p:cNvSpPr>
          <p:nvPr/>
        </p:nvSpPr>
        <p:spPr>
          <a:xfrm xmlns:a="http://schemas.openxmlformats.org/drawingml/2006/main">
            <a:off x="4286250" y="3190875"/>
            <a:ext cx="3295650" cy="1952625"/>
          </a:xfrm>
          <a:prstGeom xmlns:a="http://schemas.openxmlformats.org/drawingml/2006/main" prst="roundRect">
            <a:avLst>
              <a:gd name="adj" fmla="val 8780"/>
            </a:avLst>
          </a:prstGeom>
          <a:solidFill xmlns:a="http://schemas.openxmlformats.org/drawingml/2006/main">
            <a:srgbClr val="FFFFFF"/>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102EAEBB-E362-4B77-8823-52C96F56C17B}"/>
              </a:ext>
            </a:extLst>
          </p:cNvPr>
          <p:cNvSpPr>
            <a:spLocks xmlns:a="http://schemas.openxmlformats.org/drawingml/2006/main" noGrp="1"/>
          </p:cNvSpPr>
          <p:nvPr/>
        </p:nvSpPr>
        <p:spPr>
          <a:xfrm xmlns:a="http://schemas.openxmlformats.org/drawingml/2006/main">
            <a:off x="4495800" y="3362325"/>
            <a:ext cx="4191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7619"/>
          </a:bodyPr>
          <a:lstStyle xmlns:a="http://schemas.openxmlformats.org/drawingml/2006/main"/>
          <a:p xmlns:a="http://schemas.openxmlformats.org/drawingml/2006/main">
            <a:pPr>
              <a:defRPr sz="1050" b="1">
                <a:solidFill>
                  <a:srgbClr val="16A34A"/>
                </a:solidFill>
                <a:latin typeface="Bitstream Charter"/>
                <a:ea typeface="Bitstream Charter"/>
                <a:cs typeface="Bitstream Charter"/>
              </a:defRPr>
            </a:pPr>
            <a:r>
              <a:rPr sz="1050" b="1">
                <a:solidFill>
                  <a:srgbClr val="16A34A"/>
                </a:solidFill>
                <a:latin typeface="Bitstream Charter"/>
                <a:ea typeface="Bitstream Charter"/>
                <a:cs typeface="Bitstream Charter"/>
              </a:rPr>
              <a:t>02</a:t>
            </a:r>
          </a:p>
        </p:txBody>
      </p:sp>
      <p:sp>
        <p:nvSpPr>
          <p:cNvPr id="13" name="">
            <a:extLst xmlns:a="http://schemas.openxmlformats.org/drawingml/2006/main">
              <a:ext uri="{FF2B5EF4-FFF2-40B4-BE49-F238E27FC236}">
                <a16:creationId xmlns:a16="http://schemas.microsoft.com/office/drawing/2014/main" id="{FF34F60C-3579-4190-A08D-8F0378F979AB}"/>
              </a:ext>
            </a:extLst>
          </p:cNvPr>
          <p:cNvSpPr>
            <a:spLocks xmlns:a="http://schemas.openxmlformats.org/drawingml/2006/main" noGrp="1"/>
          </p:cNvSpPr>
          <p:nvPr/>
        </p:nvSpPr>
        <p:spPr>
          <a:xfrm xmlns:a="http://schemas.openxmlformats.org/drawingml/2006/main">
            <a:off x="5010150" y="3324225"/>
            <a:ext cx="23622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6825"/>
          </a:bodyPr>
          <a:lstStyle xmlns:a="http://schemas.openxmlformats.org/drawingml/2006/main"/>
          <a:p xmlns:a="http://schemas.openxmlformats.org/drawingml/2006/main">
            <a:pPr>
              <a:defRPr sz="1575" b="1">
                <a:solidFill>
                  <a:srgbClr val="14233A"/>
                </a:solidFill>
                <a:latin typeface="Bitstream Charter"/>
                <a:ea typeface="Bitstream Charter"/>
                <a:cs typeface="Bitstream Charter"/>
              </a:defRPr>
            </a:pPr>
            <a:r>
              <a:rPr sz="1575" b="1">
                <a:solidFill>
                  <a:srgbClr val="14233A"/>
                </a:solidFill>
                <a:latin typeface="Bitstream Charter"/>
                <a:ea typeface="Bitstream Charter"/>
                <a:cs typeface="Bitstream Charter"/>
              </a:rPr>
              <a:t>Validate the system</a:t>
            </a:r>
          </a:p>
        </p:txBody>
      </p:sp>
      <p:sp>
        <p:nvSpPr>
          <p:cNvPr id="14" name="">
            <a:extLst xmlns:a="http://schemas.openxmlformats.org/drawingml/2006/main">
              <a:ext uri="{FF2B5EF4-FFF2-40B4-BE49-F238E27FC236}">
                <a16:creationId xmlns:a16="http://schemas.microsoft.com/office/drawing/2014/main" id="{9C4760C8-4EB9-43E7-947E-656B06819984}"/>
              </a:ext>
            </a:extLst>
          </p:cNvPr>
          <p:cNvSpPr>
            <a:spLocks xmlns:a="http://schemas.openxmlformats.org/drawingml/2006/main" noGrp="1"/>
          </p:cNvSpPr>
          <p:nvPr/>
        </p:nvSpPr>
        <p:spPr>
          <a:xfrm xmlns:a="http://schemas.openxmlformats.org/drawingml/2006/main">
            <a:off x="4495800" y="3743325"/>
            <a:ext cx="2876550" cy="1247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00" b="0">
                <a:solidFill>
                  <a:srgbClr val="64748B"/>
                </a:solidFill>
                <a:latin typeface="Bitstream Charter"/>
                <a:ea typeface="Bitstream Charter"/>
                <a:cs typeface="Bitstream Charter"/>
              </a:defRPr>
            </a:pPr>
            <a:r>
              <a:rPr sz="1200" b="0">
                <a:solidFill>
                  <a:srgbClr val="64748B"/>
                </a:solidFill>
                <a:latin typeface="Bitstream Charter"/>
                <a:ea typeface="Bitstream Charter"/>
                <a:cs typeface="Bitstream Charter"/>
              </a:rPr>
              <a:t>Evaluate functionality, usability, security and overall performance.</a:t>
            </a:r>
          </a:p>
        </p:txBody>
      </p:sp>
      <p:sp>
        <p:nvSpPr>
          <p:cNvPr id="15" name="">
            <a:extLst xmlns:a="http://schemas.openxmlformats.org/drawingml/2006/main">
              <a:ext uri="{FF2B5EF4-FFF2-40B4-BE49-F238E27FC236}">
                <a16:creationId xmlns:a16="http://schemas.microsoft.com/office/drawing/2014/main" id="{7742B1BF-0858-4989-88EB-AE7423F35FC9}"/>
              </a:ext>
            </a:extLst>
          </p:cNvPr>
          <p:cNvSpPr>
            <a:spLocks xmlns:a="http://schemas.openxmlformats.org/drawingml/2006/main" noGrp="1"/>
          </p:cNvSpPr>
          <p:nvPr/>
        </p:nvSpPr>
        <p:spPr>
          <a:xfrm xmlns:a="http://schemas.openxmlformats.org/drawingml/2006/main">
            <a:off x="7886700" y="3190875"/>
            <a:ext cx="3295650" cy="1952625"/>
          </a:xfrm>
          <a:prstGeom xmlns:a="http://schemas.openxmlformats.org/drawingml/2006/main" prst="roundRect">
            <a:avLst>
              <a:gd name="adj" fmla="val 8780"/>
            </a:avLst>
          </a:prstGeom>
          <a:solidFill xmlns:a="http://schemas.openxmlformats.org/drawingml/2006/main">
            <a:srgbClr val="FFFFFF"/>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83571F82-1F23-4311-9AA3-3C5747D063B9}"/>
              </a:ext>
            </a:extLst>
          </p:cNvPr>
          <p:cNvSpPr>
            <a:spLocks xmlns:a="http://schemas.openxmlformats.org/drawingml/2006/main" noGrp="1"/>
          </p:cNvSpPr>
          <p:nvPr/>
        </p:nvSpPr>
        <p:spPr>
          <a:xfrm xmlns:a="http://schemas.openxmlformats.org/drawingml/2006/main">
            <a:off x="8096250" y="3362325"/>
            <a:ext cx="4191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7619"/>
          </a:bodyPr>
          <a:lstStyle xmlns:a="http://schemas.openxmlformats.org/drawingml/2006/main"/>
          <a:p xmlns:a="http://schemas.openxmlformats.org/drawingml/2006/main">
            <a:pPr>
              <a:defRPr sz="1050" b="1">
                <a:solidFill>
                  <a:srgbClr val="3B5BDB"/>
                </a:solidFill>
                <a:latin typeface="Bitstream Charter"/>
                <a:ea typeface="Bitstream Charter"/>
                <a:cs typeface="Bitstream Charter"/>
              </a:defRPr>
            </a:pPr>
            <a:r>
              <a:rPr sz="1050" b="1">
                <a:solidFill>
                  <a:srgbClr val="3B5BDB"/>
                </a:solidFill>
                <a:latin typeface="Bitstream Charter"/>
                <a:ea typeface="Bitstream Charter"/>
                <a:cs typeface="Bitstream Charter"/>
              </a:rPr>
              <a:t>03</a:t>
            </a:r>
          </a:p>
        </p:txBody>
      </p:sp>
      <p:sp>
        <p:nvSpPr>
          <p:cNvPr id="17" name="">
            <a:extLst xmlns:a="http://schemas.openxmlformats.org/drawingml/2006/main">
              <a:ext uri="{FF2B5EF4-FFF2-40B4-BE49-F238E27FC236}">
                <a16:creationId xmlns:a16="http://schemas.microsoft.com/office/drawing/2014/main" id="{3E796DE3-25E5-4797-B19E-80F757FF4DC3}"/>
              </a:ext>
            </a:extLst>
          </p:cNvPr>
          <p:cNvSpPr>
            <a:spLocks xmlns:a="http://schemas.openxmlformats.org/drawingml/2006/main" noGrp="1"/>
          </p:cNvSpPr>
          <p:nvPr/>
        </p:nvSpPr>
        <p:spPr>
          <a:xfrm xmlns:a="http://schemas.openxmlformats.org/drawingml/2006/main">
            <a:off x="8610600" y="3324225"/>
            <a:ext cx="23622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8545"/>
          </a:bodyPr>
          <a:lstStyle xmlns:a="http://schemas.openxmlformats.org/drawingml/2006/main"/>
          <a:p xmlns:a="http://schemas.openxmlformats.org/drawingml/2006/main">
            <a:pPr>
              <a:defRPr sz="1575" b="1">
                <a:solidFill>
                  <a:srgbClr val="14233A"/>
                </a:solidFill>
                <a:latin typeface="Bitstream Charter"/>
                <a:ea typeface="Bitstream Charter"/>
                <a:cs typeface="Bitstream Charter"/>
              </a:defRPr>
            </a:pPr>
            <a:r>
              <a:rPr sz="1575" b="1">
                <a:solidFill>
                  <a:srgbClr val="14233A"/>
                </a:solidFill>
                <a:latin typeface="Bitstream Charter"/>
                <a:ea typeface="Bitstream Charter"/>
                <a:cs typeface="Bitstream Charter"/>
              </a:rPr>
              <a:t>Generate real-time reports</a:t>
            </a:r>
          </a:p>
        </p:txBody>
      </p:sp>
      <p:sp>
        <p:nvSpPr>
          <p:cNvPr id="18" name="">
            <a:extLst xmlns:a="http://schemas.openxmlformats.org/drawingml/2006/main">
              <a:ext uri="{FF2B5EF4-FFF2-40B4-BE49-F238E27FC236}">
                <a16:creationId xmlns:a16="http://schemas.microsoft.com/office/drawing/2014/main" id="{C7491105-49CA-4DB8-9EF4-114554E9C086}"/>
              </a:ext>
            </a:extLst>
          </p:cNvPr>
          <p:cNvSpPr>
            <a:spLocks xmlns:a="http://schemas.openxmlformats.org/drawingml/2006/main" noGrp="1"/>
          </p:cNvSpPr>
          <p:nvPr/>
        </p:nvSpPr>
        <p:spPr>
          <a:xfrm xmlns:a="http://schemas.openxmlformats.org/drawingml/2006/main">
            <a:off x="8096250" y="3743325"/>
            <a:ext cx="2876550" cy="1247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00" b="0">
                <a:solidFill>
                  <a:srgbClr val="64748B"/>
                </a:solidFill>
                <a:latin typeface="Bitstream Charter"/>
                <a:ea typeface="Bitstream Charter"/>
                <a:cs typeface="Bitstream Charter"/>
              </a:defRPr>
            </a:pPr>
            <a:r>
              <a:rPr sz="1200" b="0">
                <a:solidFill>
                  <a:srgbClr val="64748B"/>
                </a:solidFill>
                <a:latin typeface="Bitstream Charter"/>
                <a:ea typeface="Bitstream Charter"/>
                <a:cs typeface="Bitstream Charter"/>
              </a:rPr>
              <a:t>Report inventory, sales, customers, payments, deliveries and business performance.</a:t>
            </a:r>
          </a:p>
        </p:txBody>
      </p:sp>
      <p:sp>
        <p:nvSpPr>
          <p:cNvPr id="19" name="">
            <a:extLst xmlns:a="http://schemas.openxmlformats.org/drawingml/2006/main">
              <a:ext uri="{FF2B5EF4-FFF2-40B4-BE49-F238E27FC236}">
                <a16:creationId xmlns:a16="http://schemas.microsoft.com/office/drawing/2014/main" id="{714F8B76-E573-44B5-BEDF-A83717B0D418}"/>
              </a:ext>
            </a:extLst>
          </p:cNvPr>
          <p:cNvSpPr>
            <a:spLocks xmlns:a="http://schemas.openxmlformats.org/drawingml/2006/main" noGrp="1"/>
          </p:cNvSpPr>
          <p:nvPr/>
        </p:nvSpPr>
        <p:spPr>
          <a:xfrm xmlns:a="http://schemas.openxmlformats.org/drawingml/2006/main">
            <a:off x="685800" y="6496050"/>
            <a:ext cx="6191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0000"/>
          </a:bodyPr>
          <a:lstStyle xmlns:a="http://schemas.openxmlformats.org/drawingml/2006/main"/>
          <a:p xmlns:a="http://schemas.openxmlformats.org/drawingml/2006/main">
            <a:pPr>
              <a:defRPr sz="750" b="1">
                <a:solidFill>
                  <a:srgbClr val="64748B"/>
                </a:solidFill>
                <a:latin typeface="Bitstream Charter"/>
                <a:ea typeface="Bitstream Charter"/>
                <a:cs typeface="Bitstream Charter"/>
              </a:defRPr>
            </a:pPr>
            <a:r>
              <a:rPr sz="750" b="1">
                <a:solidFill>
                  <a:srgbClr val="64748B"/>
                </a:solidFill>
                <a:latin typeface="Bitstream Charter"/>
                <a:ea typeface="Bitstream Charter"/>
                <a:cs typeface="Bitstream Charter"/>
              </a:rPr>
              <a:t>BOOKSHOP SYSTEM  •  BRIGHT MULTISERVICES AND TECH SOLUTIONS</a:t>
            </a:r>
          </a:p>
        </p:txBody>
      </p:sp>
      <p:sp>
        <p:nvSpPr>
          <p:cNvPr id="20" name="">
            <a:extLst xmlns:a="http://schemas.openxmlformats.org/drawingml/2006/main">
              <a:ext uri="{FF2B5EF4-FFF2-40B4-BE49-F238E27FC236}">
                <a16:creationId xmlns:a16="http://schemas.microsoft.com/office/drawing/2014/main" id="{29B021D4-B7A2-4A37-9EE5-89401D9D85FC}"/>
              </a:ext>
            </a:extLst>
          </p:cNvPr>
          <p:cNvSpPr>
            <a:spLocks xmlns:a="http://schemas.openxmlformats.org/drawingml/2006/main" noGrp="1"/>
          </p:cNvSpPr>
          <p:nvPr/>
        </p:nvSpPr>
        <p:spPr>
          <a:xfrm xmlns:a="http://schemas.openxmlformats.org/drawingml/2006/main">
            <a:off x="11049000" y="6496050"/>
            <a:ext cx="4572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0000"/>
          </a:bodyPr>
          <a:lstStyle xmlns:a="http://schemas.openxmlformats.org/drawingml/2006/main"/>
          <a:p xmlns:a="http://schemas.openxmlformats.org/drawingml/2006/main">
            <a:pPr>
              <a:defRPr sz="750" b="1">
                <a:solidFill>
                  <a:srgbClr val="64748B"/>
                </a:solidFill>
                <a:latin typeface="Bitstream Charter"/>
                <a:ea typeface="Bitstream Charter"/>
                <a:cs typeface="Bitstream Charter"/>
              </a:defRPr>
            </a:pPr>
            <a:r>
              <a:rPr sz="750" b="1">
                <a:solidFill>
                  <a:srgbClr val="64748B"/>
                </a:solidFill>
                <a:latin typeface="Bitstream Charter"/>
                <a:ea typeface="Bitstream Charter"/>
                <a:cs typeface="Bitstream Charter"/>
              </a:rPr>
              <a:t>04</a:t>
            </a:r>
          </a:p>
        </p:txBody>
      </p:sp>
    </p:spTree>
    <p:extLst>
      <p:ext uri="{BB962C8B-B14F-4D97-AF65-F5344CB8AC3E}">
        <p14:creationId xmlns:p14="http://schemas.microsoft.com/office/powerpoint/2010/main" val="1592821676"/>
      </p:ext>
    </p:extLst>
  </p:cSld>
</p:sld>
</file>

<file path=ppt/slides/slide5.xml><?xml version="1.0" encoding="utf-8"?>
<p:sld xmlns:p="http://schemas.openxmlformats.org/presentationml/2006/main">
  <p:cSld>
    <p:bg>
      <p:bgPr>
        <a:solidFill xmlns:a="http://schemas.openxmlformats.org/drawingml/2006/main">
          <a:srgbClr val="101829"/>
        </a:solidFill>
      </p:bgPr>
    </p:bg>
    <p:spTree>
      <p:nvGrpSpPr>
        <p:cNvPr id="1" name=""/>
        <p:cNvGrpSpPr/>
        <p:nvPr/>
      </p:nvGrpSpPr>
      <p:grpSpPr>
        <a:xfrm xmlns:a="http://schemas.openxmlformats.org/drawingml/2006/main"/>
      </p:grpSpPr>
      <p:sp>
        <p:nvSpPr>
          <p:cNvPr id="30" name="">
            <a:extLst xmlns:a="http://schemas.openxmlformats.org/drawingml/2006/main">
              <a:ext uri="{FF2B5EF4-FFF2-40B4-BE49-F238E27FC236}">
                <a16:creationId xmlns:a16="http://schemas.microsoft.com/office/drawing/2014/main" id="{3146B98A-4355-461E-A7B4-50AB5D5666B4}"/>
              </a:ext>
            </a:extLst>
          </p:cNvPr>
          <p:cNvSpPr>
            <a:spLocks xmlns:a="http://schemas.openxmlformats.org/drawingml/2006/main" noGrp="1"/>
          </p:cNvSpPr>
          <p:nvPr/>
        </p:nvSpPr>
        <p:spPr>
          <a:xfrm xmlns:a="http://schemas.openxmlformats.org/drawingml/2006/main">
            <a:off x="685800" y="361950"/>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308"/>
          </a:bodyPr>
          <a:lstStyle xmlns:a="http://schemas.openxmlformats.org/drawingml/2006/main"/>
          <a:p xmlns:a="http://schemas.openxmlformats.org/drawingml/2006/main">
            <a:pPr>
              <a:defRPr sz="975" b="1">
                <a:solidFill>
                  <a:srgbClr val="A78BFA"/>
                </a:solidFill>
                <a:latin typeface="Bitstream Charter"/>
                <a:ea typeface="Bitstream Charter"/>
                <a:cs typeface="Bitstream Charter"/>
              </a:defRPr>
            </a:pPr>
            <a:r>
              <a:rPr sz="975" b="1">
                <a:solidFill>
                  <a:srgbClr val="A78BFA"/>
                </a:solidFill>
                <a:latin typeface="Bitstream Charter"/>
                <a:ea typeface="Bitstream Charter"/>
                <a:cs typeface="Bitstream Charter"/>
              </a:rPr>
              <a:t>04 / CONTENT SCOPE</a:t>
            </a:r>
          </a:p>
        </p:txBody>
      </p:sp>
      <p:sp>
        <p:nvSpPr>
          <p:cNvPr id="2" name="">
            <a:extLst xmlns:a="http://schemas.openxmlformats.org/drawingml/2006/main">
              <a:ext uri="{FF2B5EF4-FFF2-40B4-BE49-F238E27FC236}">
                <a16:creationId xmlns:a16="http://schemas.microsoft.com/office/drawing/2014/main" id="{70B946C3-10B0-4514-BF28-24DCEA239647}"/>
              </a:ext>
            </a:extLst>
          </p:cNvPr>
          <p:cNvSpPr>
            <a:spLocks xmlns:a="http://schemas.openxmlformats.org/drawingml/2006/main" noGrp="1"/>
          </p:cNvSpPr>
          <p:nvPr/>
        </p:nvSpPr>
        <p:spPr>
          <a:xfrm xmlns:a="http://schemas.openxmlformats.org/drawingml/2006/main">
            <a:off x="685800" y="647700"/>
            <a:ext cx="108204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625" b="1">
                <a:solidFill>
                  <a:srgbClr val="FFFFFF"/>
                </a:solidFill>
                <a:latin typeface="Bitstream Charter"/>
                <a:ea typeface="Bitstream Charter"/>
                <a:cs typeface="Bitstream Charter"/>
              </a:defRPr>
            </a:pPr>
            <a:r>
              <a:rPr sz="2625" b="1">
                <a:solidFill>
                  <a:srgbClr val="FFFFFF"/>
                </a:solidFill>
                <a:latin typeface="Bitstream Charter"/>
                <a:ea typeface="Bitstream Charter"/>
                <a:cs typeface="Bitstream Charter"/>
              </a:rPr>
              <a:t>The system covers the complete operating cycle</a:t>
            </a:r>
          </a:p>
        </p:txBody>
      </p:sp>
      <p:sp>
        <p:nvSpPr>
          <p:cNvPr id="3" name="">
            <a:extLst xmlns:a="http://schemas.openxmlformats.org/drawingml/2006/main">
              <a:ext uri="{FF2B5EF4-FFF2-40B4-BE49-F238E27FC236}">
                <a16:creationId xmlns:a16="http://schemas.microsoft.com/office/drawing/2014/main" id="{F33A2C89-C49E-4BC3-8115-CD4B18546B0A}"/>
              </a:ext>
            </a:extLst>
          </p:cNvPr>
          <p:cNvSpPr>
            <a:spLocks xmlns:a="http://schemas.openxmlformats.org/drawingml/2006/main" noGrp="1"/>
          </p:cNvSpPr>
          <p:nvPr/>
        </p:nvSpPr>
        <p:spPr>
          <a:xfrm xmlns:a="http://schemas.openxmlformats.org/drawingml/2006/main">
            <a:off x="685800" y="1238250"/>
            <a:ext cx="10287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b="0">
                <a:solidFill>
                  <a:srgbClr val="BFC8D8"/>
                </a:solidFill>
                <a:latin typeface="Bitstream Charter"/>
                <a:ea typeface="Bitstream Charter"/>
                <a:cs typeface="Bitstream Charter"/>
              </a:defRPr>
            </a:pPr>
            <a:r>
              <a:rPr sz="1275" b="0">
                <a:solidFill>
                  <a:srgbClr val="BFC8D8"/>
                </a:solidFill>
                <a:latin typeface="Bitstream Charter"/>
                <a:ea typeface="Bitstream Charter"/>
                <a:cs typeface="Bitstream Charter"/>
              </a:rPr>
              <a:t>The project combined internal administration, customer ordering and management reporting.</a:t>
            </a:r>
          </a:p>
        </p:txBody>
      </p:sp>
      <p:sp>
        <p:nvSpPr>
          <p:cNvPr id="4" name="">
            <a:extLst xmlns:a="http://schemas.openxmlformats.org/drawingml/2006/main">
              <a:ext uri="{FF2B5EF4-FFF2-40B4-BE49-F238E27FC236}">
                <a16:creationId xmlns:a16="http://schemas.microsoft.com/office/drawing/2014/main" id="{33DE862A-D37E-4444-82D2-BA5240836BE3}"/>
              </a:ext>
            </a:extLst>
          </p:cNvPr>
          <p:cNvSpPr>
            <a:spLocks xmlns:a="http://schemas.openxmlformats.org/drawingml/2006/main" noGrp="1"/>
          </p:cNvSpPr>
          <p:nvPr/>
        </p:nvSpPr>
        <p:spPr>
          <a:xfrm xmlns:a="http://schemas.openxmlformats.org/drawingml/2006/main">
            <a:off x="685800" y="1952625"/>
            <a:ext cx="3295650" cy="1409700"/>
          </a:xfrm>
          <a:prstGeom xmlns:a="http://schemas.openxmlformats.org/drawingml/2006/main" prst="roundRect">
            <a:avLst>
              <a:gd name="adj" fmla="val 12162"/>
            </a:avLst>
          </a:prstGeom>
          <a:solidFill xmlns:a="http://schemas.openxmlformats.org/drawingml/2006/main">
            <a:srgbClr val="1D2940"/>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24EB916B-03CD-4D2E-80AB-99D915A03A63}"/>
              </a:ext>
            </a:extLst>
          </p:cNvPr>
          <p:cNvSpPr>
            <a:spLocks xmlns:a="http://schemas.openxmlformats.org/drawingml/2006/main" noGrp="1"/>
          </p:cNvSpPr>
          <p:nvPr/>
        </p:nvSpPr>
        <p:spPr>
          <a:xfrm xmlns:a="http://schemas.openxmlformats.org/drawingml/2006/main">
            <a:off x="685800" y="1952625"/>
            <a:ext cx="76200" cy="1409700"/>
          </a:xfrm>
          <a:prstGeom xmlns:a="http://schemas.openxmlformats.org/drawingml/2006/main" prst="rect">
            <a:avLst/>
          </a:prstGeom>
          <a:solidFill xmlns:a="http://schemas.openxmlformats.org/drawingml/2006/main">
            <a:srgbClr val="16A6D9"/>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BB58DDA6-8CE7-4557-928A-FABDA3D32FD7}"/>
              </a:ext>
            </a:extLst>
          </p:cNvPr>
          <p:cNvSpPr>
            <a:spLocks xmlns:a="http://schemas.openxmlformats.org/drawingml/2006/main" noGrp="1"/>
          </p:cNvSpPr>
          <p:nvPr/>
        </p:nvSpPr>
        <p:spPr>
          <a:xfrm xmlns:a="http://schemas.openxmlformats.org/drawingml/2006/main">
            <a:off x="971550" y="2124075"/>
            <a:ext cx="266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308"/>
          </a:bodyPr>
          <a:lstStyle xmlns:a="http://schemas.openxmlformats.org/drawingml/2006/main"/>
          <a:p xmlns:a="http://schemas.openxmlformats.org/drawingml/2006/main">
            <a:pPr>
              <a:defRPr sz="975" b="1">
                <a:solidFill>
                  <a:srgbClr val="16A6D9"/>
                </a:solidFill>
                <a:latin typeface="Bitstream Charter"/>
                <a:ea typeface="Bitstream Charter"/>
                <a:cs typeface="Bitstream Charter"/>
              </a:defRPr>
            </a:pPr>
            <a:r>
              <a:rPr sz="975" b="1">
                <a:solidFill>
                  <a:srgbClr val="16A6D9"/>
                </a:solidFill>
                <a:latin typeface="Bitstream Charter"/>
                <a:ea typeface="Bitstream Charter"/>
                <a:cs typeface="Bitstream Charter"/>
              </a:rPr>
              <a:t>CATALOG</a:t>
            </a:r>
          </a:p>
        </p:txBody>
      </p:sp>
      <p:sp>
        <p:nvSpPr>
          <p:cNvPr id="7" name="">
            <a:extLst xmlns:a="http://schemas.openxmlformats.org/drawingml/2006/main">
              <a:ext uri="{FF2B5EF4-FFF2-40B4-BE49-F238E27FC236}">
                <a16:creationId xmlns:a16="http://schemas.microsoft.com/office/drawing/2014/main" id="{0230D45F-4915-496D-9544-073C12791993}"/>
              </a:ext>
            </a:extLst>
          </p:cNvPr>
          <p:cNvSpPr>
            <a:spLocks xmlns:a="http://schemas.openxmlformats.org/drawingml/2006/main" noGrp="1"/>
          </p:cNvSpPr>
          <p:nvPr/>
        </p:nvSpPr>
        <p:spPr>
          <a:xfrm xmlns:a="http://schemas.openxmlformats.org/drawingml/2006/main">
            <a:off x="971550" y="2466975"/>
            <a:ext cx="2667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575" b="1">
                <a:solidFill>
                  <a:srgbClr val="FFFFFF"/>
                </a:solidFill>
                <a:latin typeface="Bitstream Charter"/>
                <a:ea typeface="Bitstream Charter"/>
                <a:cs typeface="Bitstream Charter"/>
              </a:defRPr>
            </a:pPr>
            <a:r>
              <a:rPr sz="1575" b="1">
                <a:solidFill>
                  <a:srgbClr val="FFFFFF"/>
                </a:solidFill>
                <a:latin typeface="Bitstream Charter"/>
                <a:ea typeface="Bitstream Charter"/>
                <a:cs typeface="Bitstream Charter"/>
              </a:rPr>
              <a:t>Products, categories, brands and variants</a:t>
            </a:r>
          </a:p>
        </p:txBody>
      </p:sp>
      <p:sp>
        <p:nvSpPr>
          <p:cNvPr id="8" name="">
            <a:extLst xmlns:a="http://schemas.openxmlformats.org/drawingml/2006/main">
              <a:ext uri="{FF2B5EF4-FFF2-40B4-BE49-F238E27FC236}">
                <a16:creationId xmlns:a16="http://schemas.microsoft.com/office/drawing/2014/main" id="{24CFFB46-FE1E-4618-891D-723F917AD56E}"/>
              </a:ext>
            </a:extLst>
          </p:cNvPr>
          <p:cNvSpPr>
            <a:spLocks xmlns:a="http://schemas.openxmlformats.org/drawingml/2006/main" noGrp="1"/>
          </p:cNvSpPr>
          <p:nvPr/>
        </p:nvSpPr>
        <p:spPr>
          <a:xfrm xmlns:a="http://schemas.openxmlformats.org/drawingml/2006/main">
            <a:off x="4286250" y="1952625"/>
            <a:ext cx="3295650" cy="1409700"/>
          </a:xfrm>
          <a:prstGeom xmlns:a="http://schemas.openxmlformats.org/drawingml/2006/main" prst="roundRect">
            <a:avLst>
              <a:gd name="adj" fmla="val 12162"/>
            </a:avLst>
          </a:prstGeom>
          <a:solidFill xmlns:a="http://schemas.openxmlformats.org/drawingml/2006/main">
            <a:srgbClr val="1D2940"/>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4E117159-2014-43D5-8B45-59608E57DE85}"/>
              </a:ext>
            </a:extLst>
          </p:cNvPr>
          <p:cNvSpPr>
            <a:spLocks xmlns:a="http://schemas.openxmlformats.org/drawingml/2006/main" noGrp="1"/>
          </p:cNvSpPr>
          <p:nvPr/>
        </p:nvSpPr>
        <p:spPr>
          <a:xfrm xmlns:a="http://schemas.openxmlformats.org/drawingml/2006/main">
            <a:off x="4286250" y="1952625"/>
            <a:ext cx="76200" cy="1409700"/>
          </a:xfrm>
          <a:prstGeom xmlns:a="http://schemas.openxmlformats.org/drawingml/2006/main" prst="rect">
            <a:avLst/>
          </a:prstGeom>
          <a:solidFill xmlns:a="http://schemas.openxmlformats.org/drawingml/2006/main">
            <a:srgbClr val="16A34A"/>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26365B58-5526-4785-A113-C46C32753515}"/>
              </a:ext>
            </a:extLst>
          </p:cNvPr>
          <p:cNvSpPr>
            <a:spLocks xmlns:a="http://schemas.openxmlformats.org/drawingml/2006/main" noGrp="1"/>
          </p:cNvSpPr>
          <p:nvPr/>
        </p:nvSpPr>
        <p:spPr>
          <a:xfrm xmlns:a="http://schemas.openxmlformats.org/drawingml/2006/main">
            <a:off x="4572000" y="2124075"/>
            <a:ext cx="266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308"/>
          </a:bodyPr>
          <a:lstStyle xmlns:a="http://schemas.openxmlformats.org/drawingml/2006/main"/>
          <a:p xmlns:a="http://schemas.openxmlformats.org/drawingml/2006/main">
            <a:pPr>
              <a:defRPr sz="975" b="1">
                <a:solidFill>
                  <a:srgbClr val="16A34A"/>
                </a:solidFill>
                <a:latin typeface="Bitstream Charter"/>
                <a:ea typeface="Bitstream Charter"/>
                <a:cs typeface="Bitstream Charter"/>
              </a:defRPr>
            </a:pPr>
            <a:r>
              <a:rPr sz="975" b="1">
                <a:solidFill>
                  <a:srgbClr val="16A34A"/>
                </a:solidFill>
                <a:latin typeface="Bitstream Charter"/>
                <a:ea typeface="Bitstream Charter"/>
                <a:cs typeface="Bitstream Charter"/>
              </a:rPr>
              <a:t>STOCK</a:t>
            </a:r>
          </a:p>
        </p:txBody>
      </p:sp>
      <p:sp>
        <p:nvSpPr>
          <p:cNvPr id="11" name="">
            <a:extLst xmlns:a="http://schemas.openxmlformats.org/drawingml/2006/main">
              <a:ext uri="{FF2B5EF4-FFF2-40B4-BE49-F238E27FC236}">
                <a16:creationId xmlns:a16="http://schemas.microsoft.com/office/drawing/2014/main" id="{9FF87C5D-FA00-4C54-9908-913736ECEC85}"/>
              </a:ext>
            </a:extLst>
          </p:cNvPr>
          <p:cNvSpPr>
            <a:spLocks xmlns:a="http://schemas.openxmlformats.org/drawingml/2006/main" noGrp="1"/>
          </p:cNvSpPr>
          <p:nvPr/>
        </p:nvSpPr>
        <p:spPr>
          <a:xfrm xmlns:a="http://schemas.openxmlformats.org/drawingml/2006/main">
            <a:off x="4572000" y="2466975"/>
            <a:ext cx="2667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575" b="1">
                <a:solidFill>
                  <a:srgbClr val="FFFFFF"/>
                </a:solidFill>
                <a:latin typeface="Bitstream Charter"/>
                <a:ea typeface="Bitstream Charter"/>
                <a:cs typeface="Bitstream Charter"/>
              </a:defRPr>
            </a:pPr>
            <a:r>
              <a:rPr sz="1575" b="1">
                <a:solidFill>
                  <a:srgbClr val="FFFFFF"/>
                </a:solidFill>
                <a:latin typeface="Bitstream Charter"/>
                <a:ea typeface="Bitstream Charter"/>
                <a:cs typeface="Bitstream Charter"/>
              </a:rPr>
              <a:t>Warehouses, inventory and stock movements</a:t>
            </a:r>
          </a:p>
        </p:txBody>
      </p:sp>
      <p:sp>
        <p:nvSpPr>
          <p:cNvPr id="12" name="">
            <a:extLst xmlns:a="http://schemas.openxmlformats.org/drawingml/2006/main">
              <a:ext uri="{FF2B5EF4-FFF2-40B4-BE49-F238E27FC236}">
                <a16:creationId xmlns:a16="http://schemas.microsoft.com/office/drawing/2014/main" id="{25279F4E-1E57-4F0F-B3EA-14AE98C55395}"/>
              </a:ext>
            </a:extLst>
          </p:cNvPr>
          <p:cNvSpPr>
            <a:spLocks xmlns:a="http://schemas.openxmlformats.org/drawingml/2006/main" noGrp="1"/>
          </p:cNvSpPr>
          <p:nvPr/>
        </p:nvSpPr>
        <p:spPr>
          <a:xfrm xmlns:a="http://schemas.openxmlformats.org/drawingml/2006/main">
            <a:off x="7886700" y="1952625"/>
            <a:ext cx="3295650" cy="1409700"/>
          </a:xfrm>
          <a:prstGeom xmlns:a="http://schemas.openxmlformats.org/drawingml/2006/main" prst="roundRect">
            <a:avLst>
              <a:gd name="adj" fmla="val 12162"/>
            </a:avLst>
          </a:prstGeom>
          <a:solidFill xmlns:a="http://schemas.openxmlformats.org/drawingml/2006/main">
            <a:srgbClr val="1D2940"/>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DB5E8D47-ABCF-4CBC-BEB0-25559D68B7EE}"/>
              </a:ext>
            </a:extLst>
          </p:cNvPr>
          <p:cNvSpPr>
            <a:spLocks xmlns:a="http://schemas.openxmlformats.org/drawingml/2006/main" noGrp="1"/>
          </p:cNvSpPr>
          <p:nvPr/>
        </p:nvSpPr>
        <p:spPr>
          <a:xfrm xmlns:a="http://schemas.openxmlformats.org/drawingml/2006/main">
            <a:off x="7886700" y="1952625"/>
            <a:ext cx="76200" cy="1409700"/>
          </a:xfrm>
          <a:prstGeom xmlns:a="http://schemas.openxmlformats.org/drawingml/2006/main" prst="rect">
            <a:avLst/>
          </a:prstGeom>
          <a:solidFill xmlns:a="http://schemas.openxmlformats.org/drawingml/2006/main">
            <a:srgbClr val="7759E8"/>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C42F6BF4-A49F-4FAB-8B18-04AC6286F7C1}"/>
              </a:ext>
            </a:extLst>
          </p:cNvPr>
          <p:cNvSpPr>
            <a:spLocks xmlns:a="http://schemas.openxmlformats.org/drawingml/2006/main" noGrp="1"/>
          </p:cNvSpPr>
          <p:nvPr/>
        </p:nvSpPr>
        <p:spPr>
          <a:xfrm xmlns:a="http://schemas.openxmlformats.org/drawingml/2006/main">
            <a:off x="8172450" y="2124075"/>
            <a:ext cx="266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308"/>
          </a:bodyPr>
          <a:lstStyle xmlns:a="http://schemas.openxmlformats.org/drawingml/2006/main"/>
          <a:p xmlns:a="http://schemas.openxmlformats.org/drawingml/2006/main">
            <a:pPr>
              <a:defRPr sz="975" b="1">
                <a:solidFill>
                  <a:srgbClr val="7759E8"/>
                </a:solidFill>
                <a:latin typeface="Bitstream Charter"/>
                <a:ea typeface="Bitstream Charter"/>
                <a:cs typeface="Bitstream Charter"/>
              </a:defRPr>
            </a:pPr>
            <a:r>
              <a:rPr sz="975" b="1">
                <a:solidFill>
                  <a:srgbClr val="7759E8"/>
                </a:solidFill>
                <a:latin typeface="Bitstream Charter"/>
                <a:ea typeface="Bitstream Charter"/>
                <a:cs typeface="Bitstream Charter"/>
              </a:rPr>
              <a:t>COMMERCE</a:t>
            </a:r>
          </a:p>
        </p:txBody>
      </p:sp>
      <p:sp>
        <p:nvSpPr>
          <p:cNvPr id="15" name="">
            <a:extLst xmlns:a="http://schemas.openxmlformats.org/drawingml/2006/main">
              <a:ext uri="{FF2B5EF4-FFF2-40B4-BE49-F238E27FC236}">
                <a16:creationId xmlns:a16="http://schemas.microsoft.com/office/drawing/2014/main" id="{53C0311A-EF12-4D93-9F0A-C9F38F8C1420}"/>
              </a:ext>
            </a:extLst>
          </p:cNvPr>
          <p:cNvSpPr>
            <a:spLocks xmlns:a="http://schemas.openxmlformats.org/drawingml/2006/main" noGrp="1"/>
          </p:cNvSpPr>
          <p:nvPr/>
        </p:nvSpPr>
        <p:spPr>
          <a:xfrm xmlns:a="http://schemas.openxmlformats.org/drawingml/2006/main">
            <a:off x="8172450" y="2466975"/>
            <a:ext cx="2667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575" b="1">
                <a:solidFill>
                  <a:srgbClr val="FFFFFF"/>
                </a:solidFill>
                <a:latin typeface="Bitstream Charter"/>
                <a:ea typeface="Bitstream Charter"/>
                <a:cs typeface="Bitstream Charter"/>
              </a:defRPr>
            </a:pPr>
            <a:r>
              <a:rPr sz="1575" b="1">
                <a:solidFill>
                  <a:srgbClr val="FFFFFF"/>
                </a:solidFill>
                <a:latin typeface="Bitstream Charter"/>
                <a:ea typeface="Bitstream Charter"/>
                <a:cs typeface="Bitstream Charter"/>
              </a:rPr>
              <a:t>POS, sales, online orders and payments</a:t>
            </a:r>
          </a:p>
        </p:txBody>
      </p:sp>
      <p:sp>
        <p:nvSpPr>
          <p:cNvPr id="16" name="">
            <a:extLst xmlns:a="http://schemas.openxmlformats.org/drawingml/2006/main">
              <a:ext uri="{FF2B5EF4-FFF2-40B4-BE49-F238E27FC236}">
                <a16:creationId xmlns:a16="http://schemas.microsoft.com/office/drawing/2014/main" id="{A4EA539B-8214-4335-BD4E-012F6DB9C976}"/>
              </a:ext>
            </a:extLst>
          </p:cNvPr>
          <p:cNvSpPr>
            <a:spLocks xmlns:a="http://schemas.openxmlformats.org/drawingml/2006/main" noGrp="1"/>
          </p:cNvSpPr>
          <p:nvPr/>
        </p:nvSpPr>
        <p:spPr>
          <a:xfrm xmlns:a="http://schemas.openxmlformats.org/drawingml/2006/main">
            <a:off x="685800" y="3667125"/>
            <a:ext cx="3295650" cy="1409700"/>
          </a:xfrm>
          <a:prstGeom xmlns:a="http://schemas.openxmlformats.org/drawingml/2006/main" prst="roundRect">
            <a:avLst>
              <a:gd name="adj" fmla="val 12162"/>
            </a:avLst>
          </a:prstGeom>
          <a:solidFill xmlns:a="http://schemas.openxmlformats.org/drawingml/2006/main">
            <a:srgbClr val="1D2940"/>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E5166160-2C4A-4164-B02B-42C298125929}"/>
              </a:ext>
            </a:extLst>
          </p:cNvPr>
          <p:cNvSpPr>
            <a:spLocks xmlns:a="http://schemas.openxmlformats.org/drawingml/2006/main" noGrp="1"/>
          </p:cNvSpPr>
          <p:nvPr/>
        </p:nvSpPr>
        <p:spPr>
          <a:xfrm xmlns:a="http://schemas.openxmlformats.org/drawingml/2006/main">
            <a:off x="685800" y="3667125"/>
            <a:ext cx="76200" cy="1409700"/>
          </a:xfrm>
          <a:prstGeom xmlns:a="http://schemas.openxmlformats.org/drawingml/2006/main" prst="rect">
            <a:avLst/>
          </a:prstGeom>
          <a:solidFill xmlns:a="http://schemas.openxmlformats.org/drawingml/2006/main">
            <a:srgbClr val="3B5BDB"/>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359E8D15-7154-409F-873F-FB35704A1A1B}"/>
              </a:ext>
            </a:extLst>
          </p:cNvPr>
          <p:cNvSpPr>
            <a:spLocks xmlns:a="http://schemas.openxmlformats.org/drawingml/2006/main" noGrp="1"/>
          </p:cNvSpPr>
          <p:nvPr/>
        </p:nvSpPr>
        <p:spPr>
          <a:xfrm xmlns:a="http://schemas.openxmlformats.org/drawingml/2006/main">
            <a:off x="971550" y="3838575"/>
            <a:ext cx="266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308"/>
          </a:bodyPr>
          <a:lstStyle xmlns:a="http://schemas.openxmlformats.org/drawingml/2006/main"/>
          <a:p xmlns:a="http://schemas.openxmlformats.org/drawingml/2006/main">
            <a:pPr>
              <a:defRPr sz="975" b="1">
                <a:solidFill>
                  <a:srgbClr val="3B5BDB"/>
                </a:solidFill>
                <a:latin typeface="Bitstream Charter"/>
                <a:ea typeface="Bitstream Charter"/>
                <a:cs typeface="Bitstream Charter"/>
              </a:defRPr>
            </a:pPr>
            <a:r>
              <a:rPr sz="975" b="1">
                <a:solidFill>
                  <a:srgbClr val="3B5BDB"/>
                </a:solidFill>
                <a:latin typeface="Bitstream Charter"/>
                <a:ea typeface="Bitstream Charter"/>
                <a:cs typeface="Bitstream Charter"/>
              </a:rPr>
              <a:t>RELATIONSHIPS</a:t>
            </a:r>
          </a:p>
        </p:txBody>
      </p:sp>
      <p:sp>
        <p:nvSpPr>
          <p:cNvPr id="19" name="">
            <a:extLst xmlns:a="http://schemas.openxmlformats.org/drawingml/2006/main">
              <a:ext uri="{FF2B5EF4-FFF2-40B4-BE49-F238E27FC236}">
                <a16:creationId xmlns:a16="http://schemas.microsoft.com/office/drawing/2014/main" id="{85D80A4B-B83D-4094-A6DE-FF64B3353006}"/>
              </a:ext>
            </a:extLst>
          </p:cNvPr>
          <p:cNvSpPr>
            <a:spLocks xmlns:a="http://schemas.openxmlformats.org/drawingml/2006/main" noGrp="1"/>
          </p:cNvSpPr>
          <p:nvPr/>
        </p:nvSpPr>
        <p:spPr>
          <a:xfrm xmlns:a="http://schemas.openxmlformats.org/drawingml/2006/main">
            <a:off x="971550" y="4181475"/>
            <a:ext cx="2667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575" b="1">
                <a:solidFill>
                  <a:srgbClr val="FFFFFF"/>
                </a:solidFill>
                <a:latin typeface="Bitstream Charter"/>
                <a:ea typeface="Bitstream Charter"/>
                <a:cs typeface="Bitstream Charter"/>
              </a:defRPr>
            </a:pPr>
            <a:r>
              <a:rPr sz="1575" b="1">
                <a:solidFill>
                  <a:srgbClr val="FFFFFF"/>
                </a:solidFill>
                <a:latin typeface="Bitstream Charter"/>
                <a:ea typeface="Bitstream Charter"/>
                <a:cs typeface="Bitstream Charter"/>
              </a:rPr>
              <a:t>Customers and sponsors</a:t>
            </a:r>
          </a:p>
        </p:txBody>
      </p:sp>
      <p:sp>
        <p:nvSpPr>
          <p:cNvPr id="20" name="">
            <a:extLst xmlns:a="http://schemas.openxmlformats.org/drawingml/2006/main">
              <a:ext uri="{FF2B5EF4-FFF2-40B4-BE49-F238E27FC236}">
                <a16:creationId xmlns:a16="http://schemas.microsoft.com/office/drawing/2014/main" id="{E4CDCE7C-F018-4A4D-8C4D-542B73AD0820}"/>
              </a:ext>
            </a:extLst>
          </p:cNvPr>
          <p:cNvSpPr>
            <a:spLocks xmlns:a="http://schemas.openxmlformats.org/drawingml/2006/main" noGrp="1"/>
          </p:cNvSpPr>
          <p:nvPr/>
        </p:nvSpPr>
        <p:spPr>
          <a:xfrm xmlns:a="http://schemas.openxmlformats.org/drawingml/2006/main">
            <a:off x="4286250" y="3667125"/>
            <a:ext cx="3295650" cy="1409700"/>
          </a:xfrm>
          <a:prstGeom xmlns:a="http://schemas.openxmlformats.org/drawingml/2006/main" prst="roundRect">
            <a:avLst>
              <a:gd name="adj" fmla="val 12162"/>
            </a:avLst>
          </a:prstGeom>
          <a:solidFill xmlns:a="http://schemas.openxmlformats.org/drawingml/2006/main">
            <a:srgbClr val="1D2940"/>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CA09DEBA-1349-46A0-A5EF-BD7BDE1A8ADA}"/>
              </a:ext>
            </a:extLst>
          </p:cNvPr>
          <p:cNvSpPr>
            <a:spLocks xmlns:a="http://schemas.openxmlformats.org/drawingml/2006/main" noGrp="1"/>
          </p:cNvSpPr>
          <p:nvPr/>
        </p:nvSpPr>
        <p:spPr>
          <a:xfrm xmlns:a="http://schemas.openxmlformats.org/drawingml/2006/main">
            <a:off x="4286250" y="3667125"/>
            <a:ext cx="76200" cy="1409700"/>
          </a:xfrm>
          <a:prstGeom xmlns:a="http://schemas.openxmlformats.org/drawingml/2006/main" prst="rect">
            <a:avLst/>
          </a:prstGeom>
          <a:solidFill xmlns:a="http://schemas.openxmlformats.org/drawingml/2006/main">
            <a:srgbClr val="F59E0B"/>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952EA61A-02B6-445D-B471-9FDD1C03D375}"/>
              </a:ext>
            </a:extLst>
          </p:cNvPr>
          <p:cNvSpPr>
            <a:spLocks xmlns:a="http://schemas.openxmlformats.org/drawingml/2006/main" noGrp="1"/>
          </p:cNvSpPr>
          <p:nvPr/>
        </p:nvSpPr>
        <p:spPr>
          <a:xfrm xmlns:a="http://schemas.openxmlformats.org/drawingml/2006/main">
            <a:off x="4572000" y="3838575"/>
            <a:ext cx="266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308"/>
          </a:bodyPr>
          <a:lstStyle xmlns:a="http://schemas.openxmlformats.org/drawingml/2006/main"/>
          <a:p xmlns:a="http://schemas.openxmlformats.org/drawingml/2006/main">
            <a:pPr>
              <a:defRPr sz="975" b="1">
                <a:solidFill>
                  <a:srgbClr val="F59E0B"/>
                </a:solidFill>
                <a:latin typeface="Bitstream Charter"/>
                <a:ea typeface="Bitstream Charter"/>
                <a:cs typeface="Bitstream Charter"/>
              </a:defRPr>
            </a:pPr>
            <a:r>
              <a:rPr sz="975" b="1">
                <a:solidFill>
                  <a:srgbClr val="F59E0B"/>
                </a:solidFill>
                <a:latin typeface="Bitstream Charter"/>
                <a:ea typeface="Bitstream Charter"/>
                <a:cs typeface="Bitstream Charter"/>
              </a:rPr>
              <a:t>FULFILMENT</a:t>
            </a:r>
          </a:p>
        </p:txBody>
      </p:sp>
      <p:sp>
        <p:nvSpPr>
          <p:cNvPr id="23" name="">
            <a:extLst xmlns:a="http://schemas.openxmlformats.org/drawingml/2006/main">
              <a:ext uri="{FF2B5EF4-FFF2-40B4-BE49-F238E27FC236}">
                <a16:creationId xmlns:a16="http://schemas.microsoft.com/office/drawing/2014/main" id="{80B34297-0F8D-4E14-BE62-287167628EB4}"/>
              </a:ext>
            </a:extLst>
          </p:cNvPr>
          <p:cNvSpPr>
            <a:spLocks xmlns:a="http://schemas.openxmlformats.org/drawingml/2006/main" noGrp="1"/>
          </p:cNvSpPr>
          <p:nvPr/>
        </p:nvSpPr>
        <p:spPr>
          <a:xfrm xmlns:a="http://schemas.openxmlformats.org/drawingml/2006/main">
            <a:off x="4572000" y="4181475"/>
            <a:ext cx="2667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240"/>
          </a:bodyPr>
          <a:lstStyle xmlns:a="http://schemas.openxmlformats.org/drawingml/2006/main"/>
          <a:p xmlns:a="http://schemas.openxmlformats.org/drawingml/2006/main">
            <a:pPr>
              <a:defRPr sz="1575" b="1">
                <a:solidFill>
                  <a:srgbClr val="FFFFFF"/>
                </a:solidFill>
                <a:latin typeface="Bitstream Charter"/>
                <a:ea typeface="Bitstream Charter"/>
                <a:cs typeface="Bitstream Charter"/>
              </a:defRPr>
            </a:pPr>
            <a:r>
              <a:rPr sz="1575" b="1">
                <a:solidFill>
                  <a:srgbClr val="FFFFFF"/>
                </a:solidFill>
                <a:latin typeface="Bitstream Charter"/>
                <a:ea typeface="Bitstream Charter"/>
                <a:cs typeface="Bitstream Charter"/>
              </a:rPr>
              <a:t>Delivery assignments, confirmations and incidents</a:t>
            </a:r>
          </a:p>
        </p:txBody>
      </p:sp>
      <p:sp>
        <p:nvSpPr>
          <p:cNvPr id="24" name="">
            <a:extLst xmlns:a="http://schemas.openxmlformats.org/drawingml/2006/main">
              <a:ext uri="{FF2B5EF4-FFF2-40B4-BE49-F238E27FC236}">
                <a16:creationId xmlns:a16="http://schemas.microsoft.com/office/drawing/2014/main" id="{1641207F-A3EE-4806-8363-2B9C950F2613}"/>
              </a:ext>
            </a:extLst>
          </p:cNvPr>
          <p:cNvSpPr>
            <a:spLocks xmlns:a="http://schemas.openxmlformats.org/drawingml/2006/main" noGrp="1"/>
          </p:cNvSpPr>
          <p:nvPr/>
        </p:nvSpPr>
        <p:spPr>
          <a:xfrm xmlns:a="http://schemas.openxmlformats.org/drawingml/2006/main">
            <a:off x="7886700" y="3667125"/>
            <a:ext cx="3295650" cy="1409700"/>
          </a:xfrm>
          <a:prstGeom xmlns:a="http://schemas.openxmlformats.org/drawingml/2006/main" prst="roundRect">
            <a:avLst>
              <a:gd name="adj" fmla="val 12162"/>
            </a:avLst>
          </a:prstGeom>
          <a:solidFill xmlns:a="http://schemas.openxmlformats.org/drawingml/2006/main">
            <a:srgbClr val="1D2940"/>
          </a:solidFill>
          <a:ln xmlns:a="http://schemas.openxmlformats.org/drawingml/2006/main" w="0">
            <a:noFill/>
          </a:ln>
        </p:spPr>
      </p:sp>
      <p:sp>
        <p:nvSpPr>
          <p:cNvPr id="25" name="">
            <a:extLst xmlns:a="http://schemas.openxmlformats.org/drawingml/2006/main">
              <a:ext uri="{FF2B5EF4-FFF2-40B4-BE49-F238E27FC236}">
                <a16:creationId xmlns:a16="http://schemas.microsoft.com/office/drawing/2014/main" id="{4A20429E-4535-412D-A1A3-AF258900F01D}"/>
              </a:ext>
            </a:extLst>
          </p:cNvPr>
          <p:cNvSpPr>
            <a:spLocks xmlns:a="http://schemas.openxmlformats.org/drawingml/2006/main" noGrp="1"/>
          </p:cNvSpPr>
          <p:nvPr/>
        </p:nvSpPr>
        <p:spPr>
          <a:xfrm xmlns:a="http://schemas.openxmlformats.org/drawingml/2006/main">
            <a:off x="7886700" y="3667125"/>
            <a:ext cx="76200" cy="1409700"/>
          </a:xfrm>
          <a:prstGeom xmlns:a="http://schemas.openxmlformats.org/drawingml/2006/main" prst="rect">
            <a:avLst/>
          </a:prstGeom>
          <a:solidFill xmlns:a="http://schemas.openxmlformats.org/drawingml/2006/main">
            <a:srgbClr val="EF5B5B"/>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A2154971-AC03-4CEF-AD7B-BB142A2ABBA8}"/>
              </a:ext>
            </a:extLst>
          </p:cNvPr>
          <p:cNvSpPr>
            <a:spLocks xmlns:a="http://schemas.openxmlformats.org/drawingml/2006/main" noGrp="1"/>
          </p:cNvSpPr>
          <p:nvPr/>
        </p:nvSpPr>
        <p:spPr>
          <a:xfrm xmlns:a="http://schemas.openxmlformats.org/drawingml/2006/main">
            <a:off x="8172450" y="3838575"/>
            <a:ext cx="266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308"/>
          </a:bodyPr>
          <a:lstStyle xmlns:a="http://schemas.openxmlformats.org/drawingml/2006/main"/>
          <a:p xmlns:a="http://schemas.openxmlformats.org/drawingml/2006/main">
            <a:pPr>
              <a:defRPr sz="975" b="1">
                <a:solidFill>
                  <a:srgbClr val="EF5B5B"/>
                </a:solidFill>
                <a:latin typeface="Bitstream Charter"/>
                <a:ea typeface="Bitstream Charter"/>
                <a:cs typeface="Bitstream Charter"/>
              </a:defRPr>
            </a:pPr>
            <a:r>
              <a:rPr sz="975" b="1">
                <a:solidFill>
                  <a:srgbClr val="EF5B5B"/>
                </a:solidFill>
                <a:latin typeface="Bitstream Charter"/>
                <a:ea typeface="Bitstream Charter"/>
                <a:cs typeface="Bitstream Charter"/>
              </a:rPr>
              <a:t>CONTROL</a:t>
            </a:r>
          </a:p>
        </p:txBody>
      </p:sp>
      <p:sp>
        <p:nvSpPr>
          <p:cNvPr id="27" name="">
            <a:extLst xmlns:a="http://schemas.openxmlformats.org/drawingml/2006/main">
              <a:ext uri="{FF2B5EF4-FFF2-40B4-BE49-F238E27FC236}">
                <a16:creationId xmlns:a16="http://schemas.microsoft.com/office/drawing/2014/main" id="{69086B7E-8D16-48C2-A3CF-1FBCF35B971C}"/>
              </a:ext>
            </a:extLst>
          </p:cNvPr>
          <p:cNvSpPr>
            <a:spLocks xmlns:a="http://schemas.openxmlformats.org/drawingml/2006/main" noGrp="1"/>
          </p:cNvSpPr>
          <p:nvPr/>
        </p:nvSpPr>
        <p:spPr>
          <a:xfrm xmlns:a="http://schemas.openxmlformats.org/drawingml/2006/main">
            <a:off x="8172450" y="4181475"/>
            <a:ext cx="2667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575" b="1">
                <a:solidFill>
                  <a:srgbClr val="FFFFFF"/>
                </a:solidFill>
                <a:latin typeface="Bitstream Charter"/>
                <a:ea typeface="Bitstream Charter"/>
                <a:cs typeface="Bitstream Charter"/>
              </a:defRPr>
            </a:pPr>
            <a:r>
              <a:rPr sz="1575" b="1">
                <a:solidFill>
                  <a:srgbClr val="FFFFFF"/>
                </a:solidFill>
                <a:latin typeface="Bitstream Charter"/>
                <a:ea typeface="Bitstream Charter"/>
                <a:cs typeface="Bitstream Charter"/>
              </a:rPr>
              <a:t>Users, roles, notifications, settings and reports</a:t>
            </a:r>
          </a:p>
        </p:txBody>
      </p:sp>
      <p:sp>
        <p:nvSpPr>
          <p:cNvPr id="28" name="">
            <a:extLst xmlns:a="http://schemas.openxmlformats.org/drawingml/2006/main">
              <a:ext uri="{FF2B5EF4-FFF2-40B4-BE49-F238E27FC236}">
                <a16:creationId xmlns:a16="http://schemas.microsoft.com/office/drawing/2014/main" id="{ECDDB238-47B3-45F1-A269-1CC8C78F6E3F}"/>
              </a:ext>
            </a:extLst>
          </p:cNvPr>
          <p:cNvSpPr>
            <a:spLocks xmlns:a="http://schemas.openxmlformats.org/drawingml/2006/main" noGrp="1"/>
          </p:cNvSpPr>
          <p:nvPr/>
        </p:nvSpPr>
        <p:spPr>
          <a:xfrm xmlns:a="http://schemas.openxmlformats.org/drawingml/2006/main">
            <a:off x="685800" y="6496050"/>
            <a:ext cx="6191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0000"/>
          </a:bodyPr>
          <a:lstStyle xmlns:a="http://schemas.openxmlformats.org/drawingml/2006/main"/>
          <a:p xmlns:a="http://schemas.openxmlformats.org/drawingml/2006/main">
            <a:pPr>
              <a:defRPr sz="750" b="1">
                <a:solidFill>
                  <a:srgbClr val="9EABC0"/>
                </a:solidFill>
                <a:latin typeface="Bitstream Charter"/>
                <a:ea typeface="Bitstream Charter"/>
                <a:cs typeface="Bitstream Charter"/>
              </a:defRPr>
            </a:pPr>
            <a:r>
              <a:rPr sz="750" b="1">
                <a:solidFill>
                  <a:srgbClr val="9EABC0"/>
                </a:solidFill>
                <a:latin typeface="Bitstream Charter"/>
                <a:ea typeface="Bitstream Charter"/>
                <a:cs typeface="Bitstream Charter"/>
              </a:rPr>
              <a:t>BOOKSHOP SYSTEM  •  BRIGHT MULTISERVICES AND TECH SOLUTIONS</a:t>
            </a:r>
          </a:p>
        </p:txBody>
      </p:sp>
      <p:sp>
        <p:nvSpPr>
          <p:cNvPr id="29" name="">
            <a:extLst xmlns:a="http://schemas.openxmlformats.org/drawingml/2006/main">
              <a:ext uri="{FF2B5EF4-FFF2-40B4-BE49-F238E27FC236}">
                <a16:creationId xmlns:a16="http://schemas.microsoft.com/office/drawing/2014/main" id="{648BCB6F-D61E-4E29-84F6-E9E971A69BF1}"/>
              </a:ext>
            </a:extLst>
          </p:cNvPr>
          <p:cNvSpPr>
            <a:spLocks xmlns:a="http://schemas.openxmlformats.org/drawingml/2006/main" noGrp="1"/>
          </p:cNvSpPr>
          <p:nvPr/>
        </p:nvSpPr>
        <p:spPr>
          <a:xfrm xmlns:a="http://schemas.openxmlformats.org/drawingml/2006/main">
            <a:off x="11049000" y="6496050"/>
            <a:ext cx="4572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0000"/>
          </a:bodyPr>
          <a:lstStyle xmlns:a="http://schemas.openxmlformats.org/drawingml/2006/main"/>
          <a:p xmlns:a="http://schemas.openxmlformats.org/drawingml/2006/main">
            <a:pPr>
              <a:defRPr sz="750" b="1">
                <a:solidFill>
                  <a:srgbClr val="9EABC0"/>
                </a:solidFill>
                <a:latin typeface="Bitstream Charter"/>
                <a:ea typeface="Bitstream Charter"/>
                <a:cs typeface="Bitstream Charter"/>
              </a:defRPr>
            </a:pPr>
            <a:r>
              <a:rPr sz="750" b="1">
                <a:solidFill>
                  <a:srgbClr val="9EABC0"/>
                </a:solidFill>
                <a:latin typeface="Bitstream Charter"/>
                <a:ea typeface="Bitstream Charter"/>
                <a:cs typeface="Bitstream Charter"/>
              </a:rPr>
              <a:t>05</a:t>
            </a:r>
          </a:p>
        </p:txBody>
      </p:sp>
    </p:spTree>
    <p:extLst>
      <p:ext uri="{BB962C8B-B14F-4D97-AF65-F5344CB8AC3E}">
        <p14:creationId xmlns:p14="http://schemas.microsoft.com/office/powerpoint/2010/main" val="840016074"/>
      </p:ext>
    </p:extLst>
  </p:cSld>
</p:sld>
</file>

<file path=ppt/slides/slide6.xml><?xml version="1.0" encoding="utf-8"?>
<p:sld xmlns:p="http://schemas.openxmlformats.org/presentationml/2006/main">
  <p:cSld>
    <p:bg>
      <p:bgPr>
        <a:solidFill xmlns:a="http://schemas.openxmlformats.org/drawingml/2006/main">
          <a:srgbClr val="F6F8FC"/>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3D893AAC-C2F4-4BAA-83F7-FE7576085DE2}"/>
              </a:ext>
            </a:extLst>
          </p:cNvPr>
          <p:cNvSpPr>
            <a:spLocks xmlns:a="http://schemas.openxmlformats.org/drawingml/2006/main" noGrp="1"/>
          </p:cNvSpPr>
          <p:nvPr/>
        </p:nvSpPr>
        <p:spPr>
          <a:xfrm xmlns:a="http://schemas.openxmlformats.org/drawingml/2006/main">
            <a:off x="685800" y="361950"/>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308"/>
          </a:bodyPr>
          <a:lstStyle xmlns:a="http://schemas.openxmlformats.org/drawingml/2006/main"/>
          <a:p xmlns:a="http://schemas.openxmlformats.org/drawingml/2006/main">
            <a:pPr>
              <a:defRPr sz="975" b="1">
                <a:solidFill>
                  <a:srgbClr val="7759E8"/>
                </a:solidFill>
                <a:latin typeface="Bitstream Charter"/>
                <a:ea typeface="Bitstream Charter"/>
                <a:cs typeface="Bitstream Charter"/>
              </a:defRPr>
            </a:pPr>
            <a:r>
              <a:rPr sz="975" b="1">
                <a:solidFill>
                  <a:srgbClr val="7759E8"/>
                </a:solidFill>
                <a:latin typeface="Bitstream Charter"/>
                <a:ea typeface="Bitstream Charter"/>
                <a:cs typeface="Bitstream Charter"/>
              </a:rPr>
              <a:t>05 / SIGNIFICANCE</a:t>
            </a:r>
          </a:p>
        </p:txBody>
      </p:sp>
      <p:sp>
        <p:nvSpPr>
          <p:cNvPr id="2" name="">
            <a:extLst xmlns:a="http://schemas.openxmlformats.org/drawingml/2006/main">
              <a:ext uri="{FF2B5EF4-FFF2-40B4-BE49-F238E27FC236}">
                <a16:creationId xmlns:a16="http://schemas.microsoft.com/office/drawing/2014/main" id="{C5F40D8B-116F-4958-A3AD-2CC14E0D45BB}"/>
              </a:ext>
            </a:extLst>
          </p:cNvPr>
          <p:cNvSpPr>
            <a:spLocks xmlns:a="http://schemas.openxmlformats.org/drawingml/2006/main" noGrp="1"/>
          </p:cNvSpPr>
          <p:nvPr/>
        </p:nvSpPr>
        <p:spPr>
          <a:xfrm xmlns:a="http://schemas.openxmlformats.org/drawingml/2006/main">
            <a:off x="685800" y="647700"/>
            <a:ext cx="108204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625" b="1">
                <a:solidFill>
                  <a:srgbClr val="14233A"/>
                </a:solidFill>
                <a:latin typeface="Bitstream Charter"/>
                <a:ea typeface="Bitstream Charter"/>
                <a:cs typeface="Bitstream Charter"/>
              </a:defRPr>
            </a:pPr>
            <a:r>
              <a:rPr sz="2625" b="1">
                <a:solidFill>
                  <a:srgbClr val="14233A"/>
                </a:solidFill>
                <a:latin typeface="Bitstream Charter"/>
                <a:ea typeface="Bitstream Charter"/>
                <a:cs typeface="Bitstream Charter"/>
              </a:rPr>
              <a:t>The system creates value for operations, customers and research</a:t>
            </a:r>
          </a:p>
        </p:txBody>
      </p:sp>
      <p:sp>
        <p:nvSpPr>
          <p:cNvPr id="3" name="">
            <a:extLst xmlns:a="http://schemas.openxmlformats.org/drawingml/2006/main">
              <a:ext uri="{FF2B5EF4-FFF2-40B4-BE49-F238E27FC236}">
                <a16:creationId xmlns:a16="http://schemas.microsoft.com/office/drawing/2014/main" id="{88641967-EE9B-42B2-B408-FBAE88B5FB4B}"/>
              </a:ext>
            </a:extLst>
          </p:cNvPr>
          <p:cNvSpPr>
            <a:spLocks xmlns:a="http://schemas.openxmlformats.org/drawingml/2006/main" noGrp="1"/>
          </p:cNvSpPr>
          <p:nvPr/>
        </p:nvSpPr>
        <p:spPr>
          <a:xfrm xmlns:a="http://schemas.openxmlformats.org/drawingml/2006/main">
            <a:off x="685800" y="1238250"/>
            <a:ext cx="10287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b="0">
                <a:solidFill>
                  <a:srgbClr val="64748B"/>
                </a:solidFill>
                <a:latin typeface="Bitstream Charter"/>
                <a:ea typeface="Bitstream Charter"/>
                <a:cs typeface="Bitstream Charter"/>
              </a:defRPr>
            </a:pPr>
            <a:r>
              <a:rPr sz="1275" b="0">
                <a:solidFill>
                  <a:srgbClr val="64748B"/>
                </a:solidFill>
                <a:latin typeface="Bitstream Charter"/>
                <a:ea typeface="Bitstream Charter"/>
                <a:cs typeface="Bitstream Charter"/>
              </a:rPr>
              <a:t>Each stakeholder benefits from the same centralized and current information.</a:t>
            </a:r>
          </a:p>
        </p:txBody>
      </p:sp>
      <p:sp>
        <p:nvSpPr>
          <p:cNvPr id="4" name="">
            <a:extLst xmlns:a="http://schemas.openxmlformats.org/drawingml/2006/main">
              <a:ext uri="{FF2B5EF4-FFF2-40B4-BE49-F238E27FC236}">
                <a16:creationId xmlns:a16="http://schemas.microsoft.com/office/drawing/2014/main" id="{61745BA4-AABD-4F1A-8AFE-CCE74E9AF887}"/>
              </a:ext>
            </a:extLst>
          </p:cNvPr>
          <p:cNvSpPr>
            <a:spLocks xmlns:a="http://schemas.openxmlformats.org/drawingml/2006/main" noGrp="1"/>
          </p:cNvSpPr>
          <p:nvPr/>
        </p:nvSpPr>
        <p:spPr>
          <a:xfrm xmlns:a="http://schemas.openxmlformats.org/drawingml/2006/main">
            <a:off x="685800" y="1857375"/>
            <a:ext cx="438150" cy="438150"/>
          </a:xfrm>
          <a:prstGeom xmlns:a="http://schemas.openxmlformats.org/drawingml/2006/main" prst="roundRect">
            <a:avLst>
              <a:gd name="adj" fmla="val 26087"/>
            </a:avLst>
          </a:prstGeom>
          <a:solidFill xmlns:a="http://schemas.openxmlformats.org/drawingml/2006/main">
            <a:srgbClr val="7759E8"/>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120BA69C-368E-460E-A8C0-4DC2249E0152}"/>
              </a:ext>
            </a:extLst>
          </p:cNvPr>
          <p:cNvSpPr>
            <a:spLocks xmlns:a="http://schemas.openxmlformats.org/drawingml/2006/main" noGrp="1"/>
          </p:cNvSpPr>
          <p:nvPr/>
        </p:nvSpPr>
        <p:spPr>
          <a:xfrm xmlns:a="http://schemas.openxmlformats.org/drawingml/2006/main">
            <a:off x="685800" y="1857375"/>
            <a:ext cx="4381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b="1">
                <a:solidFill>
                  <a:srgbClr val="FFFFFF"/>
                </a:solidFill>
                <a:latin typeface="Bitstream Charter"/>
                <a:ea typeface="Bitstream Charter"/>
                <a:cs typeface="Bitstream Charter"/>
              </a:defRPr>
            </a:pPr>
            <a:r>
              <a:rPr sz="1275" b="1">
                <a:solidFill>
                  <a:srgbClr val="FFFFFF"/>
                </a:solidFill>
                <a:latin typeface="Bitstream Charter"/>
                <a:ea typeface="Bitstream Charter"/>
                <a:cs typeface="Bitstream Charter"/>
              </a:rPr>
              <a:t>1</a:t>
            </a:r>
          </a:p>
        </p:txBody>
      </p:sp>
      <p:sp>
        <p:nvSpPr>
          <p:cNvPr id="6" name="">
            <a:extLst xmlns:a="http://schemas.openxmlformats.org/drawingml/2006/main">
              <a:ext uri="{FF2B5EF4-FFF2-40B4-BE49-F238E27FC236}">
                <a16:creationId xmlns:a16="http://schemas.microsoft.com/office/drawing/2014/main" id="{BC15D0F7-E293-40B7-BE35-2F504021C37F}"/>
              </a:ext>
            </a:extLst>
          </p:cNvPr>
          <p:cNvSpPr>
            <a:spLocks xmlns:a="http://schemas.openxmlformats.org/drawingml/2006/main" noGrp="1"/>
          </p:cNvSpPr>
          <p:nvPr/>
        </p:nvSpPr>
        <p:spPr>
          <a:xfrm xmlns:a="http://schemas.openxmlformats.org/drawingml/2006/main">
            <a:off x="1352550" y="1838325"/>
            <a:ext cx="2000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0702"/>
          </a:bodyPr>
          <a:lstStyle xmlns:a="http://schemas.openxmlformats.org/drawingml/2006/main"/>
          <a:p xmlns:a="http://schemas.openxmlformats.org/drawingml/2006/main">
            <a:pPr>
              <a:defRPr sz="1425" b="1">
                <a:solidFill>
                  <a:srgbClr val="14233A"/>
                </a:solidFill>
                <a:latin typeface="Bitstream Charter"/>
                <a:ea typeface="Bitstream Charter"/>
                <a:cs typeface="Bitstream Charter"/>
              </a:defRPr>
            </a:pPr>
            <a:r>
              <a:rPr sz="1425" b="1">
                <a:solidFill>
                  <a:srgbClr val="14233A"/>
                </a:solidFill>
                <a:latin typeface="Bitstream Charter"/>
                <a:ea typeface="Bitstream Charter"/>
                <a:cs typeface="Bitstream Charter"/>
              </a:rPr>
              <a:t>Company</a:t>
            </a:r>
          </a:p>
        </p:txBody>
      </p:sp>
      <p:sp>
        <p:nvSpPr>
          <p:cNvPr id="7" name="">
            <a:extLst xmlns:a="http://schemas.openxmlformats.org/drawingml/2006/main">
              <a:ext uri="{FF2B5EF4-FFF2-40B4-BE49-F238E27FC236}">
                <a16:creationId xmlns:a16="http://schemas.microsoft.com/office/drawing/2014/main" id="{99B3DE1E-2790-42A3-BEC2-67E4FA1BEB74}"/>
              </a:ext>
            </a:extLst>
          </p:cNvPr>
          <p:cNvSpPr>
            <a:spLocks xmlns:a="http://schemas.openxmlformats.org/drawingml/2006/main" noGrp="1"/>
          </p:cNvSpPr>
          <p:nvPr/>
        </p:nvSpPr>
        <p:spPr>
          <a:xfrm xmlns:a="http://schemas.openxmlformats.org/drawingml/2006/main">
            <a:off x="3429000" y="1838325"/>
            <a:ext cx="7620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b="0">
                <a:solidFill>
                  <a:srgbClr val="64748B"/>
                </a:solidFill>
                <a:latin typeface="Bitstream Charter"/>
                <a:ea typeface="Bitstream Charter"/>
                <a:cs typeface="Bitstream Charter"/>
              </a:defRPr>
            </a:pPr>
            <a:r>
              <a:rPr sz="1275" b="0">
                <a:solidFill>
                  <a:srgbClr val="64748B"/>
                </a:solidFill>
                <a:latin typeface="Bitstream Charter"/>
                <a:ea typeface="Bitstream Charter"/>
                <a:cs typeface="Bitstream Charter"/>
              </a:rPr>
              <a:t>Less manual work, improved inventory accuracy and reliable operational information.</a:t>
            </a:r>
          </a:p>
        </p:txBody>
      </p:sp>
      <p:sp>
        <p:nvSpPr>
          <p:cNvPr id="8" name="">
            <a:extLst xmlns:a="http://schemas.openxmlformats.org/drawingml/2006/main">
              <a:ext uri="{FF2B5EF4-FFF2-40B4-BE49-F238E27FC236}">
                <a16:creationId xmlns:a16="http://schemas.microsoft.com/office/drawing/2014/main" id="{D878D51C-E23E-4669-8E1A-D48958F6EC2E}"/>
              </a:ext>
            </a:extLst>
          </p:cNvPr>
          <p:cNvSpPr>
            <a:spLocks xmlns:a="http://schemas.openxmlformats.org/drawingml/2006/main" noGrp="1"/>
          </p:cNvSpPr>
          <p:nvPr/>
        </p:nvSpPr>
        <p:spPr>
          <a:xfrm xmlns:a="http://schemas.openxmlformats.org/drawingml/2006/main">
            <a:off x="685800" y="2647950"/>
            <a:ext cx="438150" cy="438150"/>
          </a:xfrm>
          <a:prstGeom xmlns:a="http://schemas.openxmlformats.org/drawingml/2006/main" prst="roundRect">
            <a:avLst>
              <a:gd name="adj" fmla="val 26087"/>
            </a:avLst>
          </a:prstGeom>
          <a:solidFill xmlns:a="http://schemas.openxmlformats.org/drawingml/2006/main">
            <a:srgbClr val="16A34A"/>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0E7C1316-8B6E-475E-8CE9-096EB68E1CCF}"/>
              </a:ext>
            </a:extLst>
          </p:cNvPr>
          <p:cNvSpPr>
            <a:spLocks xmlns:a="http://schemas.openxmlformats.org/drawingml/2006/main" noGrp="1"/>
          </p:cNvSpPr>
          <p:nvPr/>
        </p:nvSpPr>
        <p:spPr>
          <a:xfrm xmlns:a="http://schemas.openxmlformats.org/drawingml/2006/main">
            <a:off x="685800" y="2647950"/>
            <a:ext cx="4381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b="1">
                <a:solidFill>
                  <a:srgbClr val="FFFFFF"/>
                </a:solidFill>
                <a:latin typeface="Bitstream Charter"/>
                <a:ea typeface="Bitstream Charter"/>
                <a:cs typeface="Bitstream Charter"/>
              </a:defRPr>
            </a:pPr>
            <a:r>
              <a:rPr sz="1275" b="1">
                <a:solidFill>
                  <a:srgbClr val="FFFFFF"/>
                </a:solidFill>
                <a:latin typeface="Bitstream Charter"/>
                <a:ea typeface="Bitstream Charter"/>
                <a:cs typeface="Bitstream Charter"/>
              </a:rPr>
              <a:t>2</a:t>
            </a:r>
          </a:p>
        </p:txBody>
      </p:sp>
      <p:sp>
        <p:nvSpPr>
          <p:cNvPr id="10" name="">
            <a:extLst xmlns:a="http://schemas.openxmlformats.org/drawingml/2006/main">
              <a:ext uri="{FF2B5EF4-FFF2-40B4-BE49-F238E27FC236}">
                <a16:creationId xmlns:a16="http://schemas.microsoft.com/office/drawing/2014/main" id="{E8F04568-7E1C-4910-A9A9-0217874657F6}"/>
              </a:ext>
            </a:extLst>
          </p:cNvPr>
          <p:cNvSpPr>
            <a:spLocks xmlns:a="http://schemas.openxmlformats.org/drawingml/2006/main" noGrp="1"/>
          </p:cNvSpPr>
          <p:nvPr/>
        </p:nvSpPr>
        <p:spPr>
          <a:xfrm xmlns:a="http://schemas.openxmlformats.org/drawingml/2006/main">
            <a:off x="1352550" y="2628900"/>
            <a:ext cx="2000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0702"/>
          </a:bodyPr>
          <a:lstStyle xmlns:a="http://schemas.openxmlformats.org/drawingml/2006/main"/>
          <a:p xmlns:a="http://schemas.openxmlformats.org/drawingml/2006/main">
            <a:pPr>
              <a:defRPr sz="1425" b="1">
                <a:solidFill>
                  <a:srgbClr val="14233A"/>
                </a:solidFill>
                <a:latin typeface="Bitstream Charter"/>
                <a:ea typeface="Bitstream Charter"/>
                <a:cs typeface="Bitstream Charter"/>
              </a:defRPr>
            </a:pPr>
            <a:r>
              <a:rPr sz="1425" b="1">
                <a:solidFill>
                  <a:srgbClr val="14233A"/>
                </a:solidFill>
                <a:latin typeface="Bitstream Charter"/>
                <a:ea typeface="Bitstream Charter"/>
                <a:cs typeface="Bitstream Charter"/>
              </a:rPr>
              <a:t>Employees</a:t>
            </a:r>
          </a:p>
        </p:txBody>
      </p:sp>
      <p:sp>
        <p:nvSpPr>
          <p:cNvPr id="11" name="">
            <a:extLst xmlns:a="http://schemas.openxmlformats.org/drawingml/2006/main">
              <a:ext uri="{FF2B5EF4-FFF2-40B4-BE49-F238E27FC236}">
                <a16:creationId xmlns:a16="http://schemas.microsoft.com/office/drawing/2014/main" id="{10A7DAA3-7AAA-4681-AA62-7702C10228A9}"/>
              </a:ext>
            </a:extLst>
          </p:cNvPr>
          <p:cNvSpPr>
            <a:spLocks xmlns:a="http://schemas.openxmlformats.org/drawingml/2006/main" noGrp="1"/>
          </p:cNvSpPr>
          <p:nvPr/>
        </p:nvSpPr>
        <p:spPr>
          <a:xfrm xmlns:a="http://schemas.openxmlformats.org/drawingml/2006/main">
            <a:off x="3429000" y="2628900"/>
            <a:ext cx="7620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b="0">
                <a:solidFill>
                  <a:srgbClr val="64748B"/>
                </a:solidFill>
                <a:latin typeface="Bitstream Charter"/>
                <a:ea typeface="Bitstream Charter"/>
                <a:cs typeface="Bitstream Charter"/>
              </a:defRPr>
            </a:pPr>
            <a:r>
              <a:rPr sz="1275" b="0">
                <a:solidFill>
                  <a:srgbClr val="64748B"/>
                </a:solidFill>
                <a:latin typeface="Bitstream Charter"/>
                <a:ea typeface="Bitstream Charter"/>
                <a:cs typeface="Bitstream Charter"/>
              </a:rPr>
              <a:t>Simpler daily tasks with fewer repeated entries and fewer avoidable errors.</a:t>
            </a:r>
          </a:p>
        </p:txBody>
      </p:sp>
      <p:sp>
        <p:nvSpPr>
          <p:cNvPr id="12" name="">
            <a:extLst xmlns:a="http://schemas.openxmlformats.org/drawingml/2006/main">
              <a:ext uri="{FF2B5EF4-FFF2-40B4-BE49-F238E27FC236}">
                <a16:creationId xmlns:a16="http://schemas.microsoft.com/office/drawing/2014/main" id="{AD86F396-6531-4843-9CF9-7E2314D0B200}"/>
              </a:ext>
            </a:extLst>
          </p:cNvPr>
          <p:cNvSpPr>
            <a:spLocks xmlns:a="http://schemas.openxmlformats.org/drawingml/2006/main" noGrp="1"/>
          </p:cNvSpPr>
          <p:nvPr/>
        </p:nvSpPr>
        <p:spPr>
          <a:xfrm xmlns:a="http://schemas.openxmlformats.org/drawingml/2006/main">
            <a:off x="685800" y="3438525"/>
            <a:ext cx="438150" cy="438150"/>
          </a:xfrm>
          <a:prstGeom xmlns:a="http://schemas.openxmlformats.org/drawingml/2006/main" prst="roundRect">
            <a:avLst>
              <a:gd name="adj" fmla="val 26087"/>
            </a:avLst>
          </a:prstGeom>
          <a:solidFill xmlns:a="http://schemas.openxmlformats.org/drawingml/2006/main">
            <a:srgbClr val="3B5BDB"/>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CDFFD7C6-B428-4A82-BC7E-8C75A11F4F13}"/>
              </a:ext>
            </a:extLst>
          </p:cNvPr>
          <p:cNvSpPr>
            <a:spLocks xmlns:a="http://schemas.openxmlformats.org/drawingml/2006/main" noGrp="1"/>
          </p:cNvSpPr>
          <p:nvPr/>
        </p:nvSpPr>
        <p:spPr>
          <a:xfrm xmlns:a="http://schemas.openxmlformats.org/drawingml/2006/main">
            <a:off x="685800" y="3438525"/>
            <a:ext cx="4381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b="1">
                <a:solidFill>
                  <a:srgbClr val="FFFFFF"/>
                </a:solidFill>
                <a:latin typeface="Bitstream Charter"/>
                <a:ea typeface="Bitstream Charter"/>
                <a:cs typeface="Bitstream Charter"/>
              </a:defRPr>
            </a:pPr>
            <a:r>
              <a:rPr sz="1275" b="1">
                <a:solidFill>
                  <a:srgbClr val="FFFFFF"/>
                </a:solidFill>
                <a:latin typeface="Bitstream Charter"/>
                <a:ea typeface="Bitstream Charter"/>
                <a:cs typeface="Bitstream Charter"/>
              </a:rPr>
              <a:t>3</a:t>
            </a:r>
          </a:p>
        </p:txBody>
      </p:sp>
      <p:sp>
        <p:nvSpPr>
          <p:cNvPr id="14" name="">
            <a:extLst xmlns:a="http://schemas.openxmlformats.org/drawingml/2006/main">
              <a:ext uri="{FF2B5EF4-FFF2-40B4-BE49-F238E27FC236}">
                <a16:creationId xmlns:a16="http://schemas.microsoft.com/office/drawing/2014/main" id="{1EA71211-AA18-4763-98EB-E737387F01C0}"/>
              </a:ext>
            </a:extLst>
          </p:cNvPr>
          <p:cNvSpPr>
            <a:spLocks xmlns:a="http://schemas.openxmlformats.org/drawingml/2006/main" noGrp="1"/>
          </p:cNvSpPr>
          <p:nvPr/>
        </p:nvSpPr>
        <p:spPr>
          <a:xfrm xmlns:a="http://schemas.openxmlformats.org/drawingml/2006/main">
            <a:off x="1352550" y="3419475"/>
            <a:ext cx="2000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0702"/>
          </a:bodyPr>
          <a:lstStyle xmlns:a="http://schemas.openxmlformats.org/drawingml/2006/main"/>
          <a:p xmlns:a="http://schemas.openxmlformats.org/drawingml/2006/main">
            <a:pPr>
              <a:defRPr sz="1425" b="1">
                <a:solidFill>
                  <a:srgbClr val="14233A"/>
                </a:solidFill>
                <a:latin typeface="Bitstream Charter"/>
                <a:ea typeface="Bitstream Charter"/>
                <a:cs typeface="Bitstream Charter"/>
              </a:defRPr>
            </a:pPr>
            <a:r>
              <a:rPr sz="1425" b="1">
                <a:solidFill>
                  <a:srgbClr val="14233A"/>
                </a:solidFill>
                <a:latin typeface="Bitstream Charter"/>
                <a:ea typeface="Bitstream Charter"/>
                <a:cs typeface="Bitstream Charter"/>
              </a:rPr>
              <a:t>Customers</a:t>
            </a:r>
          </a:p>
        </p:txBody>
      </p:sp>
      <p:sp>
        <p:nvSpPr>
          <p:cNvPr id="15" name="">
            <a:extLst xmlns:a="http://schemas.openxmlformats.org/drawingml/2006/main">
              <a:ext uri="{FF2B5EF4-FFF2-40B4-BE49-F238E27FC236}">
                <a16:creationId xmlns:a16="http://schemas.microsoft.com/office/drawing/2014/main" id="{B596570C-47C3-4792-98C5-4BA226B6B097}"/>
              </a:ext>
            </a:extLst>
          </p:cNvPr>
          <p:cNvSpPr>
            <a:spLocks xmlns:a="http://schemas.openxmlformats.org/drawingml/2006/main" noGrp="1"/>
          </p:cNvSpPr>
          <p:nvPr/>
        </p:nvSpPr>
        <p:spPr>
          <a:xfrm xmlns:a="http://schemas.openxmlformats.org/drawingml/2006/main">
            <a:off x="3429000" y="3419475"/>
            <a:ext cx="7620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b="0">
                <a:solidFill>
                  <a:srgbClr val="64748B"/>
                </a:solidFill>
                <a:latin typeface="Bitstream Charter"/>
                <a:ea typeface="Bitstream Charter"/>
                <a:cs typeface="Bitstream Charter"/>
              </a:defRPr>
            </a:pPr>
            <a:r>
              <a:rPr sz="1275" b="0">
                <a:solidFill>
                  <a:srgbClr val="64748B"/>
                </a:solidFill>
                <a:latin typeface="Bitstream Charter"/>
                <a:ea typeface="Bitstream Charter"/>
                <a:cs typeface="Bitstream Charter"/>
              </a:rPr>
              <a:t>Clear product availability, online ordering and more organized fulfilment.</a:t>
            </a:r>
          </a:p>
        </p:txBody>
      </p:sp>
      <p:sp>
        <p:nvSpPr>
          <p:cNvPr id="16" name="">
            <a:extLst xmlns:a="http://schemas.openxmlformats.org/drawingml/2006/main">
              <a:ext uri="{FF2B5EF4-FFF2-40B4-BE49-F238E27FC236}">
                <a16:creationId xmlns:a16="http://schemas.microsoft.com/office/drawing/2014/main" id="{3A815560-CF48-42BF-8EE0-2952E5852031}"/>
              </a:ext>
            </a:extLst>
          </p:cNvPr>
          <p:cNvSpPr>
            <a:spLocks xmlns:a="http://schemas.openxmlformats.org/drawingml/2006/main" noGrp="1"/>
          </p:cNvSpPr>
          <p:nvPr/>
        </p:nvSpPr>
        <p:spPr>
          <a:xfrm xmlns:a="http://schemas.openxmlformats.org/drawingml/2006/main">
            <a:off x="685800" y="4229100"/>
            <a:ext cx="438150" cy="438150"/>
          </a:xfrm>
          <a:prstGeom xmlns:a="http://schemas.openxmlformats.org/drawingml/2006/main" prst="roundRect">
            <a:avLst>
              <a:gd name="adj" fmla="val 26087"/>
            </a:avLst>
          </a:prstGeom>
          <a:solidFill xmlns:a="http://schemas.openxmlformats.org/drawingml/2006/main">
            <a:srgbClr val="F59E0B"/>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305176EF-7B8E-49D5-867E-5352E7CBB30C}"/>
              </a:ext>
            </a:extLst>
          </p:cNvPr>
          <p:cNvSpPr>
            <a:spLocks xmlns:a="http://schemas.openxmlformats.org/drawingml/2006/main" noGrp="1"/>
          </p:cNvSpPr>
          <p:nvPr/>
        </p:nvSpPr>
        <p:spPr>
          <a:xfrm xmlns:a="http://schemas.openxmlformats.org/drawingml/2006/main">
            <a:off x="685800" y="4229100"/>
            <a:ext cx="4381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b="1">
                <a:solidFill>
                  <a:srgbClr val="FFFFFF"/>
                </a:solidFill>
                <a:latin typeface="Bitstream Charter"/>
                <a:ea typeface="Bitstream Charter"/>
                <a:cs typeface="Bitstream Charter"/>
              </a:defRPr>
            </a:pPr>
            <a:r>
              <a:rPr sz="1275" b="1">
                <a:solidFill>
                  <a:srgbClr val="FFFFFF"/>
                </a:solidFill>
                <a:latin typeface="Bitstream Charter"/>
                <a:ea typeface="Bitstream Charter"/>
                <a:cs typeface="Bitstream Charter"/>
              </a:rPr>
              <a:t>4</a:t>
            </a:r>
          </a:p>
        </p:txBody>
      </p:sp>
      <p:sp>
        <p:nvSpPr>
          <p:cNvPr id="18" name="">
            <a:extLst xmlns:a="http://schemas.openxmlformats.org/drawingml/2006/main">
              <a:ext uri="{FF2B5EF4-FFF2-40B4-BE49-F238E27FC236}">
                <a16:creationId xmlns:a16="http://schemas.microsoft.com/office/drawing/2014/main" id="{2081966D-584B-4FC1-892E-90CFD183425A}"/>
              </a:ext>
            </a:extLst>
          </p:cNvPr>
          <p:cNvSpPr>
            <a:spLocks xmlns:a="http://schemas.openxmlformats.org/drawingml/2006/main" noGrp="1"/>
          </p:cNvSpPr>
          <p:nvPr/>
        </p:nvSpPr>
        <p:spPr>
          <a:xfrm xmlns:a="http://schemas.openxmlformats.org/drawingml/2006/main">
            <a:off x="1352550" y="4210050"/>
            <a:ext cx="2000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0702"/>
          </a:bodyPr>
          <a:lstStyle xmlns:a="http://schemas.openxmlformats.org/drawingml/2006/main"/>
          <a:p xmlns:a="http://schemas.openxmlformats.org/drawingml/2006/main">
            <a:pPr>
              <a:defRPr sz="1425" b="1">
                <a:solidFill>
                  <a:srgbClr val="14233A"/>
                </a:solidFill>
                <a:latin typeface="Bitstream Charter"/>
                <a:ea typeface="Bitstream Charter"/>
                <a:cs typeface="Bitstream Charter"/>
              </a:defRPr>
            </a:pPr>
            <a:r>
              <a:rPr sz="1425" b="1">
                <a:solidFill>
                  <a:srgbClr val="14233A"/>
                </a:solidFill>
                <a:latin typeface="Bitstream Charter"/>
                <a:ea typeface="Bitstream Charter"/>
                <a:cs typeface="Bitstream Charter"/>
              </a:rPr>
              <a:t>Management</a:t>
            </a:r>
          </a:p>
        </p:txBody>
      </p:sp>
      <p:sp>
        <p:nvSpPr>
          <p:cNvPr id="19" name="">
            <a:extLst xmlns:a="http://schemas.openxmlformats.org/drawingml/2006/main">
              <a:ext uri="{FF2B5EF4-FFF2-40B4-BE49-F238E27FC236}">
                <a16:creationId xmlns:a16="http://schemas.microsoft.com/office/drawing/2014/main" id="{6BC21705-00C7-4881-9A92-19C39C322952}"/>
              </a:ext>
            </a:extLst>
          </p:cNvPr>
          <p:cNvSpPr>
            <a:spLocks xmlns:a="http://schemas.openxmlformats.org/drawingml/2006/main" noGrp="1"/>
          </p:cNvSpPr>
          <p:nvPr/>
        </p:nvSpPr>
        <p:spPr>
          <a:xfrm xmlns:a="http://schemas.openxmlformats.org/drawingml/2006/main">
            <a:off x="3429000" y="4210050"/>
            <a:ext cx="7620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b="0">
                <a:solidFill>
                  <a:srgbClr val="64748B"/>
                </a:solidFill>
                <a:latin typeface="Bitstream Charter"/>
                <a:ea typeface="Bitstream Charter"/>
                <a:cs typeface="Bitstream Charter"/>
              </a:defRPr>
            </a:pPr>
            <a:r>
              <a:rPr sz="1275" b="0">
                <a:solidFill>
                  <a:srgbClr val="64748B"/>
                </a:solidFill>
                <a:latin typeface="Bitstream Charter"/>
                <a:ea typeface="Bitstream Charter"/>
                <a:cs typeface="Bitstream Charter"/>
              </a:rPr>
              <a:t>Current dashboards and reports for monitoring and decisions.</a:t>
            </a:r>
          </a:p>
        </p:txBody>
      </p:sp>
      <p:sp>
        <p:nvSpPr>
          <p:cNvPr id="20" name="">
            <a:extLst xmlns:a="http://schemas.openxmlformats.org/drawingml/2006/main">
              <a:ext uri="{FF2B5EF4-FFF2-40B4-BE49-F238E27FC236}">
                <a16:creationId xmlns:a16="http://schemas.microsoft.com/office/drawing/2014/main" id="{46C5E11E-B150-4D71-9EF0-54CA96F0518B}"/>
              </a:ext>
            </a:extLst>
          </p:cNvPr>
          <p:cNvSpPr>
            <a:spLocks xmlns:a="http://schemas.openxmlformats.org/drawingml/2006/main" noGrp="1"/>
          </p:cNvSpPr>
          <p:nvPr/>
        </p:nvSpPr>
        <p:spPr>
          <a:xfrm xmlns:a="http://schemas.openxmlformats.org/drawingml/2006/main">
            <a:off x="685800" y="5019675"/>
            <a:ext cx="438150" cy="438150"/>
          </a:xfrm>
          <a:prstGeom xmlns:a="http://schemas.openxmlformats.org/drawingml/2006/main" prst="roundRect">
            <a:avLst>
              <a:gd name="adj" fmla="val 26087"/>
            </a:avLst>
          </a:prstGeom>
          <a:solidFill xmlns:a="http://schemas.openxmlformats.org/drawingml/2006/main">
            <a:srgbClr val="16A6D9"/>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15D6D8A6-B62C-4F24-947C-66BD50B8C072}"/>
              </a:ext>
            </a:extLst>
          </p:cNvPr>
          <p:cNvSpPr>
            <a:spLocks xmlns:a="http://schemas.openxmlformats.org/drawingml/2006/main" noGrp="1"/>
          </p:cNvSpPr>
          <p:nvPr/>
        </p:nvSpPr>
        <p:spPr>
          <a:xfrm xmlns:a="http://schemas.openxmlformats.org/drawingml/2006/main">
            <a:off x="685800" y="5019675"/>
            <a:ext cx="4381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b="1">
                <a:solidFill>
                  <a:srgbClr val="FFFFFF"/>
                </a:solidFill>
                <a:latin typeface="Bitstream Charter"/>
                <a:ea typeface="Bitstream Charter"/>
                <a:cs typeface="Bitstream Charter"/>
              </a:defRPr>
            </a:pPr>
            <a:r>
              <a:rPr sz="1275" b="1">
                <a:solidFill>
                  <a:srgbClr val="FFFFFF"/>
                </a:solidFill>
                <a:latin typeface="Bitstream Charter"/>
                <a:ea typeface="Bitstream Charter"/>
                <a:cs typeface="Bitstream Charter"/>
              </a:rPr>
              <a:t>5</a:t>
            </a:r>
          </a:p>
        </p:txBody>
      </p:sp>
      <p:sp>
        <p:nvSpPr>
          <p:cNvPr id="22" name="">
            <a:extLst xmlns:a="http://schemas.openxmlformats.org/drawingml/2006/main">
              <a:ext uri="{FF2B5EF4-FFF2-40B4-BE49-F238E27FC236}">
                <a16:creationId xmlns:a16="http://schemas.microsoft.com/office/drawing/2014/main" id="{353C93AF-010A-42F6-8ADE-538D6B1ADCFF}"/>
              </a:ext>
            </a:extLst>
          </p:cNvPr>
          <p:cNvSpPr>
            <a:spLocks xmlns:a="http://schemas.openxmlformats.org/drawingml/2006/main" noGrp="1"/>
          </p:cNvSpPr>
          <p:nvPr/>
        </p:nvSpPr>
        <p:spPr>
          <a:xfrm xmlns:a="http://schemas.openxmlformats.org/drawingml/2006/main">
            <a:off x="1352550" y="5000625"/>
            <a:ext cx="2000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0702"/>
          </a:bodyPr>
          <a:lstStyle xmlns:a="http://schemas.openxmlformats.org/drawingml/2006/main"/>
          <a:p xmlns:a="http://schemas.openxmlformats.org/drawingml/2006/main">
            <a:pPr>
              <a:defRPr sz="1425" b="1">
                <a:solidFill>
                  <a:srgbClr val="14233A"/>
                </a:solidFill>
                <a:latin typeface="Bitstream Charter"/>
                <a:ea typeface="Bitstream Charter"/>
                <a:cs typeface="Bitstream Charter"/>
              </a:defRPr>
            </a:pPr>
            <a:r>
              <a:rPr sz="1425" b="1">
                <a:solidFill>
                  <a:srgbClr val="14233A"/>
                </a:solidFill>
                <a:latin typeface="Bitstream Charter"/>
                <a:ea typeface="Bitstream Charter"/>
                <a:cs typeface="Bitstream Charter"/>
              </a:rPr>
              <a:t>Students and researchers</a:t>
            </a:r>
          </a:p>
        </p:txBody>
      </p:sp>
      <p:sp>
        <p:nvSpPr>
          <p:cNvPr id="23" name="">
            <a:extLst xmlns:a="http://schemas.openxmlformats.org/drawingml/2006/main">
              <a:ext uri="{FF2B5EF4-FFF2-40B4-BE49-F238E27FC236}">
                <a16:creationId xmlns:a16="http://schemas.microsoft.com/office/drawing/2014/main" id="{EDCC89B5-F68B-42EE-80AE-1D6DFA43CA8F}"/>
              </a:ext>
            </a:extLst>
          </p:cNvPr>
          <p:cNvSpPr>
            <a:spLocks xmlns:a="http://schemas.openxmlformats.org/drawingml/2006/main" noGrp="1"/>
          </p:cNvSpPr>
          <p:nvPr/>
        </p:nvSpPr>
        <p:spPr>
          <a:xfrm xmlns:a="http://schemas.openxmlformats.org/drawingml/2006/main">
            <a:off x="3429000" y="5000625"/>
            <a:ext cx="7620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b="0">
                <a:solidFill>
                  <a:srgbClr val="64748B"/>
                </a:solidFill>
                <a:latin typeface="Bitstream Charter"/>
                <a:ea typeface="Bitstream Charter"/>
                <a:cs typeface="Bitstream Charter"/>
              </a:defRPr>
            </a:pPr>
            <a:r>
              <a:rPr sz="1275" b="0">
                <a:solidFill>
                  <a:srgbClr val="64748B"/>
                </a:solidFill>
                <a:latin typeface="Bitstream Charter"/>
                <a:ea typeface="Bitstream Charter"/>
                <a:cs typeface="Bitstream Charter"/>
              </a:rPr>
              <a:t>A practical reference for web systems and business process automation.</a:t>
            </a:r>
          </a:p>
        </p:txBody>
      </p:sp>
      <p:sp>
        <p:nvSpPr>
          <p:cNvPr id="24" name="">
            <a:extLst xmlns:a="http://schemas.openxmlformats.org/drawingml/2006/main">
              <a:ext uri="{FF2B5EF4-FFF2-40B4-BE49-F238E27FC236}">
                <a16:creationId xmlns:a16="http://schemas.microsoft.com/office/drawing/2014/main" id="{6666BEF5-6FED-4C91-AA51-D02A80249C47}"/>
              </a:ext>
            </a:extLst>
          </p:cNvPr>
          <p:cNvSpPr>
            <a:spLocks xmlns:a="http://schemas.openxmlformats.org/drawingml/2006/main" noGrp="1"/>
          </p:cNvSpPr>
          <p:nvPr/>
        </p:nvSpPr>
        <p:spPr>
          <a:xfrm xmlns:a="http://schemas.openxmlformats.org/drawingml/2006/main">
            <a:off x="685800" y="6496050"/>
            <a:ext cx="6191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0000"/>
          </a:bodyPr>
          <a:lstStyle xmlns:a="http://schemas.openxmlformats.org/drawingml/2006/main"/>
          <a:p xmlns:a="http://schemas.openxmlformats.org/drawingml/2006/main">
            <a:pPr>
              <a:defRPr sz="750" b="1">
                <a:solidFill>
                  <a:srgbClr val="64748B"/>
                </a:solidFill>
                <a:latin typeface="Bitstream Charter"/>
                <a:ea typeface="Bitstream Charter"/>
                <a:cs typeface="Bitstream Charter"/>
              </a:defRPr>
            </a:pPr>
            <a:r>
              <a:rPr sz="750" b="1">
                <a:solidFill>
                  <a:srgbClr val="64748B"/>
                </a:solidFill>
                <a:latin typeface="Bitstream Charter"/>
                <a:ea typeface="Bitstream Charter"/>
                <a:cs typeface="Bitstream Charter"/>
              </a:rPr>
              <a:t>BOOKSHOP SYSTEM  •  BRIGHT MULTISERVICES AND TECH SOLUTIONS</a:t>
            </a:r>
          </a:p>
        </p:txBody>
      </p:sp>
      <p:sp>
        <p:nvSpPr>
          <p:cNvPr id="25" name="">
            <a:extLst xmlns:a="http://schemas.openxmlformats.org/drawingml/2006/main">
              <a:ext uri="{FF2B5EF4-FFF2-40B4-BE49-F238E27FC236}">
                <a16:creationId xmlns:a16="http://schemas.microsoft.com/office/drawing/2014/main" id="{A1F02B9B-D3E3-4690-97D0-F6E3905C7517}"/>
              </a:ext>
            </a:extLst>
          </p:cNvPr>
          <p:cNvSpPr>
            <a:spLocks xmlns:a="http://schemas.openxmlformats.org/drawingml/2006/main" noGrp="1"/>
          </p:cNvSpPr>
          <p:nvPr/>
        </p:nvSpPr>
        <p:spPr>
          <a:xfrm xmlns:a="http://schemas.openxmlformats.org/drawingml/2006/main">
            <a:off x="11049000" y="6496050"/>
            <a:ext cx="4572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0000"/>
          </a:bodyPr>
          <a:lstStyle xmlns:a="http://schemas.openxmlformats.org/drawingml/2006/main"/>
          <a:p xmlns:a="http://schemas.openxmlformats.org/drawingml/2006/main">
            <a:pPr>
              <a:defRPr sz="750" b="1">
                <a:solidFill>
                  <a:srgbClr val="64748B"/>
                </a:solidFill>
                <a:latin typeface="Bitstream Charter"/>
                <a:ea typeface="Bitstream Charter"/>
                <a:cs typeface="Bitstream Charter"/>
              </a:defRPr>
            </a:pPr>
            <a:r>
              <a:rPr sz="750" b="1">
                <a:solidFill>
                  <a:srgbClr val="64748B"/>
                </a:solidFill>
                <a:latin typeface="Bitstream Charter"/>
                <a:ea typeface="Bitstream Charter"/>
                <a:cs typeface="Bitstream Charter"/>
              </a:rPr>
              <a:t>06</a:t>
            </a:r>
          </a:p>
        </p:txBody>
      </p:sp>
    </p:spTree>
    <p:extLst>
      <p:ext uri="{BB962C8B-B14F-4D97-AF65-F5344CB8AC3E}">
        <p14:creationId xmlns:p14="http://schemas.microsoft.com/office/powerpoint/2010/main" val="1093141083"/>
      </p:ext>
    </p:extLst>
  </p:cSld>
</p:sld>
</file>

<file path=ppt/slides/slide7.xml><?xml version="1.0" encoding="utf-8"?>
<p:sld xmlns:p="http://schemas.openxmlformats.org/presentationml/2006/main">
  <p:cSld>
    <p:bg>
      <p:bgPr>
        <a:solidFill xmlns:a="http://schemas.openxmlformats.org/drawingml/2006/main">
          <a:srgbClr val="F6F8FC"/>
        </a:solidFill>
      </p:bgPr>
    </p:bg>
    <p:spTree>
      <p:nvGrpSpPr>
        <p:cNvPr id="1" name=""/>
        <p:cNvGrpSpPr/>
        <p:nvPr/>
      </p:nvGrpSpPr>
      <p:grpSpPr>
        <a:xfrm xmlns:a="http://schemas.openxmlformats.org/drawingml/2006/main"/>
      </p:grpSpPr>
      <p:sp>
        <p:nvSpPr>
          <p:cNvPr id="32" name="">
            <a:extLst xmlns:a="http://schemas.openxmlformats.org/drawingml/2006/main">
              <a:ext uri="{FF2B5EF4-FFF2-40B4-BE49-F238E27FC236}">
                <a16:creationId xmlns:a16="http://schemas.microsoft.com/office/drawing/2014/main" id="{C4223A9E-5995-46B4-97C8-7F070F7B101F}"/>
              </a:ext>
            </a:extLst>
          </p:cNvPr>
          <p:cNvSpPr>
            <a:spLocks xmlns:a="http://schemas.openxmlformats.org/drawingml/2006/main" noGrp="1"/>
          </p:cNvSpPr>
          <p:nvPr/>
        </p:nvSpPr>
        <p:spPr>
          <a:xfrm xmlns:a="http://schemas.openxmlformats.org/drawingml/2006/main">
            <a:off x="685800" y="361950"/>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308"/>
          </a:bodyPr>
          <a:lstStyle xmlns:a="http://schemas.openxmlformats.org/drawingml/2006/main"/>
          <a:p xmlns:a="http://schemas.openxmlformats.org/drawingml/2006/main">
            <a:pPr>
              <a:defRPr sz="975" b="1">
                <a:solidFill>
                  <a:srgbClr val="7759E8"/>
                </a:solidFill>
                <a:latin typeface="Bitstream Charter"/>
                <a:ea typeface="Bitstream Charter"/>
                <a:cs typeface="Bitstream Charter"/>
              </a:defRPr>
            </a:pPr>
            <a:r>
              <a:rPr sz="975" b="1">
                <a:solidFill>
                  <a:srgbClr val="7759E8"/>
                </a:solidFill>
                <a:latin typeface="Bitstream Charter"/>
                <a:ea typeface="Bitstream Charter"/>
                <a:cs typeface="Bitstream Charter"/>
              </a:rPr>
              <a:t>06 / DEVELOPMENT APPROACH</a:t>
            </a:r>
          </a:p>
        </p:txBody>
      </p:sp>
      <p:sp>
        <p:nvSpPr>
          <p:cNvPr id="2" name="">
            <a:extLst xmlns:a="http://schemas.openxmlformats.org/drawingml/2006/main">
              <a:ext uri="{FF2B5EF4-FFF2-40B4-BE49-F238E27FC236}">
                <a16:creationId xmlns:a16="http://schemas.microsoft.com/office/drawing/2014/main" id="{EFE64B82-45B4-42BC-A076-9D89CDAFF4F9}"/>
              </a:ext>
            </a:extLst>
          </p:cNvPr>
          <p:cNvSpPr>
            <a:spLocks xmlns:a="http://schemas.openxmlformats.org/drawingml/2006/main" noGrp="1"/>
          </p:cNvSpPr>
          <p:nvPr/>
        </p:nvSpPr>
        <p:spPr>
          <a:xfrm xmlns:a="http://schemas.openxmlformats.org/drawingml/2006/main">
            <a:off x="685800" y="647700"/>
            <a:ext cx="108204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625" b="1">
                <a:solidFill>
                  <a:srgbClr val="14233A"/>
                </a:solidFill>
                <a:latin typeface="Bitstream Charter"/>
                <a:ea typeface="Bitstream Charter"/>
                <a:cs typeface="Bitstream Charter"/>
              </a:defRPr>
            </a:pPr>
            <a:r>
              <a:rPr sz="2625" b="1">
                <a:solidFill>
                  <a:srgbClr val="14233A"/>
                </a:solidFill>
                <a:latin typeface="Bitstream Charter"/>
                <a:ea typeface="Bitstream Charter"/>
                <a:cs typeface="Bitstream Charter"/>
              </a:rPr>
              <a:t>Requirements became an implemented web application</a:t>
            </a:r>
          </a:p>
        </p:txBody>
      </p:sp>
      <p:sp>
        <p:nvSpPr>
          <p:cNvPr id="3" name="">
            <a:extLst xmlns:a="http://schemas.openxmlformats.org/drawingml/2006/main">
              <a:ext uri="{FF2B5EF4-FFF2-40B4-BE49-F238E27FC236}">
                <a16:creationId xmlns:a16="http://schemas.microsoft.com/office/drawing/2014/main" id="{2AA06A22-DAC1-4B02-B96B-C728EEAB9AA6}"/>
              </a:ext>
            </a:extLst>
          </p:cNvPr>
          <p:cNvSpPr>
            <a:spLocks xmlns:a="http://schemas.openxmlformats.org/drawingml/2006/main" noGrp="1"/>
          </p:cNvSpPr>
          <p:nvPr/>
        </p:nvSpPr>
        <p:spPr>
          <a:xfrm xmlns:a="http://schemas.openxmlformats.org/drawingml/2006/main">
            <a:off x="685800" y="1238250"/>
            <a:ext cx="10287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b="0">
                <a:solidFill>
                  <a:srgbClr val="64748B"/>
                </a:solidFill>
                <a:latin typeface="Bitstream Charter"/>
                <a:ea typeface="Bitstream Charter"/>
                <a:cs typeface="Bitstream Charter"/>
              </a:defRPr>
            </a:pPr>
            <a:r>
              <a:rPr sz="1275" b="0">
                <a:solidFill>
                  <a:srgbClr val="64748B"/>
                </a:solidFill>
                <a:latin typeface="Bitstream Charter"/>
                <a:ea typeface="Bitstream Charter"/>
                <a:cs typeface="Bitstream Charter"/>
              </a:rPr>
              <a:t>Observation, interviews and document review grounded the design in the company’s real workflow.</a:t>
            </a:r>
          </a:p>
        </p:txBody>
      </p:sp>
      <p:sp>
        <p:nvSpPr>
          <p:cNvPr id="4" name="">
            <a:extLst xmlns:a="http://schemas.openxmlformats.org/drawingml/2006/main">
              <a:ext uri="{FF2B5EF4-FFF2-40B4-BE49-F238E27FC236}">
                <a16:creationId xmlns:a16="http://schemas.microsoft.com/office/drawing/2014/main" id="{24C3ACB5-4584-4B43-93FE-CD79F5AD3AEB}"/>
              </a:ext>
            </a:extLst>
          </p:cNvPr>
          <p:cNvSpPr>
            <a:spLocks xmlns:a="http://schemas.openxmlformats.org/drawingml/2006/main" noGrp="1"/>
          </p:cNvSpPr>
          <p:nvPr/>
        </p:nvSpPr>
        <p:spPr>
          <a:xfrm xmlns:a="http://schemas.openxmlformats.org/drawingml/2006/main">
            <a:off x="685800" y="1905000"/>
            <a:ext cx="2400300" cy="1000125"/>
          </a:xfrm>
          <a:prstGeom xmlns:a="http://schemas.openxmlformats.org/drawingml/2006/main" prst="roundRect">
            <a:avLst>
              <a:gd name="adj" fmla="val 17143"/>
            </a:avLst>
          </a:prstGeom>
          <a:solidFill xmlns:a="http://schemas.openxmlformats.org/drawingml/2006/main">
            <a:srgbClr val="FFFFFF"/>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7C77E2DC-DD72-479D-9ECA-A4F1A4D7420B}"/>
              </a:ext>
            </a:extLst>
          </p:cNvPr>
          <p:cNvSpPr>
            <a:spLocks xmlns:a="http://schemas.openxmlformats.org/drawingml/2006/main" noGrp="1"/>
          </p:cNvSpPr>
          <p:nvPr/>
        </p:nvSpPr>
        <p:spPr>
          <a:xfrm xmlns:a="http://schemas.openxmlformats.org/drawingml/2006/main">
            <a:off x="857250" y="2038350"/>
            <a:ext cx="3238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350" b="1">
                <a:solidFill>
                  <a:srgbClr val="7759E8"/>
                </a:solidFill>
                <a:latin typeface="Bitstream Charter"/>
                <a:ea typeface="Bitstream Charter"/>
                <a:cs typeface="Bitstream Charter"/>
              </a:defRPr>
            </a:pPr>
            <a:r>
              <a:rPr sz="1350" b="1">
                <a:solidFill>
                  <a:srgbClr val="7759E8"/>
                </a:solidFill>
                <a:latin typeface="Bitstream Charter"/>
                <a:ea typeface="Bitstream Charter"/>
                <a:cs typeface="Bitstream Charter"/>
              </a:rPr>
              <a:t>1</a:t>
            </a:r>
          </a:p>
        </p:txBody>
      </p:sp>
      <p:sp>
        <p:nvSpPr>
          <p:cNvPr id="6" name="">
            <a:extLst xmlns:a="http://schemas.openxmlformats.org/drawingml/2006/main">
              <a:ext uri="{FF2B5EF4-FFF2-40B4-BE49-F238E27FC236}">
                <a16:creationId xmlns:a16="http://schemas.microsoft.com/office/drawing/2014/main" id="{A6475275-FFB4-42E8-BE5F-04D167EE20F2}"/>
              </a:ext>
            </a:extLst>
          </p:cNvPr>
          <p:cNvSpPr>
            <a:spLocks xmlns:a="http://schemas.openxmlformats.org/drawingml/2006/main" noGrp="1"/>
          </p:cNvSpPr>
          <p:nvPr/>
        </p:nvSpPr>
        <p:spPr>
          <a:xfrm xmlns:a="http://schemas.openxmlformats.org/drawingml/2006/main">
            <a:off x="1276350" y="1981200"/>
            <a:ext cx="15811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0702"/>
          </a:bodyPr>
          <a:lstStyle xmlns:a="http://schemas.openxmlformats.org/drawingml/2006/main"/>
          <a:p xmlns:a="http://schemas.openxmlformats.org/drawingml/2006/main">
            <a:pPr>
              <a:defRPr sz="1425" b="1">
                <a:solidFill>
                  <a:srgbClr val="14233A"/>
                </a:solidFill>
                <a:latin typeface="Bitstream Charter"/>
                <a:ea typeface="Bitstream Charter"/>
                <a:cs typeface="Bitstream Charter"/>
              </a:defRPr>
            </a:pPr>
            <a:r>
              <a:rPr sz="1425" b="1">
                <a:solidFill>
                  <a:srgbClr val="14233A"/>
                </a:solidFill>
                <a:latin typeface="Bitstream Charter"/>
                <a:ea typeface="Bitstream Charter"/>
                <a:cs typeface="Bitstream Charter"/>
              </a:rPr>
              <a:t>Analyze</a:t>
            </a:r>
          </a:p>
        </p:txBody>
      </p:sp>
      <p:sp>
        <p:nvSpPr>
          <p:cNvPr id="7" name="">
            <a:extLst xmlns:a="http://schemas.openxmlformats.org/drawingml/2006/main">
              <a:ext uri="{FF2B5EF4-FFF2-40B4-BE49-F238E27FC236}">
                <a16:creationId xmlns:a16="http://schemas.microsoft.com/office/drawing/2014/main" id="{B6D6835D-05F5-4782-82C6-01F658E36075}"/>
              </a:ext>
            </a:extLst>
          </p:cNvPr>
          <p:cNvSpPr>
            <a:spLocks xmlns:a="http://schemas.openxmlformats.org/drawingml/2006/main" noGrp="1"/>
          </p:cNvSpPr>
          <p:nvPr/>
        </p:nvSpPr>
        <p:spPr>
          <a:xfrm xmlns:a="http://schemas.openxmlformats.org/drawingml/2006/main">
            <a:off x="857250" y="2400300"/>
            <a:ext cx="2000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075"/>
          </a:bodyPr>
          <a:lstStyle xmlns:a="http://schemas.openxmlformats.org/drawingml/2006/main"/>
          <a:p xmlns:a="http://schemas.openxmlformats.org/drawingml/2006/main">
            <a:pPr>
              <a:defRPr sz="1050" b="0">
                <a:solidFill>
                  <a:srgbClr val="64748B"/>
                </a:solidFill>
                <a:latin typeface="Bitstream Charter"/>
                <a:ea typeface="Bitstream Charter"/>
                <a:cs typeface="Bitstream Charter"/>
              </a:defRPr>
            </a:pPr>
            <a:r>
              <a:rPr sz="1050" b="0">
                <a:solidFill>
                  <a:srgbClr val="64748B"/>
                </a:solidFill>
                <a:latin typeface="Bitstream Charter"/>
                <a:ea typeface="Bitstream Charter"/>
                <a:cs typeface="Bitstream Charter"/>
              </a:rPr>
              <a:t>Identify manual-process problems</a:t>
            </a:r>
          </a:p>
        </p:txBody>
      </p:sp>
      <p:sp>
        <p:nvSpPr>
          <p:cNvPr id="8" name="">
            <a:extLst xmlns:a="http://schemas.openxmlformats.org/drawingml/2006/main">
              <a:ext uri="{FF2B5EF4-FFF2-40B4-BE49-F238E27FC236}">
                <a16:creationId xmlns:a16="http://schemas.microsoft.com/office/drawing/2014/main" id="{D2FCEFB2-99AD-4B71-93D2-1F775130A3B0}"/>
              </a:ext>
            </a:extLst>
          </p:cNvPr>
          <p:cNvSpPr>
            <a:spLocks xmlns:a="http://schemas.openxmlformats.org/drawingml/2006/main" noGrp="1"/>
          </p:cNvSpPr>
          <p:nvPr/>
        </p:nvSpPr>
        <p:spPr>
          <a:xfrm xmlns:a="http://schemas.openxmlformats.org/drawingml/2006/main">
            <a:off x="3390900" y="1905000"/>
            <a:ext cx="2400300" cy="1000125"/>
          </a:xfrm>
          <a:prstGeom xmlns:a="http://schemas.openxmlformats.org/drawingml/2006/main" prst="roundRect">
            <a:avLst>
              <a:gd name="adj" fmla="val 17143"/>
            </a:avLst>
          </a:prstGeom>
          <a:solidFill xmlns:a="http://schemas.openxmlformats.org/drawingml/2006/main">
            <a:srgbClr val="FFFFFF"/>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EE94D7FF-369B-4270-9EFF-1A71A52028B6}"/>
              </a:ext>
            </a:extLst>
          </p:cNvPr>
          <p:cNvSpPr>
            <a:spLocks xmlns:a="http://schemas.openxmlformats.org/drawingml/2006/main" noGrp="1"/>
          </p:cNvSpPr>
          <p:nvPr/>
        </p:nvSpPr>
        <p:spPr>
          <a:xfrm xmlns:a="http://schemas.openxmlformats.org/drawingml/2006/main">
            <a:off x="3562350" y="2038350"/>
            <a:ext cx="3238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350" b="1">
                <a:solidFill>
                  <a:srgbClr val="3B5BDB"/>
                </a:solidFill>
                <a:latin typeface="Bitstream Charter"/>
                <a:ea typeface="Bitstream Charter"/>
                <a:cs typeface="Bitstream Charter"/>
              </a:defRPr>
            </a:pPr>
            <a:r>
              <a:rPr sz="1350" b="1">
                <a:solidFill>
                  <a:srgbClr val="3B5BDB"/>
                </a:solidFill>
                <a:latin typeface="Bitstream Charter"/>
                <a:ea typeface="Bitstream Charter"/>
                <a:cs typeface="Bitstream Charter"/>
              </a:rPr>
              <a:t>2</a:t>
            </a:r>
          </a:p>
        </p:txBody>
      </p:sp>
      <p:sp>
        <p:nvSpPr>
          <p:cNvPr id="10" name="">
            <a:extLst xmlns:a="http://schemas.openxmlformats.org/drawingml/2006/main">
              <a:ext uri="{FF2B5EF4-FFF2-40B4-BE49-F238E27FC236}">
                <a16:creationId xmlns:a16="http://schemas.microsoft.com/office/drawing/2014/main" id="{1CE3F193-717E-4119-987D-C0A9F04E5120}"/>
              </a:ext>
            </a:extLst>
          </p:cNvPr>
          <p:cNvSpPr>
            <a:spLocks xmlns:a="http://schemas.openxmlformats.org/drawingml/2006/main" noGrp="1"/>
          </p:cNvSpPr>
          <p:nvPr/>
        </p:nvSpPr>
        <p:spPr>
          <a:xfrm xmlns:a="http://schemas.openxmlformats.org/drawingml/2006/main">
            <a:off x="3981450" y="1981200"/>
            <a:ext cx="15811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0702"/>
          </a:bodyPr>
          <a:lstStyle xmlns:a="http://schemas.openxmlformats.org/drawingml/2006/main"/>
          <a:p xmlns:a="http://schemas.openxmlformats.org/drawingml/2006/main">
            <a:pPr>
              <a:defRPr sz="1425" b="1">
                <a:solidFill>
                  <a:srgbClr val="14233A"/>
                </a:solidFill>
                <a:latin typeface="Bitstream Charter"/>
                <a:ea typeface="Bitstream Charter"/>
                <a:cs typeface="Bitstream Charter"/>
              </a:defRPr>
            </a:pPr>
            <a:r>
              <a:rPr sz="1425" b="1">
                <a:solidFill>
                  <a:srgbClr val="14233A"/>
                </a:solidFill>
                <a:latin typeface="Bitstream Charter"/>
                <a:ea typeface="Bitstream Charter"/>
                <a:cs typeface="Bitstream Charter"/>
              </a:rPr>
              <a:t>Design</a:t>
            </a:r>
          </a:p>
        </p:txBody>
      </p:sp>
      <p:sp>
        <p:nvSpPr>
          <p:cNvPr id="11" name="">
            <a:extLst xmlns:a="http://schemas.openxmlformats.org/drawingml/2006/main">
              <a:ext uri="{FF2B5EF4-FFF2-40B4-BE49-F238E27FC236}">
                <a16:creationId xmlns:a16="http://schemas.microsoft.com/office/drawing/2014/main" id="{F3D2C06F-B2A6-48A5-903B-3216336E5AD1}"/>
              </a:ext>
            </a:extLst>
          </p:cNvPr>
          <p:cNvSpPr>
            <a:spLocks xmlns:a="http://schemas.openxmlformats.org/drawingml/2006/main" noGrp="1"/>
          </p:cNvSpPr>
          <p:nvPr/>
        </p:nvSpPr>
        <p:spPr>
          <a:xfrm xmlns:a="http://schemas.openxmlformats.org/drawingml/2006/main">
            <a:off x="3562350" y="2400300"/>
            <a:ext cx="2000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8571"/>
          </a:bodyPr>
          <a:lstStyle xmlns:a="http://schemas.openxmlformats.org/drawingml/2006/main"/>
          <a:p xmlns:a="http://schemas.openxmlformats.org/drawingml/2006/main">
            <a:pPr>
              <a:defRPr sz="1050" b="0">
                <a:solidFill>
                  <a:srgbClr val="64748B"/>
                </a:solidFill>
                <a:latin typeface="Bitstream Charter"/>
                <a:ea typeface="Bitstream Charter"/>
                <a:cs typeface="Bitstream Charter"/>
              </a:defRPr>
            </a:pPr>
            <a:r>
              <a:rPr sz="1050" b="0">
                <a:solidFill>
                  <a:srgbClr val="64748B"/>
                </a:solidFill>
                <a:latin typeface="Bitstream Charter"/>
                <a:ea typeface="Bitstream Charter"/>
                <a:cs typeface="Bitstream Charter"/>
              </a:rPr>
              <a:t>Define architecture, database and interfaces</a:t>
            </a:r>
          </a:p>
        </p:txBody>
      </p:sp>
      <p:sp>
        <p:nvSpPr>
          <p:cNvPr id="12" name="">
            <a:extLst xmlns:a="http://schemas.openxmlformats.org/drawingml/2006/main">
              <a:ext uri="{FF2B5EF4-FFF2-40B4-BE49-F238E27FC236}">
                <a16:creationId xmlns:a16="http://schemas.microsoft.com/office/drawing/2014/main" id="{C522201B-CBDE-4B6D-B815-8A0A9D76544E}"/>
              </a:ext>
            </a:extLst>
          </p:cNvPr>
          <p:cNvSpPr>
            <a:spLocks xmlns:a="http://schemas.openxmlformats.org/drawingml/2006/main" noGrp="1"/>
          </p:cNvSpPr>
          <p:nvPr/>
        </p:nvSpPr>
        <p:spPr>
          <a:xfrm xmlns:a="http://schemas.openxmlformats.org/drawingml/2006/main">
            <a:off x="6096000" y="1905000"/>
            <a:ext cx="2400300" cy="1000125"/>
          </a:xfrm>
          <a:prstGeom xmlns:a="http://schemas.openxmlformats.org/drawingml/2006/main" prst="roundRect">
            <a:avLst>
              <a:gd name="adj" fmla="val 17143"/>
            </a:avLst>
          </a:prstGeom>
          <a:solidFill xmlns:a="http://schemas.openxmlformats.org/drawingml/2006/main">
            <a:srgbClr val="FFFFFF"/>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8C0BA244-2510-4D02-AC67-736CBC95CE53}"/>
              </a:ext>
            </a:extLst>
          </p:cNvPr>
          <p:cNvSpPr>
            <a:spLocks xmlns:a="http://schemas.openxmlformats.org/drawingml/2006/main" noGrp="1"/>
          </p:cNvSpPr>
          <p:nvPr/>
        </p:nvSpPr>
        <p:spPr>
          <a:xfrm xmlns:a="http://schemas.openxmlformats.org/drawingml/2006/main">
            <a:off x="6267450" y="2038350"/>
            <a:ext cx="3238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350" b="1">
                <a:solidFill>
                  <a:srgbClr val="16A34A"/>
                </a:solidFill>
                <a:latin typeface="Bitstream Charter"/>
                <a:ea typeface="Bitstream Charter"/>
                <a:cs typeface="Bitstream Charter"/>
              </a:defRPr>
            </a:pPr>
            <a:r>
              <a:rPr sz="1350" b="1">
                <a:solidFill>
                  <a:srgbClr val="16A34A"/>
                </a:solidFill>
                <a:latin typeface="Bitstream Charter"/>
                <a:ea typeface="Bitstream Charter"/>
                <a:cs typeface="Bitstream Charter"/>
              </a:rPr>
              <a:t>3</a:t>
            </a:r>
          </a:p>
        </p:txBody>
      </p:sp>
      <p:sp>
        <p:nvSpPr>
          <p:cNvPr id="14" name="">
            <a:extLst xmlns:a="http://schemas.openxmlformats.org/drawingml/2006/main">
              <a:ext uri="{FF2B5EF4-FFF2-40B4-BE49-F238E27FC236}">
                <a16:creationId xmlns:a16="http://schemas.microsoft.com/office/drawing/2014/main" id="{B796EF8D-731C-4479-B429-97CFB930F13D}"/>
              </a:ext>
            </a:extLst>
          </p:cNvPr>
          <p:cNvSpPr>
            <a:spLocks xmlns:a="http://schemas.openxmlformats.org/drawingml/2006/main" noGrp="1"/>
          </p:cNvSpPr>
          <p:nvPr/>
        </p:nvSpPr>
        <p:spPr>
          <a:xfrm xmlns:a="http://schemas.openxmlformats.org/drawingml/2006/main">
            <a:off x="6686550" y="1981200"/>
            <a:ext cx="15811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0702"/>
          </a:bodyPr>
          <a:lstStyle xmlns:a="http://schemas.openxmlformats.org/drawingml/2006/main"/>
          <a:p xmlns:a="http://schemas.openxmlformats.org/drawingml/2006/main">
            <a:pPr>
              <a:defRPr sz="1425" b="1">
                <a:solidFill>
                  <a:srgbClr val="14233A"/>
                </a:solidFill>
                <a:latin typeface="Bitstream Charter"/>
                <a:ea typeface="Bitstream Charter"/>
                <a:cs typeface="Bitstream Charter"/>
              </a:defRPr>
            </a:pPr>
            <a:r>
              <a:rPr sz="1425" b="1">
                <a:solidFill>
                  <a:srgbClr val="14233A"/>
                </a:solidFill>
                <a:latin typeface="Bitstream Charter"/>
                <a:ea typeface="Bitstream Charter"/>
                <a:cs typeface="Bitstream Charter"/>
              </a:rPr>
              <a:t>Develop</a:t>
            </a:r>
          </a:p>
        </p:txBody>
      </p:sp>
      <p:sp>
        <p:nvSpPr>
          <p:cNvPr id="15" name="">
            <a:extLst xmlns:a="http://schemas.openxmlformats.org/drawingml/2006/main">
              <a:ext uri="{FF2B5EF4-FFF2-40B4-BE49-F238E27FC236}">
                <a16:creationId xmlns:a16="http://schemas.microsoft.com/office/drawing/2014/main" id="{7137DA86-4C8B-4858-90C5-F827E963AEDA}"/>
              </a:ext>
            </a:extLst>
          </p:cNvPr>
          <p:cNvSpPr>
            <a:spLocks xmlns:a="http://schemas.openxmlformats.org/drawingml/2006/main" noGrp="1"/>
          </p:cNvSpPr>
          <p:nvPr/>
        </p:nvSpPr>
        <p:spPr>
          <a:xfrm xmlns:a="http://schemas.openxmlformats.org/drawingml/2006/main">
            <a:off x="6267450" y="2400300"/>
            <a:ext cx="2000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0961"/>
          </a:bodyPr>
          <a:lstStyle xmlns:a="http://schemas.openxmlformats.org/drawingml/2006/main"/>
          <a:p xmlns:a="http://schemas.openxmlformats.org/drawingml/2006/main">
            <a:pPr>
              <a:defRPr sz="1050" b="0">
                <a:solidFill>
                  <a:srgbClr val="64748B"/>
                </a:solidFill>
                <a:latin typeface="Bitstream Charter"/>
                <a:ea typeface="Bitstream Charter"/>
                <a:cs typeface="Bitstream Charter"/>
              </a:defRPr>
            </a:pPr>
            <a:r>
              <a:rPr sz="1050" b="0">
                <a:solidFill>
                  <a:srgbClr val="64748B"/>
                </a:solidFill>
                <a:latin typeface="Bitstream Charter"/>
                <a:ea typeface="Bitstream Charter"/>
                <a:cs typeface="Bitstream Charter"/>
              </a:rPr>
              <a:t>Build frontend, API and data layer</a:t>
            </a:r>
          </a:p>
        </p:txBody>
      </p:sp>
      <p:sp>
        <p:nvSpPr>
          <p:cNvPr id="16" name="">
            <a:extLst xmlns:a="http://schemas.openxmlformats.org/drawingml/2006/main">
              <a:ext uri="{FF2B5EF4-FFF2-40B4-BE49-F238E27FC236}">
                <a16:creationId xmlns:a16="http://schemas.microsoft.com/office/drawing/2014/main" id="{8C709D01-4F0B-48FC-B14B-201612FDD74F}"/>
              </a:ext>
            </a:extLst>
          </p:cNvPr>
          <p:cNvSpPr>
            <a:spLocks xmlns:a="http://schemas.openxmlformats.org/drawingml/2006/main" noGrp="1"/>
          </p:cNvSpPr>
          <p:nvPr/>
        </p:nvSpPr>
        <p:spPr>
          <a:xfrm xmlns:a="http://schemas.openxmlformats.org/drawingml/2006/main">
            <a:off x="8801100" y="1905000"/>
            <a:ext cx="2400300" cy="1000125"/>
          </a:xfrm>
          <a:prstGeom xmlns:a="http://schemas.openxmlformats.org/drawingml/2006/main" prst="roundRect">
            <a:avLst>
              <a:gd name="adj" fmla="val 17143"/>
            </a:avLst>
          </a:prstGeom>
          <a:solidFill xmlns:a="http://schemas.openxmlformats.org/drawingml/2006/main">
            <a:srgbClr val="FFFFFF"/>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D6D61190-2C2A-407B-ACF1-C05CD9417009}"/>
              </a:ext>
            </a:extLst>
          </p:cNvPr>
          <p:cNvSpPr>
            <a:spLocks xmlns:a="http://schemas.openxmlformats.org/drawingml/2006/main" noGrp="1"/>
          </p:cNvSpPr>
          <p:nvPr/>
        </p:nvSpPr>
        <p:spPr>
          <a:xfrm xmlns:a="http://schemas.openxmlformats.org/drawingml/2006/main">
            <a:off x="8972550" y="2038350"/>
            <a:ext cx="3238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350" b="1">
                <a:solidFill>
                  <a:srgbClr val="F59E0B"/>
                </a:solidFill>
                <a:latin typeface="Bitstream Charter"/>
                <a:ea typeface="Bitstream Charter"/>
                <a:cs typeface="Bitstream Charter"/>
              </a:defRPr>
            </a:pPr>
            <a:r>
              <a:rPr sz="1350" b="1">
                <a:solidFill>
                  <a:srgbClr val="F59E0B"/>
                </a:solidFill>
                <a:latin typeface="Bitstream Charter"/>
                <a:ea typeface="Bitstream Charter"/>
                <a:cs typeface="Bitstream Charter"/>
              </a:rPr>
              <a:t>4</a:t>
            </a:r>
          </a:p>
        </p:txBody>
      </p:sp>
      <p:sp>
        <p:nvSpPr>
          <p:cNvPr id="18" name="">
            <a:extLst xmlns:a="http://schemas.openxmlformats.org/drawingml/2006/main">
              <a:ext uri="{FF2B5EF4-FFF2-40B4-BE49-F238E27FC236}">
                <a16:creationId xmlns:a16="http://schemas.microsoft.com/office/drawing/2014/main" id="{C7C20935-FB51-49C8-82D2-C72DF8017DDE}"/>
              </a:ext>
            </a:extLst>
          </p:cNvPr>
          <p:cNvSpPr>
            <a:spLocks xmlns:a="http://schemas.openxmlformats.org/drawingml/2006/main" noGrp="1"/>
          </p:cNvSpPr>
          <p:nvPr/>
        </p:nvSpPr>
        <p:spPr>
          <a:xfrm xmlns:a="http://schemas.openxmlformats.org/drawingml/2006/main">
            <a:off x="9391650" y="1981200"/>
            <a:ext cx="15811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0702"/>
          </a:bodyPr>
          <a:lstStyle xmlns:a="http://schemas.openxmlformats.org/drawingml/2006/main"/>
          <a:p xmlns:a="http://schemas.openxmlformats.org/drawingml/2006/main">
            <a:pPr>
              <a:defRPr sz="1425" b="1">
                <a:solidFill>
                  <a:srgbClr val="14233A"/>
                </a:solidFill>
                <a:latin typeface="Bitstream Charter"/>
                <a:ea typeface="Bitstream Charter"/>
                <a:cs typeface="Bitstream Charter"/>
              </a:defRPr>
            </a:pPr>
            <a:r>
              <a:rPr sz="1425" b="1">
                <a:solidFill>
                  <a:srgbClr val="14233A"/>
                </a:solidFill>
                <a:latin typeface="Bitstream Charter"/>
                <a:ea typeface="Bitstream Charter"/>
                <a:cs typeface="Bitstream Charter"/>
              </a:rPr>
              <a:t>Test</a:t>
            </a:r>
          </a:p>
        </p:txBody>
      </p:sp>
      <p:sp>
        <p:nvSpPr>
          <p:cNvPr id="19" name="">
            <a:extLst xmlns:a="http://schemas.openxmlformats.org/drawingml/2006/main">
              <a:ext uri="{FF2B5EF4-FFF2-40B4-BE49-F238E27FC236}">
                <a16:creationId xmlns:a16="http://schemas.microsoft.com/office/drawing/2014/main" id="{8D491756-7A0D-419B-A999-CC676950ECCA}"/>
              </a:ext>
            </a:extLst>
          </p:cNvPr>
          <p:cNvSpPr>
            <a:spLocks xmlns:a="http://schemas.openxmlformats.org/drawingml/2006/main" noGrp="1"/>
          </p:cNvSpPr>
          <p:nvPr/>
        </p:nvSpPr>
        <p:spPr>
          <a:xfrm xmlns:a="http://schemas.openxmlformats.org/drawingml/2006/main">
            <a:off x="8972550" y="2400300"/>
            <a:ext cx="2000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0804"/>
          </a:bodyPr>
          <a:lstStyle xmlns:a="http://schemas.openxmlformats.org/drawingml/2006/main"/>
          <a:p xmlns:a="http://schemas.openxmlformats.org/drawingml/2006/main">
            <a:pPr>
              <a:defRPr sz="1050" b="0">
                <a:solidFill>
                  <a:srgbClr val="64748B"/>
                </a:solidFill>
                <a:latin typeface="Bitstream Charter"/>
                <a:ea typeface="Bitstream Charter"/>
                <a:cs typeface="Bitstream Charter"/>
              </a:defRPr>
            </a:pPr>
            <a:r>
              <a:rPr sz="1050" b="0">
                <a:solidFill>
                  <a:srgbClr val="64748B"/>
                </a:solidFill>
                <a:latin typeface="Bitstream Charter"/>
                <a:ea typeface="Bitstream Charter"/>
                <a:cs typeface="Bitstream Charter"/>
              </a:rPr>
              <a:t>Run unit, integration, system and UAT</a:t>
            </a:r>
          </a:p>
        </p:txBody>
      </p:sp>
      <p:sp>
        <p:nvSpPr>
          <p:cNvPr id="20" name="">
            <a:extLst xmlns:a="http://schemas.openxmlformats.org/drawingml/2006/main">
              <a:ext uri="{FF2B5EF4-FFF2-40B4-BE49-F238E27FC236}">
                <a16:creationId xmlns:a16="http://schemas.microsoft.com/office/drawing/2014/main" id="{A9449D3E-201E-405B-A222-8AAF1195B1CD}"/>
              </a:ext>
            </a:extLst>
          </p:cNvPr>
          <p:cNvSpPr>
            <a:spLocks xmlns:a="http://schemas.openxmlformats.org/drawingml/2006/main" noGrp="1"/>
          </p:cNvSpPr>
          <p:nvPr/>
        </p:nvSpPr>
        <p:spPr>
          <a:xfrm xmlns:a="http://schemas.openxmlformats.org/drawingml/2006/main">
            <a:off x="685800" y="3333750"/>
            <a:ext cx="10820400" cy="1952625"/>
          </a:xfrm>
          <a:prstGeom xmlns:a="http://schemas.openxmlformats.org/drawingml/2006/main" prst="roundRect">
            <a:avLst>
              <a:gd name="adj" fmla="val 8780"/>
            </a:avLst>
          </a:prstGeom>
          <a:solidFill xmlns:a="http://schemas.openxmlformats.org/drawingml/2006/main">
            <a:srgbClr val="101829"/>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39971550-5E2E-473F-B29C-D2452DC9C488}"/>
              </a:ext>
            </a:extLst>
          </p:cNvPr>
          <p:cNvSpPr>
            <a:spLocks xmlns:a="http://schemas.openxmlformats.org/drawingml/2006/main" noGrp="1"/>
          </p:cNvSpPr>
          <p:nvPr/>
        </p:nvSpPr>
        <p:spPr>
          <a:xfrm xmlns:a="http://schemas.openxmlformats.org/drawingml/2006/main">
            <a:off x="971550" y="3571875"/>
            <a:ext cx="285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308"/>
          </a:bodyPr>
          <a:lstStyle xmlns:a="http://schemas.openxmlformats.org/drawingml/2006/main"/>
          <a:p xmlns:a="http://schemas.openxmlformats.org/drawingml/2006/main">
            <a:pPr>
              <a:defRPr sz="975" b="1">
                <a:solidFill>
                  <a:srgbClr val="A78BFA"/>
                </a:solidFill>
                <a:latin typeface="Bitstream Charter"/>
                <a:ea typeface="Bitstream Charter"/>
                <a:cs typeface="Bitstream Charter"/>
              </a:defRPr>
            </a:pPr>
            <a:r>
              <a:rPr sz="975" b="1">
                <a:solidFill>
                  <a:srgbClr val="A78BFA"/>
                </a:solidFill>
                <a:latin typeface="Bitstream Charter"/>
                <a:ea typeface="Bitstream Charter"/>
                <a:cs typeface="Bitstream Charter"/>
              </a:rPr>
              <a:t>TECHNICAL FOUNDATION</a:t>
            </a:r>
          </a:p>
        </p:txBody>
      </p:sp>
      <p:sp>
        <p:nvSpPr>
          <p:cNvPr id="22" name="">
            <a:extLst xmlns:a="http://schemas.openxmlformats.org/drawingml/2006/main">
              <a:ext uri="{FF2B5EF4-FFF2-40B4-BE49-F238E27FC236}">
                <a16:creationId xmlns:a16="http://schemas.microsoft.com/office/drawing/2014/main" id="{C910B23A-4322-4B57-8241-B7BC00C7A08C}"/>
              </a:ext>
            </a:extLst>
          </p:cNvPr>
          <p:cNvSpPr>
            <a:spLocks xmlns:a="http://schemas.openxmlformats.org/drawingml/2006/main" noGrp="1"/>
          </p:cNvSpPr>
          <p:nvPr/>
        </p:nvSpPr>
        <p:spPr>
          <a:xfrm xmlns:a="http://schemas.openxmlformats.org/drawingml/2006/main">
            <a:off x="971550" y="3971925"/>
            <a:ext cx="2333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1159"/>
          </a:bodyPr>
          <a:lstStyle xmlns:a="http://schemas.openxmlformats.org/drawingml/2006/main"/>
          <a:p xmlns:a="http://schemas.openxmlformats.org/drawingml/2006/main">
            <a:pPr>
              <a:defRPr sz="1725" b="1">
                <a:solidFill>
                  <a:srgbClr val="FFFFFF"/>
                </a:solidFill>
                <a:latin typeface="Bitstream Charter"/>
                <a:ea typeface="Bitstream Charter"/>
                <a:cs typeface="Bitstream Charter"/>
              </a:defRPr>
            </a:pPr>
            <a:r>
              <a:rPr sz="1725" b="1">
                <a:solidFill>
                  <a:srgbClr val="FFFFFF"/>
                </a:solidFill>
                <a:latin typeface="Bitstream Charter"/>
                <a:ea typeface="Bitstream Charter"/>
                <a:cs typeface="Bitstream Charter"/>
              </a:rPr>
              <a:t>Next.js + TypeScript</a:t>
            </a:r>
          </a:p>
        </p:txBody>
      </p:sp>
      <p:sp>
        <p:nvSpPr>
          <p:cNvPr id="23" name="">
            <a:extLst xmlns:a="http://schemas.openxmlformats.org/drawingml/2006/main">
              <a:ext uri="{FF2B5EF4-FFF2-40B4-BE49-F238E27FC236}">
                <a16:creationId xmlns:a16="http://schemas.microsoft.com/office/drawing/2014/main" id="{08EE26BD-808E-424E-B161-3CE3BD9D6AE5}"/>
              </a:ext>
            </a:extLst>
          </p:cNvPr>
          <p:cNvSpPr>
            <a:spLocks xmlns:a="http://schemas.openxmlformats.org/drawingml/2006/main" noGrp="1"/>
          </p:cNvSpPr>
          <p:nvPr/>
        </p:nvSpPr>
        <p:spPr>
          <a:xfrm xmlns:a="http://schemas.openxmlformats.org/drawingml/2006/main">
            <a:off x="971550" y="4324350"/>
            <a:ext cx="2333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0000"/>
          </a:bodyPr>
          <a:lstStyle xmlns:a="http://schemas.openxmlformats.org/drawingml/2006/main"/>
          <a:p xmlns:a="http://schemas.openxmlformats.org/drawingml/2006/main">
            <a:pPr>
              <a:defRPr sz="1125" b="0">
                <a:solidFill>
                  <a:srgbClr val="BFC8D8"/>
                </a:solidFill>
                <a:latin typeface="Bitstream Charter"/>
                <a:ea typeface="Bitstream Charter"/>
                <a:cs typeface="Bitstream Charter"/>
              </a:defRPr>
            </a:pPr>
            <a:r>
              <a:rPr sz="1125" b="0">
                <a:solidFill>
                  <a:srgbClr val="BFC8D8"/>
                </a:solidFill>
                <a:latin typeface="Bitstream Charter"/>
                <a:ea typeface="Bitstream Charter"/>
                <a:cs typeface="Bitstream Charter"/>
              </a:rPr>
              <a:t>Frontend interface</a:t>
            </a:r>
          </a:p>
        </p:txBody>
      </p:sp>
      <p:sp>
        <p:nvSpPr>
          <p:cNvPr id="24" name="">
            <a:extLst xmlns:a="http://schemas.openxmlformats.org/drawingml/2006/main">
              <a:ext uri="{FF2B5EF4-FFF2-40B4-BE49-F238E27FC236}">
                <a16:creationId xmlns:a16="http://schemas.microsoft.com/office/drawing/2014/main" id="{235E69A3-416F-48A5-8A37-31CD8FAE0009}"/>
              </a:ext>
            </a:extLst>
          </p:cNvPr>
          <p:cNvSpPr>
            <a:spLocks xmlns:a="http://schemas.openxmlformats.org/drawingml/2006/main" noGrp="1"/>
          </p:cNvSpPr>
          <p:nvPr/>
        </p:nvSpPr>
        <p:spPr>
          <a:xfrm xmlns:a="http://schemas.openxmlformats.org/drawingml/2006/main">
            <a:off x="3714750" y="3971925"/>
            <a:ext cx="2333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1159"/>
          </a:bodyPr>
          <a:lstStyle xmlns:a="http://schemas.openxmlformats.org/drawingml/2006/main"/>
          <a:p xmlns:a="http://schemas.openxmlformats.org/drawingml/2006/main">
            <a:pPr>
              <a:defRPr sz="1725" b="1">
                <a:solidFill>
                  <a:srgbClr val="FFFFFF"/>
                </a:solidFill>
                <a:latin typeface="Bitstream Charter"/>
                <a:ea typeface="Bitstream Charter"/>
                <a:cs typeface="Bitstream Charter"/>
              </a:defRPr>
            </a:pPr>
            <a:r>
              <a:rPr sz="1725" b="1">
                <a:solidFill>
                  <a:srgbClr val="FFFFFF"/>
                </a:solidFill>
                <a:latin typeface="Bitstream Charter"/>
                <a:ea typeface="Bitstream Charter"/>
                <a:cs typeface="Bitstream Charter"/>
              </a:rPr>
              <a:t>Node.js + Express</a:t>
            </a:r>
          </a:p>
        </p:txBody>
      </p:sp>
      <p:sp>
        <p:nvSpPr>
          <p:cNvPr id="25" name="">
            <a:extLst xmlns:a="http://schemas.openxmlformats.org/drawingml/2006/main">
              <a:ext uri="{FF2B5EF4-FFF2-40B4-BE49-F238E27FC236}">
                <a16:creationId xmlns:a16="http://schemas.microsoft.com/office/drawing/2014/main" id="{5482AD99-5802-4657-8864-6AA36E0C8A7A}"/>
              </a:ext>
            </a:extLst>
          </p:cNvPr>
          <p:cNvSpPr>
            <a:spLocks xmlns:a="http://schemas.openxmlformats.org/drawingml/2006/main" noGrp="1"/>
          </p:cNvSpPr>
          <p:nvPr/>
        </p:nvSpPr>
        <p:spPr>
          <a:xfrm xmlns:a="http://schemas.openxmlformats.org/drawingml/2006/main">
            <a:off x="3714750" y="4324350"/>
            <a:ext cx="2333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0000"/>
          </a:bodyPr>
          <a:lstStyle xmlns:a="http://schemas.openxmlformats.org/drawingml/2006/main"/>
          <a:p xmlns:a="http://schemas.openxmlformats.org/drawingml/2006/main">
            <a:pPr>
              <a:defRPr sz="1125" b="0">
                <a:solidFill>
                  <a:srgbClr val="BFC8D8"/>
                </a:solidFill>
                <a:latin typeface="Bitstream Charter"/>
                <a:ea typeface="Bitstream Charter"/>
                <a:cs typeface="Bitstream Charter"/>
              </a:defRPr>
            </a:pPr>
            <a:r>
              <a:rPr sz="1125" b="0">
                <a:solidFill>
                  <a:srgbClr val="BFC8D8"/>
                </a:solidFill>
                <a:latin typeface="Bitstream Charter"/>
                <a:ea typeface="Bitstream Charter"/>
                <a:cs typeface="Bitstream Charter"/>
              </a:rPr>
              <a:t>Backend services</a:t>
            </a:r>
          </a:p>
        </p:txBody>
      </p:sp>
      <p:sp>
        <p:nvSpPr>
          <p:cNvPr id="26" name="">
            <a:extLst xmlns:a="http://schemas.openxmlformats.org/drawingml/2006/main">
              <a:ext uri="{FF2B5EF4-FFF2-40B4-BE49-F238E27FC236}">
                <a16:creationId xmlns:a16="http://schemas.microsoft.com/office/drawing/2014/main" id="{51A23367-6995-4D66-8F5E-BF8AFFE756B2}"/>
              </a:ext>
            </a:extLst>
          </p:cNvPr>
          <p:cNvSpPr>
            <a:spLocks xmlns:a="http://schemas.openxmlformats.org/drawingml/2006/main" noGrp="1"/>
          </p:cNvSpPr>
          <p:nvPr/>
        </p:nvSpPr>
        <p:spPr>
          <a:xfrm xmlns:a="http://schemas.openxmlformats.org/drawingml/2006/main">
            <a:off x="6457950" y="3971925"/>
            <a:ext cx="2333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1159"/>
          </a:bodyPr>
          <a:lstStyle xmlns:a="http://schemas.openxmlformats.org/drawingml/2006/main"/>
          <a:p xmlns:a="http://schemas.openxmlformats.org/drawingml/2006/main">
            <a:pPr>
              <a:defRPr sz="1725" b="1">
                <a:solidFill>
                  <a:srgbClr val="FFFFFF"/>
                </a:solidFill>
                <a:latin typeface="Bitstream Charter"/>
                <a:ea typeface="Bitstream Charter"/>
                <a:cs typeface="Bitstream Charter"/>
              </a:defRPr>
            </a:pPr>
            <a:r>
              <a:rPr sz="1725" b="1">
                <a:solidFill>
                  <a:srgbClr val="FFFFFF"/>
                </a:solidFill>
                <a:latin typeface="Bitstream Charter"/>
                <a:ea typeface="Bitstream Charter"/>
                <a:cs typeface="Bitstream Charter"/>
              </a:rPr>
              <a:t>PostgreSQL + Prisma</a:t>
            </a:r>
          </a:p>
        </p:txBody>
      </p:sp>
      <p:sp>
        <p:nvSpPr>
          <p:cNvPr id="27" name="">
            <a:extLst xmlns:a="http://schemas.openxmlformats.org/drawingml/2006/main">
              <a:ext uri="{FF2B5EF4-FFF2-40B4-BE49-F238E27FC236}">
                <a16:creationId xmlns:a16="http://schemas.microsoft.com/office/drawing/2014/main" id="{54CD2EE0-C49F-4A1A-A83B-00E88CCFA8B1}"/>
              </a:ext>
            </a:extLst>
          </p:cNvPr>
          <p:cNvSpPr>
            <a:spLocks xmlns:a="http://schemas.openxmlformats.org/drawingml/2006/main" noGrp="1"/>
          </p:cNvSpPr>
          <p:nvPr/>
        </p:nvSpPr>
        <p:spPr>
          <a:xfrm xmlns:a="http://schemas.openxmlformats.org/drawingml/2006/main">
            <a:off x="6457950" y="4324350"/>
            <a:ext cx="2333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0000"/>
          </a:bodyPr>
          <a:lstStyle xmlns:a="http://schemas.openxmlformats.org/drawingml/2006/main"/>
          <a:p xmlns:a="http://schemas.openxmlformats.org/drawingml/2006/main">
            <a:pPr>
              <a:defRPr sz="1125" b="0">
                <a:solidFill>
                  <a:srgbClr val="BFC8D8"/>
                </a:solidFill>
                <a:latin typeface="Bitstream Charter"/>
                <a:ea typeface="Bitstream Charter"/>
                <a:cs typeface="Bitstream Charter"/>
              </a:defRPr>
            </a:pPr>
            <a:r>
              <a:rPr sz="1125" b="0">
                <a:solidFill>
                  <a:srgbClr val="BFC8D8"/>
                </a:solidFill>
                <a:latin typeface="Bitstream Charter"/>
                <a:ea typeface="Bitstream Charter"/>
                <a:cs typeface="Bitstream Charter"/>
              </a:rPr>
              <a:t>Data management</a:t>
            </a:r>
          </a:p>
        </p:txBody>
      </p:sp>
      <p:sp>
        <p:nvSpPr>
          <p:cNvPr id="28" name="">
            <a:extLst xmlns:a="http://schemas.openxmlformats.org/drawingml/2006/main">
              <a:ext uri="{FF2B5EF4-FFF2-40B4-BE49-F238E27FC236}">
                <a16:creationId xmlns:a16="http://schemas.microsoft.com/office/drawing/2014/main" id="{DCA39052-FE72-43BD-8F72-FC0A2BF42D05}"/>
              </a:ext>
            </a:extLst>
          </p:cNvPr>
          <p:cNvSpPr>
            <a:spLocks xmlns:a="http://schemas.openxmlformats.org/drawingml/2006/main" noGrp="1"/>
          </p:cNvSpPr>
          <p:nvPr/>
        </p:nvSpPr>
        <p:spPr>
          <a:xfrm xmlns:a="http://schemas.openxmlformats.org/drawingml/2006/main">
            <a:off x="9201150" y="3971925"/>
            <a:ext cx="2000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8889"/>
          </a:bodyPr>
          <a:lstStyle xmlns:a="http://schemas.openxmlformats.org/drawingml/2006/main"/>
          <a:p xmlns:a="http://schemas.openxmlformats.org/drawingml/2006/main">
            <a:pPr>
              <a:defRPr sz="1575" b="1">
                <a:solidFill>
                  <a:srgbClr val="FFFFFF"/>
                </a:solidFill>
                <a:latin typeface="Bitstream Charter"/>
                <a:ea typeface="Bitstream Charter"/>
                <a:cs typeface="Bitstream Charter"/>
              </a:defRPr>
            </a:pPr>
            <a:r>
              <a:rPr sz="1575" b="1">
                <a:solidFill>
                  <a:srgbClr val="FFFFFF"/>
                </a:solidFill>
                <a:latin typeface="Bitstream Charter"/>
                <a:ea typeface="Bitstream Charter"/>
                <a:cs typeface="Bitstream Charter"/>
              </a:rPr>
              <a:t>Tailwind + shadcn/ui</a:t>
            </a:r>
          </a:p>
        </p:txBody>
      </p:sp>
      <p:sp>
        <p:nvSpPr>
          <p:cNvPr id="29" name="">
            <a:extLst xmlns:a="http://schemas.openxmlformats.org/drawingml/2006/main">
              <a:ext uri="{FF2B5EF4-FFF2-40B4-BE49-F238E27FC236}">
                <a16:creationId xmlns:a16="http://schemas.microsoft.com/office/drawing/2014/main" id="{7BFC97C8-2661-435F-89E0-913D70BBA7CA}"/>
              </a:ext>
            </a:extLst>
          </p:cNvPr>
          <p:cNvSpPr>
            <a:spLocks xmlns:a="http://schemas.openxmlformats.org/drawingml/2006/main" noGrp="1"/>
          </p:cNvSpPr>
          <p:nvPr/>
        </p:nvSpPr>
        <p:spPr>
          <a:xfrm xmlns:a="http://schemas.openxmlformats.org/drawingml/2006/main">
            <a:off x="9201150" y="4324350"/>
            <a:ext cx="2000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0000"/>
          </a:bodyPr>
          <a:lstStyle xmlns:a="http://schemas.openxmlformats.org/drawingml/2006/main"/>
          <a:p xmlns:a="http://schemas.openxmlformats.org/drawingml/2006/main">
            <a:pPr>
              <a:defRPr sz="1125" b="0">
                <a:solidFill>
                  <a:srgbClr val="BFC8D8"/>
                </a:solidFill>
                <a:latin typeface="Bitstream Charter"/>
                <a:ea typeface="Bitstream Charter"/>
                <a:cs typeface="Bitstream Charter"/>
              </a:defRPr>
            </a:pPr>
            <a:r>
              <a:rPr sz="1125" b="0">
                <a:solidFill>
                  <a:srgbClr val="BFC8D8"/>
                </a:solidFill>
                <a:latin typeface="Bitstream Charter"/>
                <a:ea typeface="Bitstream Charter"/>
                <a:cs typeface="Bitstream Charter"/>
              </a:rPr>
              <a:t>Responsive UI</a:t>
            </a:r>
          </a:p>
        </p:txBody>
      </p:sp>
      <p:sp>
        <p:nvSpPr>
          <p:cNvPr id="30" name="">
            <a:extLst xmlns:a="http://schemas.openxmlformats.org/drawingml/2006/main">
              <a:ext uri="{FF2B5EF4-FFF2-40B4-BE49-F238E27FC236}">
                <a16:creationId xmlns:a16="http://schemas.microsoft.com/office/drawing/2014/main" id="{B746C4D1-6F3C-4183-963F-8485572CAF6D}"/>
              </a:ext>
            </a:extLst>
          </p:cNvPr>
          <p:cNvSpPr>
            <a:spLocks xmlns:a="http://schemas.openxmlformats.org/drawingml/2006/main" noGrp="1"/>
          </p:cNvSpPr>
          <p:nvPr/>
        </p:nvSpPr>
        <p:spPr>
          <a:xfrm xmlns:a="http://schemas.openxmlformats.org/drawingml/2006/main">
            <a:off x="685800" y="6496050"/>
            <a:ext cx="6191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0000"/>
          </a:bodyPr>
          <a:lstStyle xmlns:a="http://schemas.openxmlformats.org/drawingml/2006/main"/>
          <a:p xmlns:a="http://schemas.openxmlformats.org/drawingml/2006/main">
            <a:pPr>
              <a:defRPr sz="750" b="1">
                <a:solidFill>
                  <a:srgbClr val="64748B"/>
                </a:solidFill>
                <a:latin typeface="Bitstream Charter"/>
                <a:ea typeface="Bitstream Charter"/>
                <a:cs typeface="Bitstream Charter"/>
              </a:defRPr>
            </a:pPr>
            <a:r>
              <a:rPr sz="750" b="1">
                <a:solidFill>
                  <a:srgbClr val="64748B"/>
                </a:solidFill>
                <a:latin typeface="Bitstream Charter"/>
                <a:ea typeface="Bitstream Charter"/>
                <a:cs typeface="Bitstream Charter"/>
              </a:rPr>
              <a:t>BOOKSHOP SYSTEM  •  BRIGHT MULTISERVICES AND TECH SOLUTIONS</a:t>
            </a:r>
          </a:p>
        </p:txBody>
      </p:sp>
      <p:sp>
        <p:nvSpPr>
          <p:cNvPr id="31" name="">
            <a:extLst xmlns:a="http://schemas.openxmlformats.org/drawingml/2006/main">
              <a:ext uri="{FF2B5EF4-FFF2-40B4-BE49-F238E27FC236}">
                <a16:creationId xmlns:a16="http://schemas.microsoft.com/office/drawing/2014/main" id="{1A834021-11B7-40A3-9D54-DEA53AA16D28}"/>
              </a:ext>
            </a:extLst>
          </p:cNvPr>
          <p:cNvSpPr>
            <a:spLocks xmlns:a="http://schemas.openxmlformats.org/drawingml/2006/main" noGrp="1"/>
          </p:cNvSpPr>
          <p:nvPr/>
        </p:nvSpPr>
        <p:spPr>
          <a:xfrm xmlns:a="http://schemas.openxmlformats.org/drawingml/2006/main">
            <a:off x="11049000" y="6496050"/>
            <a:ext cx="4572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0000"/>
          </a:bodyPr>
          <a:lstStyle xmlns:a="http://schemas.openxmlformats.org/drawingml/2006/main"/>
          <a:p xmlns:a="http://schemas.openxmlformats.org/drawingml/2006/main">
            <a:pPr>
              <a:defRPr sz="750" b="1">
                <a:solidFill>
                  <a:srgbClr val="64748B"/>
                </a:solidFill>
                <a:latin typeface="Bitstream Charter"/>
                <a:ea typeface="Bitstream Charter"/>
                <a:cs typeface="Bitstream Charter"/>
              </a:defRPr>
            </a:pPr>
            <a:r>
              <a:rPr sz="750" b="1">
                <a:solidFill>
                  <a:srgbClr val="64748B"/>
                </a:solidFill>
                <a:latin typeface="Bitstream Charter"/>
                <a:ea typeface="Bitstream Charter"/>
                <a:cs typeface="Bitstream Charter"/>
              </a:rPr>
              <a:t>07</a:t>
            </a:r>
          </a:p>
        </p:txBody>
      </p:sp>
    </p:spTree>
    <p:extLst>
      <p:ext uri="{BB962C8B-B14F-4D97-AF65-F5344CB8AC3E}">
        <p14:creationId xmlns:p14="http://schemas.microsoft.com/office/powerpoint/2010/main" val="1346595142"/>
      </p:ext>
    </p:extLst>
  </p:cSld>
</p:sld>
</file>

<file path=ppt/slides/slide8.xml><?xml version="1.0" encoding="utf-8"?>
<p:sld xmlns:p="http://schemas.openxmlformats.org/presentationml/2006/main">
  <p:cSld>
    <p:bg>
      <p:bgPr>
        <a:solidFill xmlns:a="http://schemas.openxmlformats.org/drawingml/2006/main">
          <a:srgbClr val="F6F8FC"/>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558D5DD1-FF86-409E-8D63-286F075A0B17}"/>
              </a:ext>
            </a:extLst>
          </p:cNvPr>
          <p:cNvSpPr>
            <a:spLocks xmlns:a="http://schemas.openxmlformats.org/drawingml/2006/main" noGrp="1"/>
          </p:cNvSpPr>
          <p:nvPr/>
        </p:nvSpPr>
        <p:spPr>
          <a:xfrm xmlns:a="http://schemas.openxmlformats.org/drawingml/2006/main">
            <a:off x="685800" y="361950"/>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308"/>
          </a:bodyPr>
          <a:lstStyle xmlns:a="http://schemas.openxmlformats.org/drawingml/2006/main"/>
          <a:p xmlns:a="http://schemas.openxmlformats.org/drawingml/2006/main">
            <a:pPr>
              <a:defRPr sz="975" b="1">
                <a:solidFill>
                  <a:srgbClr val="7759E8"/>
                </a:solidFill>
                <a:latin typeface="Bitstream Charter"/>
                <a:ea typeface="Bitstream Charter"/>
                <a:cs typeface="Bitstream Charter"/>
              </a:defRPr>
            </a:pPr>
            <a:r>
              <a:rPr sz="975" b="1">
                <a:solidFill>
                  <a:srgbClr val="7759E8"/>
                </a:solidFill>
                <a:latin typeface="Bitstream Charter"/>
                <a:ea typeface="Bitstream Charter"/>
                <a:cs typeface="Bitstream Charter"/>
              </a:rPr>
              <a:t>07 / IMPLEMENTED WORKFLOW</a:t>
            </a:r>
          </a:p>
        </p:txBody>
      </p:sp>
      <p:sp>
        <p:nvSpPr>
          <p:cNvPr id="2" name="">
            <a:extLst xmlns:a="http://schemas.openxmlformats.org/drawingml/2006/main">
              <a:ext uri="{FF2B5EF4-FFF2-40B4-BE49-F238E27FC236}">
                <a16:creationId xmlns:a16="http://schemas.microsoft.com/office/drawing/2014/main" id="{2B3C38E0-91B4-4BC7-9428-041FA526460C}"/>
              </a:ext>
            </a:extLst>
          </p:cNvPr>
          <p:cNvSpPr>
            <a:spLocks xmlns:a="http://schemas.openxmlformats.org/drawingml/2006/main" noGrp="1"/>
          </p:cNvSpPr>
          <p:nvPr/>
        </p:nvSpPr>
        <p:spPr>
          <a:xfrm xmlns:a="http://schemas.openxmlformats.org/drawingml/2006/main">
            <a:off x="685800" y="647700"/>
            <a:ext cx="108204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625" b="1">
                <a:solidFill>
                  <a:srgbClr val="14233A"/>
                </a:solidFill>
                <a:latin typeface="Bitstream Charter"/>
                <a:ea typeface="Bitstream Charter"/>
                <a:cs typeface="Bitstream Charter"/>
              </a:defRPr>
            </a:pPr>
            <a:r>
              <a:rPr sz="2625" b="1">
                <a:solidFill>
                  <a:srgbClr val="14233A"/>
                </a:solidFill>
                <a:latin typeface="Bitstream Charter"/>
                <a:ea typeface="Bitstream Charter"/>
                <a:cs typeface="Bitstream Charter"/>
              </a:rPr>
              <a:t>One transaction updates every related activity</a:t>
            </a:r>
          </a:p>
        </p:txBody>
      </p:sp>
      <p:sp>
        <p:nvSpPr>
          <p:cNvPr id="3" name="">
            <a:extLst xmlns:a="http://schemas.openxmlformats.org/drawingml/2006/main">
              <a:ext uri="{FF2B5EF4-FFF2-40B4-BE49-F238E27FC236}">
                <a16:creationId xmlns:a16="http://schemas.microsoft.com/office/drawing/2014/main" id="{F1F0C7EC-DF33-441B-9018-106535CEECCF}"/>
              </a:ext>
            </a:extLst>
          </p:cNvPr>
          <p:cNvSpPr>
            <a:spLocks xmlns:a="http://schemas.openxmlformats.org/drawingml/2006/main" noGrp="1"/>
          </p:cNvSpPr>
          <p:nvPr/>
        </p:nvSpPr>
        <p:spPr>
          <a:xfrm xmlns:a="http://schemas.openxmlformats.org/drawingml/2006/main">
            <a:off x="685800" y="1238250"/>
            <a:ext cx="10287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b="0">
                <a:solidFill>
                  <a:srgbClr val="64748B"/>
                </a:solidFill>
                <a:latin typeface="Bitstream Charter"/>
                <a:ea typeface="Bitstream Charter"/>
                <a:cs typeface="Bitstream Charter"/>
              </a:defRPr>
            </a:pPr>
            <a:r>
              <a:rPr sz="1275" b="0">
                <a:solidFill>
                  <a:srgbClr val="64748B"/>
                </a:solidFill>
                <a:latin typeface="Bitstream Charter"/>
                <a:ea typeface="Bitstream Charter"/>
                <a:cs typeface="Bitstream Charter"/>
              </a:rPr>
              <a:t>The system supports both walk-in sales and online orders through a shared database.</a:t>
            </a:r>
          </a:p>
        </p:txBody>
      </p:sp>
      <p:pic>
        <p:nvPicPr>
          <p:cNvPr id="29" name=""/>
          <p:cNvPicPr>
            <a:picLocks xmlns:a="http://schemas.openxmlformats.org/drawingml/2006/main" noChangeAspect="1"/>
          </p:cNvPicPr>
          <p:nvPr/>
        </p:nvPicPr>
        <p:blipFill>
          <a:blip xmlns:r="http://schemas.openxmlformats.org/officeDocument/2006/relationships" xmlns:a="http://schemas.openxmlformats.org/drawingml/2006/main" r:embed="Rbef4e2a3dea34c90"/>
          <a:srcRect xmlns:a="http://schemas.openxmlformats.org/drawingml/2006/main" l="6165" t="0" r="6165" b="0"/>
          <a:stretch xmlns:a="http://schemas.openxmlformats.org/drawingml/2006/main">
            <a:fillRect l="0" t="0" r="0" b="0"/>
          </a:stretch>
        </p:blipFill>
        <p:spPr>
          <a:xfrm xmlns:a="http://schemas.openxmlformats.org/drawingml/2006/main">
            <a:off x="685800" y="1828800"/>
            <a:ext cx="4953000" cy="2781300"/>
          </a:xfrm>
          <a:prstGeom xmlns:a="http://schemas.openxmlformats.org/drawingml/2006/main" prst="roundRect">
            <a:avLst>
              <a:gd name="adj" fmla="val 4795"/>
            </a:avLst>
          </a:prstGeom>
        </p:spPr>
      </p:pic>
      <p:pic>
        <p:nvPicPr>
          <p:cNvPr id="30" name=""/>
          <p:cNvPicPr>
            <a:picLocks xmlns:a="http://schemas.openxmlformats.org/drawingml/2006/main" noChangeAspect="1"/>
          </p:cNvPicPr>
          <p:nvPr/>
        </p:nvPicPr>
        <p:blipFill>
          <a:blip xmlns:r="http://schemas.openxmlformats.org/officeDocument/2006/relationships" xmlns:a="http://schemas.openxmlformats.org/drawingml/2006/main" r:embed="R34efd8769862418a"/>
          <a:srcRect xmlns:a="http://schemas.openxmlformats.org/drawingml/2006/main" l="2673" t="0" r="2673" b="0"/>
          <a:stretch xmlns:a="http://schemas.openxmlformats.org/drawingml/2006/main">
            <a:fillRect l="0" t="0" r="0" b="0"/>
          </a:stretch>
        </p:blipFill>
        <p:spPr>
          <a:xfrm xmlns:a="http://schemas.openxmlformats.org/drawingml/2006/main">
            <a:off x="5981700" y="1828800"/>
            <a:ext cx="5334000" cy="2781300"/>
          </a:xfrm>
          <a:prstGeom xmlns:a="http://schemas.openxmlformats.org/drawingml/2006/main" prst="roundRect">
            <a:avLst>
              <a:gd name="adj" fmla="val 4795"/>
            </a:avLst>
          </a:prstGeom>
        </p:spPr>
      </p:pic>
      <p:sp>
        <p:nvSpPr>
          <p:cNvPr id="6" name="">
            <a:extLst xmlns:a="http://schemas.openxmlformats.org/drawingml/2006/main">
              <a:ext uri="{FF2B5EF4-FFF2-40B4-BE49-F238E27FC236}">
                <a16:creationId xmlns:a16="http://schemas.microsoft.com/office/drawing/2014/main" id="{76F13DBA-F5AD-4A6B-B6D0-475F7FC33097}"/>
              </a:ext>
            </a:extLst>
          </p:cNvPr>
          <p:cNvSpPr>
            <a:spLocks xmlns:a="http://schemas.openxmlformats.org/drawingml/2006/main" noGrp="1"/>
          </p:cNvSpPr>
          <p:nvPr/>
        </p:nvSpPr>
        <p:spPr>
          <a:xfrm xmlns:a="http://schemas.openxmlformats.org/drawingml/2006/main">
            <a:off x="685800" y="5048250"/>
            <a:ext cx="1562100" cy="666750"/>
          </a:xfrm>
          <a:prstGeom xmlns:a="http://schemas.openxmlformats.org/drawingml/2006/main" prst="roundRect">
            <a:avLst>
              <a:gd name="adj" fmla="val 25714"/>
            </a:avLst>
          </a:prstGeom>
          <a:solidFill xmlns:a="http://schemas.openxmlformats.org/drawingml/2006/main">
            <a:srgbClr val="FFFFFF"/>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F66F0CED-08D2-48A4-A65C-CF384CF4E315}"/>
              </a:ext>
            </a:extLst>
          </p:cNvPr>
          <p:cNvSpPr>
            <a:spLocks xmlns:a="http://schemas.openxmlformats.org/drawingml/2006/main" noGrp="1"/>
          </p:cNvSpPr>
          <p:nvPr/>
        </p:nvSpPr>
        <p:spPr>
          <a:xfrm xmlns:a="http://schemas.openxmlformats.org/drawingml/2006/main">
            <a:off x="800100" y="5143500"/>
            <a:ext cx="2667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3412"/>
          </a:bodyPr>
          <a:lstStyle xmlns:a="http://schemas.openxmlformats.org/drawingml/2006/main"/>
          <a:p xmlns:a="http://schemas.openxmlformats.org/drawingml/2006/main">
            <a:pPr>
              <a:defRPr sz="900" b="1">
                <a:solidFill>
                  <a:srgbClr val="7759E8"/>
                </a:solidFill>
                <a:latin typeface="Bitstream Charter"/>
                <a:ea typeface="Bitstream Charter"/>
                <a:cs typeface="Bitstream Charter"/>
              </a:defRPr>
            </a:pPr>
            <a:r>
              <a:rPr sz="900" b="1">
                <a:solidFill>
                  <a:srgbClr val="7759E8"/>
                </a:solidFill>
                <a:latin typeface="Bitstream Charter"/>
                <a:ea typeface="Bitstream Charter"/>
                <a:cs typeface="Bitstream Charter"/>
              </a:rPr>
              <a:t>01</a:t>
            </a:r>
          </a:p>
        </p:txBody>
      </p:sp>
      <p:sp>
        <p:nvSpPr>
          <p:cNvPr id="8" name="">
            <a:extLst xmlns:a="http://schemas.openxmlformats.org/drawingml/2006/main">
              <a:ext uri="{FF2B5EF4-FFF2-40B4-BE49-F238E27FC236}">
                <a16:creationId xmlns:a16="http://schemas.microsoft.com/office/drawing/2014/main" id="{3E2770FE-237A-43F9-A61B-2F8E597B3462}"/>
              </a:ext>
            </a:extLst>
          </p:cNvPr>
          <p:cNvSpPr>
            <a:spLocks xmlns:a="http://schemas.openxmlformats.org/drawingml/2006/main" noGrp="1"/>
          </p:cNvSpPr>
          <p:nvPr/>
        </p:nvSpPr>
        <p:spPr>
          <a:xfrm xmlns:a="http://schemas.openxmlformats.org/drawingml/2006/main">
            <a:off x="800100" y="5353050"/>
            <a:ext cx="1333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9461"/>
          </a:bodyPr>
          <a:lstStyle xmlns:a="http://schemas.openxmlformats.org/drawingml/2006/main"/>
          <a:p xmlns:a="http://schemas.openxmlformats.org/drawingml/2006/main">
            <a:pPr>
              <a:defRPr sz="1050" b="1">
                <a:solidFill>
                  <a:srgbClr val="14233A"/>
                </a:solidFill>
                <a:latin typeface="Bitstream Charter"/>
                <a:ea typeface="Bitstream Charter"/>
                <a:cs typeface="Bitstream Charter"/>
              </a:defRPr>
            </a:pPr>
            <a:r>
              <a:rPr sz="1050" b="1">
                <a:solidFill>
                  <a:srgbClr val="14233A"/>
                </a:solidFill>
                <a:latin typeface="Bitstream Charter"/>
                <a:ea typeface="Bitstream Charter"/>
                <a:cs typeface="Bitstream Charter"/>
              </a:rPr>
              <a:t>Customer selects books</a:t>
            </a:r>
          </a:p>
        </p:txBody>
      </p:sp>
      <p:sp>
        <p:nvSpPr>
          <p:cNvPr id="9" name="">
            <a:extLst xmlns:a="http://schemas.openxmlformats.org/drawingml/2006/main">
              <a:ext uri="{FF2B5EF4-FFF2-40B4-BE49-F238E27FC236}">
                <a16:creationId xmlns:a16="http://schemas.microsoft.com/office/drawing/2014/main" id="{DB22B7B8-B608-4007-BE20-A3DA82E29081}"/>
              </a:ext>
            </a:extLst>
          </p:cNvPr>
          <p:cNvSpPr>
            <a:spLocks xmlns:a="http://schemas.openxmlformats.org/drawingml/2006/main" noGrp="1"/>
          </p:cNvSpPr>
          <p:nvPr/>
        </p:nvSpPr>
        <p:spPr>
          <a:xfrm xmlns:a="http://schemas.openxmlformats.org/drawingml/2006/main">
            <a:off x="2486025" y="5048250"/>
            <a:ext cx="1562100" cy="666750"/>
          </a:xfrm>
          <a:prstGeom xmlns:a="http://schemas.openxmlformats.org/drawingml/2006/main" prst="roundRect">
            <a:avLst>
              <a:gd name="adj" fmla="val 25714"/>
            </a:avLst>
          </a:prstGeom>
          <a:solidFill xmlns:a="http://schemas.openxmlformats.org/drawingml/2006/main">
            <a:srgbClr val="EEEAFE"/>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6457A540-90A5-4BD9-8CA4-791D99EE1D6A}"/>
              </a:ext>
            </a:extLst>
          </p:cNvPr>
          <p:cNvSpPr>
            <a:spLocks xmlns:a="http://schemas.openxmlformats.org/drawingml/2006/main" noGrp="1"/>
          </p:cNvSpPr>
          <p:nvPr/>
        </p:nvSpPr>
        <p:spPr>
          <a:xfrm xmlns:a="http://schemas.openxmlformats.org/drawingml/2006/main">
            <a:off x="2600325" y="5143500"/>
            <a:ext cx="2667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3412"/>
          </a:bodyPr>
          <a:lstStyle xmlns:a="http://schemas.openxmlformats.org/drawingml/2006/main"/>
          <a:p xmlns:a="http://schemas.openxmlformats.org/drawingml/2006/main">
            <a:pPr>
              <a:defRPr sz="900" b="1">
                <a:solidFill>
                  <a:srgbClr val="7759E8"/>
                </a:solidFill>
                <a:latin typeface="Bitstream Charter"/>
                <a:ea typeface="Bitstream Charter"/>
                <a:cs typeface="Bitstream Charter"/>
              </a:defRPr>
            </a:pPr>
            <a:r>
              <a:rPr sz="900" b="1">
                <a:solidFill>
                  <a:srgbClr val="7759E8"/>
                </a:solidFill>
                <a:latin typeface="Bitstream Charter"/>
                <a:ea typeface="Bitstream Charter"/>
                <a:cs typeface="Bitstream Charter"/>
              </a:rPr>
              <a:t>02</a:t>
            </a:r>
          </a:p>
        </p:txBody>
      </p:sp>
      <p:sp>
        <p:nvSpPr>
          <p:cNvPr id="11" name="">
            <a:extLst xmlns:a="http://schemas.openxmlformats.org/drawingml/2006/main">
              <a:ext uri="{FF2B5EF4-FFF2-40B4-BE49-F238E27FC236}">
                <a16:creationId xmlns:a16="http://schemas.microsoft.com/office/drawing/2014/main" id="{40764FFA-6E11-4E84-BEEB-205D089C3749}"/>
              </a:ext>
            </a:extLst>
          </p:cNvPr>
          <p:cNvSpPr>
            <a:spLocks xmlns:a="http://schemas.openxmlformats.org/drawingml/2006/main" noGrp="1"/>
          </p:cNvSpPr>
          <p:nvPr/>
        </p:nvSpPr>
        <p:spPr>
          <a:xfrm xmlns:a="http://schemas.openxmlformats.org/drawingml/2006/main">
            <a:off x="2600325" y="5353050"/>
            <a:ext cx="1333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4996"/>
          </a:bodyPr>
          <a:lstStyle xmlns:a="http://schemas.openxmlformats.org/drawingml/2006/main"/>
          <a:p xmlns:a="http://schemas.openxmlformats.org/drawingml/2006/main">
            <a:pPr>
              <a:defRPr sz="1050" b="1">
                <a:solidFill>
                  <a:srgbClr val="14233A"/>
                </a:solidFill>
                <a:latin typeface="Bitstream Charter"/>
                <a:ea typeface="Bitstream Charter"/>
                <a:cs typeface="Bitstream Charter"/>
              </a:defRPr>
            </a:pPr>
            <a:r>
              <a:rPr sz="1050" b="1">
                <a:solidFill>
                  <a:srgbClr val="14233A"/>
                </a:solidFill>
                <a:latin typeface="Bitstream Charter"/>
                <a:ea typeface="Bitstream Charter"/>
                <a:cs typeface="Bitstream Charter"/>
              </a:rPr>
              <a:t>Sale or order is recorded</a:t>
            </a:r>
          </a:p>
        </p:txBody>
      </p:sp>
      <p:sp>
        <p:nvSpPr>
          <p:cNvPr id="12" name="">
            <a:extLst xmlns:a="http://schemas.openxmlformats.org/drawingml/2006/main">
              <a:ext uri="{FF2B5EF4-FFF2-40B4-BE49-F238E27FC236}">
                <a16:creationId xmlns:a16="http://schemas.microsoft.com/office/drawing/2014/main" id="{2B90816E-A0F0-49DD-9076-D38A9C103BDE}"/>
              </a:ext>
            </a:extLst>
          </p:cNvPr>
          <p:cNvSpPr>
            <a:spLocks xmlns:a="http://schemas.openxmlformats.org/drawingml/2006/main" noGrp="1"/>
          </p:cNvSpPr>
          <p:nvPr/>
        </p:nvSpPr>
        <p:spPr>
          <a:xfrm xmlns:a="http://schemas.openxmlformats.org/drawingml/2006/main">
            <a:off x="4286250" y="5048250"/>
            <a:ext cx="1562100" cy="666750"/>
          </a:xfrm>
          <a:prstGeom xmlns:a="http://schemas.openxmlformats.org/drawingml/2006/main" prst="roundRect">
            <a:avLst>
              <a:gd name="adj" fmla="val 25714"/>
            </a:avLst>
          </a:prstGeom>
          <a:solidFill xmlns:a="http://schemas.openxmlformats.org/drawingml/2006/main">
            <a:srgbClr val="FFFFFF"/>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FAD2CE0A-D23E-4037-8825-99D71789F161}"/>
              </a:ext>
            </a:extLst>
          </p:cNvPr>
          <p:cNvSpPr>
            <a:spLocks xmlns:a="http://schemas.openxmlformats.org/drawingml/2006/main" noGrp="1"/>
          </p:cNvSpPr>
          <p:nvPr/>
        </p:nvSpPr>
        <p:spPr>
          <a:xfrm xmlns:a="http://schemas.openxmlformats.org/drawingml/2006/main">
            <a:off x="4400550" y="5143500"/>
            <a:ext cx="2667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3412"/>
          </a:bodyPr>
          <a:lstStyle xmlns:a="http://schemas.openxmlformats.org/drawingml/2006/main"/>
          <a:p xmlns:a="http://schemas.openxmlformats.org/drawingml/2006/main">
            <a:pPr>
              <a:defRPr sz="900" b="1">
                <a:solidFill>
                  <a:srgbClr val="7759E8"/>
                </a:solidFill>
                <a:latin typeface="Bitstream Charter"/>
                <a:ea typeface="Bitstream Charter"/>
                <a:cs typeface="Bitstream Charter"/>
              </a:defRPr>
            </a:pPr>
            <a:r>
              <a:rPr sz="900" b="1">
                <a:solidFill>
                  <a:srgbClr val="7759E8"/>
                </a:solidFill>
                <a:latin typeface="Bitstream Charter"/>
                <a:ea typeface="Bitstream Charter"/>
                <a:cs typeface="Bitstream Charter"/>
              </a:rPr>
              <a:t>03</a:t>
            </a:r>
          </a:p>
        </p:txBody>
      </p:sp>
      <p:sp>
        <p:nvSpPr>
          <p:cNvPr id="14" name="">
            <a:extLst xmlns:a="http://schemas.openxmlformats.org/drawingml/2006/main">
              <a:ext uri="{FF2B5EF4-FFF2-40B4-BE49-F238E27FC236}">
                <a16:creationId xmlns:a16="http://schemas.microsoft.com/office/drawing/2014/main" id="{826C5A0E-7730-47E5-BD92-35349F38DC26}"/>
              </a:ext>
            </a:extLst>
          </p:cNvPr>
          <p:cNvSpPr>
            <a:spLocks xmlns:a="http://schemas.openxmlformats.org/drawingml/2006/main" noGrp="1"/>
          </p:cNvSpPr>
          <p:nvPr/>
        </p:nvSpPr>
        <p:spPr>
          <a:xfrm xmlns:a="http://schemas.openxmlformats.org/drawingml/2006/main">
            <a:off x="4400550" y="5353050"/>
            <a:ext cx="1333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6268"/>
          </a:bodyPr>
          <a:lstStyle xmlns:a="http://schemas.openxmlformats.org/drawingml/2006/main"/>
          <a:p xmlns:a="http://schemas.openxmlformats.org/drawingml/2006/main">
            <a:pPr>
              <a:defRPr sz="1050" b="1">
                <a:solidFill>
                  <a:srgbClr val="14233A"/>
                </a:solidFill>
                <a:latin typeface="Bitstream Charter"/>
                <a:ea typeface="Bitstream Charter"/>
                <a:cs typeface="Bitstream Charter"/>
              </a:defRPr>
            </a:pPr>
            <a:r>
              <a:rPr sz="1050" b="1">
                <a:solidFill>
                  <a:srgbClr val="14233A"/>
                </a:solidFill>
                <a:latin typeface="Bitstream Charter"/>
                <a:ea typeface="Bitstream Charter"/>
                <a:cs typeface="Bitstream Charter"/>
              </a:rPr>
              <a:t>Payment is registered</a:t>
            </a:r>
          </a:p>
        </p:txBody>
      </p:sp>
      <p:sp>
        <p:nvSpPr>
          <p:cNvPr id="15" name="">
            <a:extLst xmlns:a="http://schemas.openxmlformats.org/drawingml/2006/main">
              <a:ext uri="{FF2B5EF4-FFF2-40B4-BE49-F238E27FC236}">
                <a16:creationId xmlns:a16="http://schemas.microsoft.com/office/drawing/2014/main" id="{42EC1B87-B3F7-4869-A0C3-4BA0930572E6}"/>
              </a:ext>
            </a:extLst>
          </p:cNvPr>
          <p:cNvSpPr>
            <a:spLocks xmlns:a="http://schemas.openxmlformats.org/drawingml/2006/main" noGrp="1"/>
          </p:cNvSpPr>
          <p:nvPr/>
        </p:nvSpPr>
        <p:spPr>
          <a:xfrm xmlns:a="http://schemas.openxmlformats.org/drawingml/2006/main">
            <a:off x="6086475" y="5048250"/>
            <a:ext cx="1562100" cy="666750"/>
          </a:xfrm>
          <a:prstGeom xmlns:a="http://schemas.openxmlformats.org/drawingml/2006/main" prst="roundRect">
            <a:avLst>
              <a:gd name="adj" fmla="val 25714"/>
            </a:avLst>
          </a:prstGeom>
          <a:solidFill xmlns:a="http://schemas.openxmlformats.org/drawingml/2006/main">
            <a:srgbClr val="EEEAFE"/>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5C7D6867-C3B8-4BA2-A588-CA0B6703000C}"/>
              </a:ext>
            </a:extLst>
          </p:cNvPr>
          <p:cNvSpPr>
            <a:spLocks xmlns:a="http://schemas.openxmlformats.org/drawingml/2006/main" noGrp="1"/>
          </p:cNvSpPr>
          <p:nvPr/>
        </p:nvSpPr>
        <p:spPr>
          <a:xfrm xmlns:a="http://schemas.openxmlformats.org/drawingml/2006/main">
            <a:off x="6200775" y="5143500"/>
            <a:ext cx="2667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3412"/>
          </a:bodyPr>
          <a:lstStyle xmlns:a="http://schemas.openxmlformats.org/drawingml/2006/main"/>
          <a:p xmlns:a="http://schemas.openxmlformats.org/drawingml/2006/main">
            <a:pPr>
              <a:defRPr sz="900" b="1">
                <a:solidFill>
                  <a:srgbClr val="7759E8"/>
                </a:solidFill>
                <a:latin typeface="Bitstream Charter"/>
                <a:ea typeface="Bitstream Charter"/>
                <a:cs typeface="Bitstream Charter"/>
              </a:defRPr>
            </a:pPr>
            <a:r>
              <a:rPr sz="900" b="1">
                <a:solidFill>
                  <a:srgbClr val="7759E8"/>
                </a:solidFill>
                <a:latin typeface="Bitstream Charter"/>
                <a:ea typeface="Bitstream Charter"/>
                <a:cs typeface="Bitstream Charter"/>
              </a:rPr>
              <a:t>04</a:t>
            </a:r>
          </a:p>
        </p:txBody>
      </p:sp>
      <p:sp>
        <p:nvSpPr>
          <p:cNvPr id="17" name="">
            <a:extLst xmlns:a="http://schemas.openxmlformats.org/drawingml/2006/main">
              <a:ext uri="{FF2B5EF4-FFF2-40B4-BE49-F238E27FC236}">
                <a16:creationId xmlns:a16="http://schemas.microsoft.com/office/drawing/2014/main" id="{A1ABAFF8-4F2B-48C2-A5CC-400A8779EB61}"/>
              </a:ext>
            </a:extLst>
          </p:cNvPr>
          <p:cNvSpPr>
            <a:spLocks xmlns:a="http://schemas.openxmlformats.org/drawingml/2006/main" noGrp="1"/>
          </p:cNvSpPr>
          <p:nvPr/>
        </p:nvSpPr>
        <p:spPr>
          <a:xfrm xmlns:a="http://schemas.openxmlformats.org/drawingml/2006/main">
            <a:off x="6200775" y="5353050"/>
            <a:ext cx="1333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050" b="1">
                <a:solidFill>
                  <a:srgbClr val="14233A"/>
                </a:solidFill>
                <a:latin typeface="Bitstream Charter"/>
                <a:ea typeface="Bitstream Charter"/>
                <a:cs typeface="Bitstream Charter"/>
              </a:defRPr>
            </a:pPr>
            <a:r>
              <a:rPr sz="1050" b="1">
                <a:solidFill>
                  <a:srgbClr val="14233A"/>
                </a:solidFill>
                <a:latin typeface="Bitstream Charter"/>
                <a:ea typeface="Bitstream Charter"/>
                <a:cs typeface="Bitstream Charter"/>
              </a:rPr>
              <a:t>Inventory updates</a:t>
            </a:r>
          </a:p>
        </p:txBody>
      </p:sp>
      <p:sp>
        <p:nvSpPr>
          <p:cNvPr id="18" name="">
            <a:extLst xmlns:a="http://schemas.openxmlformats.org/drawingml/2006/main">
              <a:ext uri="{FF2B5EF4-FFF2-40B4-BE49-F238E27FC236}">
                <a16:creationId xmlns:a16="http://schemas.microsoft.com/office/drawing/2014/main" id="{DAC2F892-4F50-4190-A32E-D16BDC828911}"/>
              </a:ext>
            </a:extLst>
          </p:cNvPr>
          <p:cNvSpPr>
            <a:spLocks xmlns:a="http://schemas.openxmlformats.org/drawingml/2006/main" noGrp="1"/>
          </p:cNvSpPr>
          <p:nvPr/>
        </p:nvSpPr>
        <p:spPr>
          <a:xfrm xmlns:a="http://schemas.openxmlformats.org/drawingml/2006/main">
            <a:off x="7886700" y="5048250"/>
            <a:ext cx="1562100" cy="666750"/>
          </a:xfrm>
          <a:prstGeom xmlns:a="http://schemas.openxmlformats.org/drawingml/2006/main" prst="roundRect">
            <a:avLst>
              <a:gd name="adj" fmla="val 25714"/>
            </a:avLst>
          </a:prstGeom>
          <a:solidFill xmlns:a="http://schemas.openxmlformats.org/drawingml/2006/main">
            <a:srgbClr val="FFFFFF"/>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0EF708E0-5EC2-4A36-BE1D-029936C341C6}"/>
              </a:ext>
            </a:extLst>
          </p:cNvPr>
          <p:cNvSpPr>
            <a:spLocks xmlns:a="http://schemas.openxmlformats.org/drawingml/2006/main" noGrp="1"/>
          </p:cNvSpPr>
          <p:nvPr/>
        </p:nvSpPr>
        <p:spPr>
          <a:xfrm xmlns:a="http://schemas.openxmlformats.org/drawingml/2006/main">
            <a:off x="8001000" y="5143500"/>
            <a:ext cx="2667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3412"/>
          </a:bodyPr>
          <a:lstStyle xmlns:a="http://schemas.openxmlformats.org/drawingml/2006/main"/>
          <a:p xmlns:a="http://schemas.openxmlformats.org/drawingml/2006/main">
            <a:pPr>
              <a:defRPr sz="900" b="1">
                <a:solidFill>
                  <a:srgbClr val="7759E8"/>
                </a:solidFill>
                <a:latin typeface="Bitstream Charter"/>
                <a:ea typeface="Bitstream Charter"/>
                <a:cs typeface="Bitstream Charter"/>
              </a:defRPr>
            </a:pPr>
            <a:r>
              <a:rPr sz="900" b="1">
                <a:solidFill>
                  <a:srgbClr val="7759E8"/>
                </a:solidFill>
                <a:latin typeface="Bitstream Charter"/>
                <a:ea typeface="Bitstream Charter"/>
                <a:cs typeface="Bitstream Charter"/>
              </a:rPr>
              <a:t>05</a:t>
            </a:r>
          </a:p>
        </p:txBody>
      </p:sp>
      <p:sp>
        <p:nvSpPr>
          <p:cNvPr id="20" name="">
            <a:extLst xmlns:a="http://schemas.openxmlformats.org/drawingml/2006/main">
              <a:ext uri="{FF2B5EF4-FFF2-40B4-BE49-F238E27FC236}">
                <a16:creationId xmlns:a16="http://schemas.microsoft.com/office/drawing/2014/main" id="{F403F0BA-0C86-45A7-9641-DBDFEB9E3779}"/>
              </a:ext>
            </a:extLst>
          </p:cNvPr>
          <p:cNvSpPr>
            <a:spLocks xmlns:a="http://schemas.openxmlformats.org/drawingml/2006/main" noGrp="1"/>
          </p:cNvSpPr>
          <p:nvPr/>
        </p:nvSpPr>
        <p:spPr>
          <a:xfrm xmlns:a="http://schemas.openxmlformats.org/drawingml/2006/main">
            <a:off x="8001000" y="5353050"/>
            <a:ext cx="1333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4868"/>
          </a:bodyPr>
          <a:lstStyle xmlns:a="http://schemas.openxmlformats.org/drawingml/2006/main"/>
          <a:p xmlns:a="http://schemas.openxmlformats.org/drawingml/2006/main">
            <a:pPr>
              <a:defRPr sz="1050" b="1">
                <a:solidFill>
                  <a:srgbClr val="14233A"/>
                </a:solidFill>
                <a:latin typeface="Bitstream Charter"/>
                <a:ea typeface="Bitstream Charter"/>
                <a:cs typeface="Bitstream Charter"/>
              </a:defRPr>
            </a:pPr>
            <a:r>
              <a:rPr sz="1050" b="1">
                <a:solidFill>
                  <a:srgbClr val="14233A"/>
                </a:solidFill>
                <a:latin typeface="Bitstream Charter"/>
                <a:ea typeface="Bitstream Charter"/>
                <a:cs typeface="Bitstream Charter"/>
              </a:rPr>
              <a:t>Delivery progresses</a:t>
            </a:r>
          </a:p>
        </p:txBody>
      </p:sp>
      <p:sp>
        <p:nvSpPr>
          <p:cNvPr id="21" name="">
            <a:extLst xmlns:a="http://schemas.openxmlformats.org/drawingml/2006/main">
              <a:ext uri="{FF2B5EF4-FFF2-40B4-BE49-F238E27FC236}">
                <a16:creationId xmlns:a16="http://schemas.microsoft.com/office/drawing/2014/main" id="{E68C12A2-6980-4FF9-B566-5C2E72348512}"/>
              </a:ext>
            </a:extLst>
          </p:cNvPr>
          <p:cNvSpPr>
            <a:spLocks xmlns:a="http://schemas.openxmlformats.org/drawingml/2006/main" noGrp="1"/>
          </p:cNvSpPr>
          <p:nvPr/>
        </p:nvSpPr>
        <p:spPr>
          <a:xfrm xmlns:a="http://schemas.openxmlformats.org/drawingml/2006/main">
            <a:off x="9686925" y="5048250"/>
            <a:ext cx="1562100" cy="666750"/>
          </a:xfrm>
          <a:prstGeom xmlns:a="http://schemas.openxmlformats.org/drawingml/2006/main" prst="roundRect">
            <a:avLst>
              <a:gd name="adj" fmla="val 25714"/>
            </a:avLst>
          </a:prstGeom>
          <a:solidFill xmlns:a="http://schemas.openxmlformats.org/drawingml/2006/main">
            <a:srgbClr val="EEEAFE"/>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D90F2141-710A-425A-947D-901DB77E2012}"/>
              </a:ext>
            </a:extLst>
          </p:cNvPr>
          <p:cNvSpPr>
            <a:spLocks xmlns:a="http://schemas.openxmlformats.org/drawingml/2006/main" noGrp="1"/>
          </p:cNvSpPr>
          <p:nvPr/>
        </p:nvSpPr>
        <p:spPr>
          <a:xfrm xmlns:a="http://schemas.openxmlformats.org/drawingml/2006/main">
            <a:off x="9801225" y="5143500"/>
            <a:ext cx="2667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3412"/>
          </a:bodyPr>
          <a:lstStyle xmlns:a="http://schemas.openxmlformats.org/drawingml/2006/main"/>
          <a:p xmlns:a="http://schemas.openxmlformats.org/drawingml/2006/main">
            <a:pPr>
              <a:defRPr sz="900" b="1">
                <a:solidFill>
                  <a:srgbClr val="7759E8"/>
                </a:solidFill>
                <a:latin typeface="Bitstream Charter"/>
                <a:ea typeface="Bitstream Charter"/>
                <a:cs typeface="Bitstream Charter"/>
              </a:defRPr>
            </a:pPr>
            <a:r>
              <a:rPr sz="900" b="1">
                <a:solidFill>
                  <a:srgbClr val="7759E8"/>
                </a:solidFill>
                <a:latin typeface="Bitstream Charter"/>
                <a:ea typeface="Bitstream Charter"/>
                <a:cs typeface="Bitstream Charter"/>
              </a:rPr>
              <a:t>06</a:t>
            </a:r>
          </a:p>
        </p:txBody>
      </p:sp>
      <p:sp>
        <p:nvSpPr>
          <p:cNvPr id="23" name="">
            <a:extLst xmlns:a="http://schemas.openxmlformats.org/drawingml/2006/main">
              <a:ext uri="{FF2B5EF4-FFF2-40B4-BE49-F238E27FC236}">
                <a16:creationId xmlns:a16="http://schemas.microsoft.com/office/drawing/2014/main" id="{CE661572-7AF5-4FAB-8BEC-7696D257B14E}"/>
              </a:ext>
            </a:extLst>
          </p:cNvPr>
          <p:cNvSpPr>
            <a:spLocks xmlns:a="http://schemas.openxmlformats.org/drawingml/2006/main" noGrp="1"/>
          </p:cNvSpPr>
          <p:nvPr/>
        </p:nvSpPr>
        <p:spPr>
          <a:xfrm xmlns:a="http://schemas.openxmlformats.org/drawingml/2006/main">
            <a:off x="9801225" y="5353050"/>
            <a:ext cx="1333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050" b="1">
                <a:solidFill>
                  <a:srgbClr val="14233A"/>
                </a:solidFill>
                <a:latin typeface="Bitstream Charter"/>
                <a:ea typeface="Bitstream Charter"/>
                <a:cs typeface="Bitstream Charter"/>
              </a:defRPr>
            </a:pPr>
            <a:r>
              <a:rPr sz="1050" b="1">
                <a:solidFill>
                  <a:srgbClr val="14233A"/>
                </a:solidFill>
                <a:latin typeface="Bitstream Charter"/>
                <a:ea typeface="Bitstream Charter"/>
                <a:cs typeface="Bitstream Charter"/>
              </a:rPr>
              <a:t>Reports refresh</a:t>
            </a:r>
          </a:p>
        </p:txBody>
      </p:sp>
      <p:sp>
        <p:nvSpPr>
          <p:cNvPr id="24" name="">
            <a:extLst xmlns:a="http://schemas.openxmlformats.org/drawingml/2006/main">
              <a:ext uri="{FF2B5EF4-FFF2-40B4-BE49-F238E27FC236}">
                <a16:creationId xmlns:a16="http://schemas.microsoft.com/office/drawing/2014/main" id="{15CB543A-C4C9-4DAB-A580-9388D74EF2B6}"/>
              </a:ext>
            </a:extLst>
          </p:cNvPr>
          <p:cNvSpPr>
            <a:spLocks xmlns:a="http://schemas.openxmlformats.org/drawingml/2006/main" noGrp="1"/>
          </p:cNvSpPr>
          <p:nvPr/>
        </p:nvSpPr>
        <p:spPr>
          <a:xfrm xmlns:a="http://schemas.openxmlformats.org/drawingml/2006/main">
            <a:off x="685800" y="6496050"/>
            <a:ext cx="6191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0000"/>
          </a:bodyPr>
          <a:lstStyle xmlns:a="http://schemas.openxmlformats.org/drawingml/2006/main"/>
          <a:p xmlns:a="http://schemas.openxmlformats.org/drawingml/2006/main">
            <a:pPr>
              <a:defRPr sz="750" b="1">
                <a:solidFill>
                  <a:srgbClr val="64748B"/>
                </a:solidFill>
                <a:latin typeface="Bitstream Charter"/>
                <a:ea typeface="Bitstream Charter"/>
                <a:cs typeface="Bitstream Charter"/>
              </a:defRPr>
            </a:pPr>
            <a:r>
              <a:rPr sz="750" b="1">
                <a:solidFill>
                  <a:srgbClr val="64748B"/>
                </a:solidFill>
                <a:latin typeface="Bitstream Charter"/>
                <a:ea typeface="Bitstream Charter"/>
                <a:cs typeface="Bitstream Charter"/>
              </a:rPr>
              <a:t>BOOKSHOP SYSTEM  •  BRIGHT MULTISERVICES AND TECH SOLUTIONS</a:t>
            </a:r>
          </a:p>
        </p:txBody>
      </p:sp>
      <p:sp>
        <p:nvSpPr>
          <p:cNvPr id="25" name="">
            <a:extLst xmlns:a="http://schemas.openxmlformats.org/drawingml/2006/main">
              <a:ext uri="{FF2B5EF4-FFF2-40B4-BE49-F238E27FC236}">
                <a16:creationId xmlns:a16="http://schemas.microsoft.com/office/drawing/2014/main" id="{5C8EEB3D-51FB-429A-AE8D-EFF1CC2E7B1C}"/>
              </a:ext>
            </a:extLst>
          </p:cNvPr>
          <p:cNvSpPr>
            <a:spLocks xmlns:a="http://schemas.openxmlformats.org/drawingml/2006/main" noGrp="1"/>
          </p:cNvSpPr>
          <p:nvPr/>
        </p:nvSpPr>
        <p:spPr>
          <a:xfrm xmlns:a="http://schemas.openxmlformats.org/drawingml/2006/main">
            <a:off x="11049000" y="6496050"/>
            <a:ext cx="4572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0000"/>
          </a:bodyPr>
          <a:lstStyle xmlns:a="http://schemas.openxmlformats.org/drawingml/2006/main"/>
          <a:p xmlns:a="http://schemas.openxmlformats.org/drawingml/2006/main">
            <a:pPr>
              <a:defRPr sz="750" b="1">
                <a:solidFill>
                  <a:srgbClr val="64748B"/>
                </a:solidFill>
                <a:latin typeface="Bitstream Charter"/>
                <a:ea typeface="Bitstream Charter"/>
                <a:cs typeface="Bitstream Charter"/>
              </a:defRPr>
            </a:pPr>
            <a:r>
              <a:rPr sz="750" b="1">
                <a:solidFill>
                  <a:srgbClr val="64748B"/>
                </a:solidFill>
                <a:latin typeface="Bitstream Charter"/>
                <a:ea typeface="Bitstream Charter"/>
                <a:cs typeface="Bitstream Charter"/>
              </a:rPr>
              <a:t>08</a:t>
            </a:r>
          </a:p>
        </p:txBody>
      </p:sp>
    </p:spTree>
    <p:extLst>
      <p:ext uri="{BB962C8B-B14F-4D97-AF65-F5344CB8AC3E}">
        <p14:creationId xmlns:p14="http://schemas.microsoft.com/office/powerpoint/2010/main" val="1324253374"/>
      </p:ext>
    </p:extLst>
  </p:cSld>
</p:sld>
</file>

<file path=ppt/slides/slide9.xml><?xml version="1.0" encoding="utf-8"?>
<p:sld xmlns:p="http://schemas.openxmlformats.org/presentationml/2006/main">
  <p:cSld>
    <p:bg>
      <p:bgPr>
        <a:solidFill xmlns:a="http://schemas.openxmlformats.org/drawingml/2006/main">
          <a:srgbClr val="F6F8FC"/>
        </a:solidFill>
      </p:bgPr>
    </p:bg>
    <p:spTree>
      <p:nvGrpSpPr>
        <p:cNvPr id="1" name=""/>
        <p:cNvGrpSpPr/>
        <p:nvPr/>
      </p:nvGrpSpPr>
      <p:grpSpPr>
        <a:xfrm xmlns:a="http://schemas.openxmlformats.org/drawingml/2006/main"/>
      </p:grpSpPr>
      <p:sp>
        <p:nvSpPr>
          <p:cNvPr id="30" name="">
            <a:extLst xmlns:a="http://schemas.openxmlformats.org/drawingml/2006/main">
              <a:ext uri="{FF2B5EF4-FFF2-40B4-BE49-F238E27FC236}">
                <a16:creationId xmlns:a16="http://schemas.microsoft.com/office/drawing/2014/main" id="{FCC41230-610D-4932-A5AB-B8BD82207567}"/>
              </a:ext>
            </a:extLst>
          </p:cNvPr>
          <p:cNvSpPr>
            <a:spLocks xmlns:a="http://schemas.openxmlformats.org/drawingml/2006/main" noGrp="1"/>
          </p:cNvSpPr>
          <p:nvPr/>
        </p:nvSpPr>
        <p:spPr>
          <a:xfrm xmlns:a="http://schemas.openxmlformats.org/drawingml/2006/main">
            <a:off x="685800" y="361950"/>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308"/>
          </a:bodyPr>
          <a:lstStyle xmlns:a="http://schemas.openxmlformats.org/drawingml/2006/main"/>
          <a:p xmlns:a="http://schemas.openxmlformats.org/drawingml/2006/main">
            <a:pPr>
              <a:defRPr sz="975" b="1">
                <a:solidFill>
                  <a:srgbClr val="7759E8"/>
                </a:solidFill>
                <a:latin typeface="Bitstream Charter"/>
                <a:ea typeface="Bitstream Charter"/>
                <a:cs typeface="Bitstream Charter"/>
              </a:defRPr>
            </a:pPr>
            <a:r>
              <a:rPr sz="975" b="1">
                <a:solidFill>
                  <a:srgbClr val="7759E8"/>
                </a:solidFill>
                <a:latin typeface="Bitstream Charter"/>
                <a:ea typeface="Bitstream Charter"/>
                <a:cs typeface="Bitstream Charter"/>
              </a:rPr>
              <a:t>08 / IMPLEMENTATION RESULTS</a:t>
            </a:r>
          </a:p>
        </p:txBody>
      </p:sp>
      <p:sp>
        <p:nvSpPr>
          <p:cNvPr id="2" name="">
            <a:extLst xmlns:a="http://schemas.openxmlformats.org/drawingml/2006/main">
              <a:ext uri="{FF2B5EF4-FFF2-40B4-BE49-F238E27FC236}">
                <a16:creationId xmlns:a16="http://schemas.microsoft.com/office/drawing/2014/main" id="{1DD9D1A6-D7D1-45CB-877D-0AC4E8DF4C6F}"/>
              </a:ext>
            </a:extLst>
          </p:cNvPr>
          <p:cNvSpPr>
            <a:spLocks xmlns:a="http://schemas.openxmlformats.org/drawingml/2006/main" noGrp="1"/>
          </p:cNvSpPr>
          <p:nvPr/>
        </p:nvSpPr>
        <p:spPr>
          <a:xfrm xmlns:a="http://schemas.openxmlformats.org/drawingml/2006/main">
            <a:off x="685800" y="647700"/>
            <a:ext cx="108204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625" b="1">
                <a:solidFill>
                  <a:srgbClr val="14233A"/>
                </a:solidFill>
                <a:latin typeface="Bitstream Charter"/>
                <a:ea typeface="Bitstream Charter"/>
                <a:cs typeface="Bitstream Charter"/>
              </a:defRPr>
            </a:pPr>
            <a:r>
              <a:rPr sz="2625" b="1">
                <a:solidFill>
                  <a:srgbClr val="14233A"/>
                </a:solidFill>
                <a:latin typeface="Bitstream Charter"/>
                <a:ea typeface="Bitstream Charter"/>
                <a:cs typeface="Bitstream Charter"/>
              </a:rPr>
              <a:t>All planned modules were completed and integrated</a:t>
            </a:r>
          </a:p>
        </p:txBody>
      </p:sp>
      <p:sp>
        <p:nvSpPr>
          <p:cNvPr id="3" name="">
            <a:extLst xmlns:a="http://schemas.openxmlformats.org/drawingml/2006/main">
              <a:ext uri="{FF2B5EF4-FFF2-40B4-BE49-F238E27FC236}">
                <a16:creationId xmlns:a16="http://schemas.microsoft.com/office/drawing/2014/main" id="{3B6634D4-FCD6-4448-ABAE-6CB68CDCDA62}"/>
              </a:ext>
            </a:extLst>
          </p:cNvPr>
          <p:cNvSpPr>
            <a:spLocks xmlns:a="http://schemas.openxmlformats.org/drawingml/2006/main" noGrp="1"/>
          </p:cNvSpPr>
          <p:nvPr/>
        </p:nvSpPr>
        <p:spPr>
          <a:xfrm xmlns:a="http://schemas.openxmlformats.org/drawingml/2006/main">
            <a:off x="685800" y="1238250"/>
            <a:ext cx="10287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b="0">
                <a:solidFill>
                  <a:srgbClr val="64748B"/>
                </a:solidFill>
                <a:latin typeface="Bitstream Charter"/>
                <a:ea typeface="Bitstream Charter"/>
                <a:cs typeface="Bitstream Charter"/>
              </a:defRPr>
            </a:pPr>
            <a:r>
              <a:rPr sz="1275" b="0">
                <a:solidFill>
                  <a:srgbClr val="64748B"/>
                </a:solidFill>
                <a:latin typeface="Bitstream Charter"/>
                <a:ea typeface="Bitstream Charter"/>
                <a:cs typeface="Bitstream Charter"/>
              </a:rPr>
              <a:t>Chapter Six confirms that the major functional modules operated successfully.</a:t>
            </a:r>
          </a:p>
        </p:txBody>
      </p:sp>
      <p:pic>
        <p:nvPicPr>
          <p:cNvPr id="33" name=""/>
          <p:cNvPicPr>
            <a:picLocks xmlns:a="http://schemas.openxmlformats.org/drawingml/2006/main" noChangeAspect="1"/>
          </p:cNvPicPr>
          <p:nvPr/>
        </p:nvPicPr>
        <p:blipFill>
          <a:blip xmlns:r="http://schemas.openxmlformats.org/officeDocument/2006/relationships" xmlns:a="http://schemas.openxmlformats.org/drawingml/2006/main" r:embed="R2a593f4a545149ea"/>
          <a:srcRect xmlns:a="http://schemas.openxmlformats.org/drawingml/2006/main" l="12005" t="0" r="12005" b="0"/>
          <a:stretch xmlns:a="http://schemas.openxmlformats.org/drawingml/2006/main">
            <a:fillRect l="0" t="0" r="0" b="0"/>
          </a:stretch>
        </p:blipFill>
        <p:spPr>
          <a:xfrm xmlns:a="http://schemas.openxmlformats.org/drawingml/2006/main">
            <a:off x="685800" y="1790700"/>
            <a:ext cx="5048250" cy="3048000"/>
          </a:xfrm>
          <a:prstGeom xmlns:a="http://schemas.openxmlformats.org/drawingml/2006/main" prst="roundRect">
            <a:avLst>
              <a:gd name="adj" fmla="val 4375"/>
            </a:avLst>
          </a:prstGeom>
        </p:spPr>
      </p:pic>
      <p:sp>
        <p:nvSpPr>
          <p:cNvPr id="5" name="">
            <a:extLst xmlns:a="http://schemas.openxmlformats.org/drawingml/2006/main">
              <a:ext uri="{FF2B5EF4-FFF2-40B4-BE49-F238E27FC236}">
                <a16:creationId xmlns:a16="http://schemas.microsoft.com/office/drawing/2014/main" id="{57C57653-CBAD-4B4B-9451-C56431F3123C}"/>
              </a:ext>
            </a:extLst>
          </p:cNvPr>
          <p:cNvSpPr>
            <a:spLocks xmlns:a="http://schemas.openxmlformats.org/drawingml/2006/main" noGrp="1"/>
          </p:cNvSpPr>
          <p:nvPr/>
        </p:nvSpPr>
        <p:spPr>
          <a:xfrm xmlns:a="http://schemas.openxmlformats.org/drawingml/2006/main">
            <a:off x="6191250" y="1857375"/>
            <a:ext cx="4857750" cy="609600"/>
          </a:xfrm>
          <a:prstGeom xmlns:a="http://schemas.openxmlformats.org/drawingml/2006/main" prst="roundRect">
            <a:avLst>
              <a:gd name="adj" fmla="val 28125"/>
            </a:avLst>
          </a:prstGeom>
          <a:solidFill xmlns:a="http://schemas.openxmlformats.org/drawingml/2006/main">
            <a:srgbClr val="FFFFFF"/>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BED8768A-96B0-4231-BE25-333F85050FEB}"/>
              </a:ext>
            </a:extLst>
          </p:cNvPr>
          <p:cNvSpPr>
            <a:spLocks xmlns:a="http://schemas.openxmlformats.org/drawingml/2006/main" noGrp="1"/>
          </p:cNvSpPr>
          <p:nvPr/>
        </p:nvSpPr>
        <p:spPr>
          <a:xfrm xmlns:a="http://schemas.openxmlformats.org/drawingml/2006/main">
            <a:off x="6191250" y="1857375"/>
            <a:ext cx="76200" cy="609600"/>
          </a:xfrm>
          <a:prstGeom xmlns:a="http://schemas.openxmlformats.org/drawingml/2006/main" prst="rect">
            <a:avLst/>
          </a:prstGeom>
          <a:solidFill xmlns:a="http://schemas.openxmlformats.org/drawingml/2006/main">
            <a:srgbClr val="16A34A"/>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00FC96DC-3298-477E-9BFE-9FE94EC5BCD1}"/>
              </a:ext>
            </a:extLst>
          </p:cNvPr>
          <p:cNvSpPr>
            <a:spLocks xmlns:a="http://schemas.openxmlformats.org/drawingml/2006/main" noGrp="1"/>
          </p:cNvSpPr>
          <p:nvPr/>
        </p:nvSpPr>
        <p:spPr>
          <a:xfrm xmlns:a="http://schemas.openxmlformats.org/drawingml/2006/main">
            <a:off x="6457950" y="1933575"/>
            <a:ext cx="3143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0392"/>
          </a:bodyPr>
          <a:lstStyle xmlns:a="http://schemas.openxmlformats.org/drawingml/2006/main"/>
          <a:p xmlns:a="http://schemas.openxmlformats.org/drawingml/2006/main">
            <a:pPr>
              <a:defRPr sz="1275" b="1">
                <a:solidFill>
                  <a:srgbClr val="14233A"/>
                </a:solidFill>
                <a:latin typeface="Bitstream Charter"/>
                <a:ea typeface="Bitstream Charter"/>
                <a:cs typeface="Bitstream Charter"/>
              </a:defRPr>
            </a:pPr>
            <a:r>
              <a:rPr sz="1275" b="1">
                <a:solidFill>
                  <a:srgbClr val="14233A"/>
                </a:solidFill>
                <a:latin typeface="Bitstream Charter"/>
                <a:ea typeface="Bitstream Charter"/>
                <a:cs typeface="Bitstream Charter"/>
              </a:rPr>
              <a:t>Authentication, users and roles</a:t>
            </a:r>
          </a:p>
        </p:txBody>
      </p:sp>
      <p:sp>
        <p:nvSpPr>
          <p:cNvPr id="8" name="">
            <a:extLst xmlns:a="http://schemas.openxmlformats.org/drawingml/2006/main">
              <a:ext uri="{FF2B5EF4-FFF2-40B4-BE49-F238E27FC236}">
                <a16:creationId xmlns:a16="http://schemas.microsoft.com/office/drawing/2014/main" id="{57D04C3D-E1B1-4FAE-83CA-FB83B0C058AE}"/>
              </a:ext>
            </a:extLst>
          </p:cNvPr>
          <p:cNvSpPr>
            <a:spLocks xmlns:a="http://schemas.openxmlformats.org/drawingml/2006/main" noGrp="1"/>
          </p:cNvSpPr>
          <p:nvPr/>
        </p:nvSpPr>
        <p:spPr>
          <a:xfrm xmlns:a="http://schemas.openxmlformats.org/drawingml/2006/main">
            <a:off x="9734550" y="1933575"/>
            <a:ext cx="1047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111"/>
          </a:bodyPr>
          <a:lstStyle xmlns:a="http://schemas.openxmlformats.org/drawingml/2006/main"/>
          <a:p xmlns:a="http://schemas.openxmlformats.org/drawingml/2006/main">
            <a:pPr>
              <a:defRPr sz="1125" b="1">
                <a:solidFill>
                  <a:srgbClr val="16A34A"/>
                </a:solidFill>
                <a:latin typeface="Bitstream Charter"/>
                <a:ea typeface="Bitstream Charter"/>
                <a:cs typeface="Bitstream Charter"/>
              </a:defRPr>
            </a:pPr>
            <a:r>
              <a:rPr sz="1125" b="1">
                <a:solidFill>
                  <a:srgbClr val="16A34A"/>
                </a:solidFill>
                <a:latin typeface="Bitstream Charter"/>
                <a:ea typeface="Bitstream Charter"/>
                <a:cs typeface="Bitstream Charter"/>
              </a:rPr>
              <a:t>Completed</a:t>
            </a:r>
          </a:p>
        </p:txBody>
      </p:sp>
      <p:sp>
        <p:nvSpPr>
          <p:cNvPr id="9" name="">
            <a:extLst xmlns:a="http://schemas.openxmlformats.org/drawingml/2006/main">
              <a:ext uri="{FF2B5EF4-FFF2-40B4-BE49-F238E27FC236}">
                <a16:creationId xmlns:a16="http://schemas.microsoft.com/office/drawing/2014/main" id="{C8874302-43CB-447F-82AC-7C2052A8A1DA}"/>
              </a:ext>
            </a:extLst>
          </p:cNvPr>
          <p:cNvSpPr>
            <a:spLocks xmlns:a="http://schemas.openxmlformats.org/drawingml/2006/main" noGrp="1"/>
          </p:cNvSpPr>
          <p:nvPr/>
        </p:nvSpPr>
        <p:spPr>
          <a:xfrm xmlns:a="http://schemas.openxmlformats.org/drawingml/2006/main">
            <a:off x="6457950" y="2181225"/>
            <a:ext cx="3429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6667"/>
          </a:bodyPr>
          <a:lstStyle xmlns:a="http://schemas.openxmlformats.org/drawingml/2006/main"/>
          <a:p xmlns:a="http://schemas.openxmlformats.org/drawingml/2006/main">
            <a:pPr>
              <a:defRPr sz="975" b="0">
                <a:solidFill>
                  <a:srgbClr val="64748B"/>
                </a:solidFill>
                <a:latin typeface="Bitstream Charter"/>
                <a:ea typeface="Bitstream Charter"/>
                <a:cs typeface="Bitstream Charter"/>
              </a:defRPr>
            </a:pPr>
            <a:r>
              <a:rPr sz="975" b="0">
                <a:solidFill>
                  <a:srgbClr val="64748B"/>
                </a:solidFill>
                <a:latin typeface="Bitstream Charter"/>
                <a:ea typeface="Bitstream Charter"/>
                <a:cs typeface="Bitstream Charter"/>
              </a:rPr>
              <a:t>Integrated with shared operational data</a:t>
            </a:r>
          </a:p>
        </p:txBody>
      </p:sp>
      <p:sp>
        <p:nvSpPr>
          <p:cNvPr id="10" name="">
            <a:extLst xmlns:a="http://schemas.openxmlformats.org/drawingml/2006/main">
              <a:ext uri="{FF2B5EF4-FFF2-40B4-BE49-F238E27FC236}">
                <a16:creationId xmlns:a16="http://schemas.microsoft.com/office/drawing/2014/main" id="{FCCC56F4-8BC6-489E-B8E0-0A7C54AA1212}"/>
              </a:ext>
            </a:extLst>
          </p:cNvPr>
          <p:cNvSpPr>
            <a:spLocks xmlns:a="http://schemas.openxmlformats.org/drawingml/2006/main" noGrp="1"/>
          </p:cNvSpPr>
          <p:nvPr/>
        </p:nvSpPr>
        <p:spPr>
          <a:xfrm xmlns:a="http://schemas.openxmlformats.org/drawingml/2006/main">
            <a:off x="6191250" y="2657475"/>
            <a:ext cx="4857750" cy="609600"/>
          </a:xfrm>
          <a:prstGeom xmlns:a="http://schemas.openxmlformats.org/drawingml/2006/main" prst="roundRect">
            <a:avLst>
              <a:gd name="adj" fmla="val 28125"/>
            </a:avLst>
          </a:prstGeom>
          <a:solidFill xmlns:a="http://schemas.openxmlformats.org/drawingml/2006/main">
            <a:srgbClr val="FFFFFF"/>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C2563C42-D059-413A-860D-4D03EF2772F1}"/>
              </a:ext>
            </a:extLst>
          </p:cNvPr>
          <p:cNvSpPr>
            <a:spLocks xmlns:a="http://schemas.openxmlformats.org/drawingml/2006/main" noGrp="1"/>
          </p:cNvSpPr>
          <p:nvPr/>
        </p:nvSpPr>
        <p:spPr>
          <a:xfrm xmlns:a="http://schemas.openxmlformats.org/drawingml/2006/main">
            <a:off x="6191250" y="2657475"/>
            <a:ext cx="76200" cy="609600"/>
          </a:xfrm>
          <a:prstGeom xmlns:a="http://schemas.openxmlformats.org/drawingml/2006/main" prst="rect">
            <a:avLst/>
          </a:prstGeom>
          <a:solidFill xmlns:a="http://schemas.openxmlformats.org/drawingml/2006/main">
            <a:srgbClr val="16A34A"/>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1E9EABB8-04B3-43C7-8EBD-07A519D8CF93}"/>
              </a:ext>
            </a:extLst>
          </p:cNvPr>
          <p:cNvSpPr>
            <a:spLocks xmlns:a="http://schemas.openxmlformats.org/drawingml/2006/main" noGrp="1"/>
          </p:cNvSpPr>
          <p:nvPr/>
        </p:nvSpPr>
        <p:spPr>
          <a:xfrm xmlns:a="http://schemas.openxmlformats.org/drawingml/2006/main">
            <a:off x="6457950" y="2733675"/>
            <a:ext cx="3143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0392"/>
          </a:bodyPr>
          <a:lstStyle xmlns:a="http://schemas.openxmlformats.org/drawingml/2006/main"/>
          <a:p xmlns:a="http://schemas.openxmlformats.org/drawingml/2006/main">
            <a:pPr>
              <a:defRPr sz="1275" b="1">
                <a:solidFill>
                  <a:srgbClr val="14233A"/>
                </a:solidFill>
                <a:latin typeface="Bitstream Charter"/>
                <a:ea typeface="Bitstream Charter"/>
                <a:cs typeface="Bitstream Charter"/>
              </a:defRPr>
            </a:pPr>
            <a:r>
              <a:rPr sz="1275" b="1">
                <a:solidFill>
                  <a:srgbClr val="14233A"/>
                </a:solidFill>
                <a:latin typeface="Bitstream Charter"/>
                <a:ea typeface="Bitstream Charter"/>
                <a:cs typeface="Bitstream Charter"/>
              </a:rPr>
              <a:t>Catalog, warehouses and inventory</a:t>
            </a:r>
          </a:p>
        </p:txBody>
      </p:sp>
      <p:sp>
        <p:nvSpPr>
          <p:cNvPr id="13" name="">
            <a:extLst xmlns:a="http://schemas.openxmlformats.org/drawingml/2006/main">
              <a:ext uri="{FF2B5EF4-FFF2-40B4-BE49-F238E27FC236}">
                <a16:creationId xmlns:a16="http://schemas.microsoft.com/office/drawing/2014/main" id="{8D914508-70CC-492D-9C15-8E88D40BD2EF}"/>
              </a:ext>
            </a:extLst>
          </p:cNvPr>
          <p:cNvSpPr>
            <a:spLocks xmlns:a="http://schemas.openxmlformats.org/drawingml/2006/main" noGrp="1"/>
          </p:cNvSpPr>
          <p:nvPr/>
        </p:nvSpPr>
        <p:spPr>
          <a:xfrm xmlns:a="http://schemas.openxmlformats.org/drawingml/2006/main">
            <a:off x="9734550" y="2733675"/>
            <a:ext cx="1047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111"/>
          </a:bodyPr>
          <a:lstStyle xmlns:a="http://schemas.openxmlformats.org/drawingml/2006/main"/>
          <a:p xmlns:a="http://schemas.openxmlformats.org/drawingml/2006/main">
            <a:pPr>
              <a:defRPr sz="1125" b="1">
                <a:solidFill>
                  <a:srgbClr val="16A34A"/>
                </a:solidFill>
                <a:latin typeface="Bitstream Charter"/>
                <a:ea typeface="Bitstream Charter"/>
                <a:cs typeface="Bitstream Charter"/>
              </a:defRPr>
            </a:pPr>
            <a:r>
              <a:rPr sz="1125" b="1">
                <a:solidFill>
                  <a:srgbClr val="16A34A"/>
                </a:solidFill>
                <a:latin typeface="Bitstream Charter"/>
                <a:ea typeface="Bitstream Charter"/>
                <a:cs typeface="Bitstream Charter"/>
              </a:rPr>
              <a:t>Completed</a:t>
            </a:r>
          </a:p>
        </p:txBody>
      </p:sp>
      <p:sp>
        <p:nvSpPr>
          <p:cNvPr id="14" name="">
            <a:extLst xmlns:a="http://schemas.openxmlformats.org/drawingml/2006/main">
              <a:ext uri="{FF2B5EF4-FFF2-40B4-BE49-F238E27FC236}">
                <a16:creationId xmlns:a16="http://schemas.microsoft.com/office/drawing/2014/main" id="{8107A446-3304-4D5E-BAAB-36D507C588D5}"/>
              </a:ext>
            </a:extLst>
          </p:cNvPr>
          <p:cNvSpPr>
            <a:spLocks xmlns:a="http://schemas.openxmlformats.org/drawingml/2006/main" noGrp="1"/>
          </p:cNvSpPr>
          <p:nvPr/>
        </p:nvSpPr>
        <p:spPr>
          <a:xfrm xmlns:a="http://schemas.openxmlformats.org/drawingml/2006/main">
            <a:off x="6457950" y="2981325"/>
            <a:ext cx="3429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6667"/>
          </a:bodyPr>
          <a:lstStyle xmlns:a="http://schemas.openxmlformats.org/drawingml/2006/main"/>
          <a:p xmlns:a="http://schemas.openxmlformats.org/drawingml/2006/main">
            <a:pPr>
              <a:defRPr sz="975" b="0">
                <a:solidFill>
                  <a:srgbClr val="64748B"/>
                </a:solidFill>
                <a:latin typeface="Bitstream Charter"/>
                <a:ea typeface="Bitstream Charter"/>
                <a:cs typeface="Bitstream Charter"/>
              </a:defRPr>
            </a:pPr>
            <a:r>
              <a:rPr sz="975" b="0">
                <a:solidFill>
                  <a:srgbClr val="64748B"/>
                </a:solidFill>
                <a:latin typeface="Bitstream Charter"/>
                <a:ea typeface="Bitstream Charter"/>
                <a:cs typeface="Bitstream Charter"/>
              </a:rPr>
              <a:t>Integrated with shared operational data</a:t>
            </a:r>
          </a:p>
        </p:txBody>
      </p:sp>
      <p:sp>
        <p:nvSpPr>
          <p:cNvPr id="15" name="">
            <a:extLst xmlns:a="http://schemas.openxmlformats.org/drawingml/2006/main">
              <a:ext uri="{FF2B5EF4-FFF2-40B4-BE49-F238E27FC236}">
                <a16:creationId xmlns:a16="http://schemas.microsoft.com/office/drawing/2014/main" id="{51FBA7E7-C896-43D7-921A-925B564A777F}"/>
              </a:ext>
            </a:extLst>
          </p:cNvPr>
          <p:cNvSpPr>
            <a:spLocks xmlns:a="http://schemas.openxmlformats.org/drawingml/2006/main" noGrp="1"/>
          </p:cNvSpPr>
          <p:nvPr/>
        </p:nvSpPr>
        <p:spPr>
          <a:xfrm xmlns:a="http://schemas.openxmlformats.org/drawingml/2006/main">
            <a:off x="6191250" y="3457575"/>
            <a:ext cx="4857750" cy="609600"/>
          </a:xfrm>
          <a:prstGeom xmlns:a="http://schemas.openxmlformats.org/drawingml/2006/main" prst="roundRect">
            <a:avLst>
              <a:gd name="adj" fmla="val 28125"/>
            </a:avLst>
          </a:prstGeom>
          <a:solidFill xmlns:a="http://schemas.openxmlformats.org/drawingml/2006/main">
            <a:srgbClr val="FFFFFF"/>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1563D5D4-C9E9-4990-9C58-47DCF60BD17D}"/>
              </a:ext>
            </a:extLst>
          </p:cNvPr>
          <p:cNvSpPr>
            <a:spLocks xmlns:a="http://schemas.openxmlformats.org/drawingml/2006/main" noGrp="1"/>
          </p:cNvSpPr>
          <p:nvPr/>
        </p:nvSpPr>
        <p:spPr>
          <a:xfrm xmlns:a="http://schemas.openxmlformats.org/drawingml/2006/main">
            <a:off x="6191250" y="3457575"/>
            <a:ext cx="76200" cy="609600"/>
          </a:xfrm>
          <a:prstGeom xmlns:a="http://schemas.openxmlformats.org/drawingml/2006/main" prst="rect">
            <a:avLst/>
          </a:prstGeom>
          <a:solidFill xmlns:a="http://schemas.openxmlformats.org/drawingml/2006/main">
            <a:srgbClr val="16A34A"/>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656EC549-A852-40D3-9169-926D6EBE5AB3}"/>
              </a:ext>
            </a:extLst>
          </p:cNvPr>
          <p:cNvSpPr>
            <a:spLocks xmlns:a="http://schemas.openxmlformats.org/drawingml/2006/main" noGrp="1"/>
          </p:cNvSpPr>
          <p:nvPr/>
        </p:nvSpPr>
        <p:spPr>
          <a:xfrm xmlns:a="http://schemas.openxmlformats.org/drawingml/2006/main">
            <a:off x="6457950" y="3533775"/>
            <a:ext cx="3143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0392"/>
          </a:bodyPr>
          <a:lstStyle xmlns:a="http://schemas.openxmlformats.org/drawingml/2006/main"/>
          <a:p xmlns:a="http://schemas.openxmlformats.org/drawingml/2006/main">
            <a:pPr>
              <a:defRPr sz="1275" b="1">
                <a:solidFill>
                  <a:srgbClr val="14233A"/>
                </a:solidFill>
                <a:latin typeface="Bitstream Charter"/>
                <a:ea typeface="Bitstream Charter"/>
                <a:cs typeface="Bitstream Charter"/>
              </a:defRPr>
            </a:pPr>
            <a:r>
              <a:rPr sz="1275" b="1">
                <a:solidFill>
                  <a:srgbClr val="14233A"/>
                </a:solidFill>
                <a:latin typeface="Bitstream Charter"/>
                <a:ea typeface="Bitstream Charter"/>
                <a:cs typeface="Bitstream Charter"/>
              </a:rPr>
              <a:t>Sales, POS, orders and payments</a:t>
            </a:r>
          </a:p>
        </p:txBody>
      </p:sp>
      <p:sp>
        <p:nvSpPr>
          <p:cNvPr id="18" name="">
            <a:extLst xmlns:a="http://schemas.openxmlformats.org/drawingml/2006/main">
              <a:ext uri="{FF2B5EF4-FFF2-40B4-BE49-F238E27FC236}">
                <a16:creationId xmlns:a16="http://schemas.microsoft.com/office/drawing/2014/main" id="{1A56A91C-32FD-44C0-8946-25D2BA88E623}"/>
              </a:ext>
            </a:extLst>
          </p:cNvPr>
          <p:cNvSpPr>
            <a:spLocks xmlns:a="http://schemas.openxmlformats.org/drawingml/2006/main" noGrp="1"/>
          </p:cNvSpPr>
          <p:nvPr/>
        </p:nvSpPr>
        <p:spPr>
          <a:xfrm xmlns:a="http://schemas.openxmlformats.org/drawingml/2006/main">
            <a:off x="9734550" y="3533775"/>
            <a:ext cx="1047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111"/>
          </a:bodyPr>
          <a:lstStyle xmlns:a="http://schemas.openxmlformats.org/drawingml/2006/main"/>
          <a:p xmlns:a="http://schemas.openxmlformats.org/drawingml/2006/main">
            <a:pPr>
              <a:defRPr sz="1125" b="1">
                <a:solidFill>
                  <a:srgbClr val="16A34A"/>
                </a:solidFill>
                <a:latin typeface="Bitstream Charter"/>
                <a:ea typeface="Bitstream Charter"/>
                <a:cs typeface="Bitstream Charter"/>
              </a:defRPr>
            </a:pPr>
            <a:r>
              <a:rPr sz="1125" b="1">
                <a:solidFill>
                  <a:srgbClr val="16A34A"/>
                </a:solidFill>
                <a:latin typeface="Bitstream Charter"/>
                <a:ea typeface="Bitstream Charter"/>
                <a:cs typeface="Bitstream Charter"/>
              </a:rPr>
              <a:t>Completed</a:t>
            </a:r>
          </a:p>
        </p:txBody>
      </p:sp>
      <p:sp>
        <p:nvSpPr>
          <p:cNvPr id="19" name="">
            <a:extLst xmlns:a="http://schemas.openxmlformats.org/drawingml/2006/main">
              <a:ext uri="{FF2B5EF4-FFF2-40B4-BE49-F238E27FC236}">
                <a16:creationId xmlns:a16="http://schemas.microsoft.com/office/drawing/2014/main" id="{72D8853C-B690-4C87-96ED-6EA48D8456F0}"/>
              </a:ext>
            </a:extLst>
          </p:cNvPr>
          <p:cNvSpPr>
            <a:spLocks xmlns:a="http://schemas.openxmlformats.org/drawingml/2006/main" noGrp="1"/>
          </p:cNvSpPr>
          <p:nvPr/>
        </p:nvSpPr>
        <p:spPr>
          <a:xfrm xmlns:a="http://schemas.openxmlformats.org/drawingml/2006/main">
            <a:off x="6457950" y="3781425"/>
            <a:ext cx="3429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6667"/>
          </a:bodyPr>
          <a:lstStyle xmlns:a="http://schemas.openxmlformats.org/drawingml/2006/main"/>
          <a:p xmlns:a="http://schemas.openxmlformats.org/drawingml/2006/main">
            <a:pPr>
              <a:defRPr sz="975" b="0">
                <a:solidFill>
                  <a:srgbClr val="64748B"/>
                </a:solidFill>
                <a:latin typeface="Bitstream Charter"/>
                <a:ea typeface="Bitstream Charter"/>
                <a:cs typeface="Bitstream Charter"/>
              </a:defRPr>
            </a:pPr>
            <a:r>
              <a:rPr sz="975" b="0">
                <a:solidFill>
                  <a:srgbClr val="64748B"/>
                </a:solidFill>
                <a:latin typeface="Bitstream Charter"/>
                <a:ea typeface="Bitstream Charter"/>
                <a:cs typeface="Bitstream Charter"/>
              </a:rPr>
              <a:t>Integrated with shared operational data</a:t>
            </a:r>
          </a:p>
        </p:txBody>
      </p:sp>
      <p:sp>
        <p:nvSpPr>
          <p:cNvPr id="20" name="">
            <a:extLst xmlns:a="http://schemas.openxmlformats.org/drawingml/2006/main">
              <a:ext uri="{FF2B5EF4-FFF2-40B4-BE49-F238E27FC236}">
                <a16:creationId xmlns:a16="http://schemas.microsoft.com/office/drawing/2014/main" id="{554EE6B5-0FE1-479B-A6D1-9D742903B098}"/>
              </a:ext>
            </a:extLst>
          </p:cNvPr>
          <p:cNvSpPr>
            <a:spLocks xmlns:a="http://schemas.openxmlformats.org/drawingml/2006/main" noGrp="1"/>
          </p:cNvSpPr>
          <p:nvPr/>
        </p:nvSpPr>
        <p:spPr>
          <a:xfrm xmlns:a="http://schemas.openxmlformats.org/drawingml/2006/main">
            <a:off x="6191250" y="4257675"/>
            <a:ext cx="4857750" cy="609600"/>
          </a:xfrm>
          <a:prstGeom xmlns:a="http://schemas.openxmlformats.org/drawingml/2006/main" prst="roundRect">
            <a:avLst>
              <a:gd name="adj" fmla="val 28125"/>
            </a:avLst>
          </a:prstGeom>
          <a:solidFill xmlns:a="http://schemas.openxmlformats.org/drawingml/2006/main">
            <a:srgbClr val="FFFFFF"/>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2E836F5B-30BA-4E96-B4FC-AB77530CAC9E}"/>
              </a:ext>
            </a:extLst>
          </p:cNvPr>
          <p:cNvSpPr>
            <a:spLocks xmlns:a="http://schemas.openxmlformats.org/drawingml/2006/main" noGrp="1"/>
          </p:cNvSpPr>
          <p:nvPr/>
        </p:nvSpPr>
        <p:spPr>
          <a:xfrm xmlns:a="http://schemas.openxmlformats.org/drawingml/2006/main">
            <a:off x="6191250" y="4257675"/>
            <a:ext cx="76200" cy="609600"/>
          </a:xfrm>
          <a:prstGeom xmlns:a="http://schemas.openxmlformats.org/drawingml/2006/main" prst="rect">
            <a:avLst/>
          </a:prstGeom>
          <a:solidFill xmlns:a="http://schemas.openxmlformats.org/drawingml/2006/main">
            <a:srgbClr val="16A34A"/>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8BEF99EA-2D9F-4AB6-8FC8-0759D353C39E}"/>
              </a:ext>
            </a:extLst>
          </p:cNvPr>
          <p:cNvSpPr>
            <a:spLocks xmlns:a="http://schemas.openxmlformats.org/drawingml/2006/main" noGrp="1"/>
          </p:cNvSpPr>
          <p:nvPr/>
        </p:nvSpPr>
        <p:spPr>
          <a:xfrm xmlns:a="http://schemas.openxmlformats.org/drawingml/2006/main">
            <a:off x="6457950" y="4333875"/>
            <a:ext cx="3143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0392"/>
          </a:bodyPr>
          <a:lstStyle xmlns:a="http://schemas.openxmlformats.org/drawingml/2006/main"/>
          <a:p xmlns:a="http://schemas.openxmlformats.org/drawingml/2006/main">
            <a:pPr>
              <a:defRPr sz="1275" b="1">
                <a:solidFill>
                  <a:srgbClr val="14233A"/>
                </a:solidFill>
                <a:latin typeface="Bitstream Charter"/>
                <a:ea typeface="Bitstream Charter"/>
                <a:cs typeface="Bitstream Charter"/>
              </a:defRPr>
            </a:pPr>
            <a:r>
              <a:rPr sz="1275" b="1">
                <a:solidFill>
                  <a:srgbClr val="14233A"/>
                </a:solidFill>
                <a:latin typeface="Bitstream Charter"/>
                <a:ea typeface="Bitstream Charter"/>
                <a:cs typeface="Bitstream Charter"/>
              </a:rPr>
              <a:t>Delivery, notifications and reports</a:t>
            </a:r>
          </a:p>
        </p:txBody>
      </p:sp>
      <p:sp>
        <p:nvSpPr>
          <p:cNvPr id="23" name="">
            <a:extLst xmlns:a="http://schemas.openxmlformats.org/drawingml/2006/main">
              <a:ext uri="{FF2B5EF4-FFF2-40B4-BE49-F238E27FC236}">
                <a16:creationId xmlns:a16="http://schemas.microsoft.com/office/drawing/2014/main" id="{B50E8E1B-B682-434C-A5B3-1AC29EF30D6C}"/>
              </a:ext>
            </a:extLst>
          </p:cNvPr>
          <p:cNvSpPr>
            <a:spLocks xmlns:a="http://schemas.openxmlformats.org/drawingml/2006/main" noGrp="1"/>
          </p:cNvSpPr>
          <p:nvPr/>
        </p:nvSpPr>
        <p:spPr>
          <a:xfrm xmlns:a="http://schemas.openxmlformats.org/drawingml/2006/main">
            <a:off x="9734550" y="4333875"/>
            <a:ext cx="1047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111"/>
          </a:bodyPr>
          <a:lstStyle xmlns:a="http://schemas.openxmlformats.org/drawingml/2006/main"/>
          <a:p xmlns:a="http://schemas.openxmlformats.org/drawingml/2006/main">
            <a:pPr>
              <a:defRPr sz="1125" b="1">
                <a:solidFill>
                  <a:srgbClr val="16A34A"/>
                </a:solidFill>
                <a:latin typeface="Bitstream Charter"/>
                <a:ea typeface="Bitstream Charter"/>
                <a:cs typeface="Bitstream Charter"/>
              </a:defRPr>
            </a:pPr>
            <a:r>
              <a:rPr sz="1125" b="1">
                <a:solidFill>
                  <a:srgbClr val="16A34A"/>
                </a:solidFill>
                <a:latin typeface="Bitstream Charter"/>
                <a:ea typeface="Bitstream Charter"/>
                <a:cs typeface="Bitstream Charter"/>
              </a:rPr>
              <a:t>Completed</a:t>
            </a:r>
          </a:p>
        </p:txBody>
      </p:sp>
      <p:sp>
        <p:nvSpPr>
          <p:cNvPr id="24" name="">
            <a:extLst xmlns:a="http://schemas.openxmlformats.org/drawingml/2006/main">
              <a:ext uri="{FF2B5EF4-FFF2-40B4-BE49-F238E27FC236}">
                <a16:creationId xmlns:a16="http://schemas.microsoft.com/office/drawing/2014/main" id="{20D55979-0561-4383-83E7-889526C0895A}"/>
              </a:ext>
            </a:extLst>
          </p:cNvPr>
          <p:cNvSpPr>
            <a:spLocks xmlns:a="http://schemas.openxmlformats.org/drawingml/2006/main" noGrp="1"/>
          </p:cNvSpPr>
          <p:nvPr/>
        </p:nvSpPr>
        <p:spPr>
          <a:xfrm xmlns:a="http://schemas.openxmlformats.org/drawingml/2006/main">
            <a:off x="6457950" y="4581525"/>
            <a:ext cx="3429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6667"/>
          </a:bodyPr>
          <a:lstStyle xmlns:a="http://schemas.openxmlformats.org/drawingml/2006/main"/>
          <a:p xmlns:a="http://schemas.openxmlformats.org/drawingml/2006/main">
            <a:pPr>
              <a:defRPr sz="975" b="0">
                <a:solidFill>
                  <a:srgbClr val="64748B"/>
                </a:solidFill>
                <a:latin typeface="Bitstream Charter"/>
                <a:ea typeface="Bitstream Charter"/>
                <a:cs typeface="Bitstream Charter"/>
              </a:defRPr>
            </a:pPr>
            <a:r>
              <a:rPr sz="975" b="0">
                <a:solidFill>
                  <a:srgbClr val="64748B"/>
                </a:solidFill>
                <a:latin typeface="Bitstream Charter"/>
                <a:ea typeface="Bitstream Charter"/>
                <a:cs typeface="Bitstream Charter"/>
              </a:rPr>
              <a:t>Integrated with shared operational data</a:t>
            </a:r>
          </a:p>
        </p:txBody>
      </p:sp>
      <p:sp>
        <p:nvSpPr>
          <p:cNvPr id="25" name="">
            <a:extLst xmlns:a="http://schemas.openxmlformats.org/drawingml/2006/main">
              <a:ext uri="{FF2B5EF4-FFF2-40B4-BE49-F238E27FC236}">
                <a16:creationId xmlns:a16="http://schemas.microsoft.com/office/drawing/2014/main" id="{1EBD3128-4F4A-4522-9E9B-362DF1746120}"/>
              </a:ext>
            </a:extLst>
          </p:cNvPr>
          <p:cNvSpPr>
            <a:spLocks xmlns:a="http://schemas.openxmlformats.org/drawingml/2006/main" noGrp="1"/>
          </p:cNvSpPr>
          <p:nvPr/>
        </p:nvSpPr>
        <p:spPr>
          <a:xfrm xmlns:a="http://schemas.openxmlformats.org/drawingml/2006/main">
            <a:off x="6191250" y="5219700"/>
            <a:ext cx="4857750" cy="685800"/>
          </a:xfrm>
          <a:prstGeom xmlns:a="http://schemas.openxmlformats.org/drawingml/2006/main" prst="roundRect">
            <a:avLst>
              <a:gd name="adj" fmla="val 25000"/>
            </a:avLst>
          </a:prstGeom>
          <a:solidFill xmlns:a="http://schemas.openxmlformats.org/drawingml/2006/main">
            <a:srgbClr val="EEEAFE"/>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80ABA934-A9C6-47E1-AA66-4F526E22D266}"/>
              </a:ext>
            </a:extLst>
          </p:cNvPr>
          <p:cNvSpPr>
            <a:spLocks xmlns:a="http://schemas.openxmlformats.org/drawingml/2006/main" noGrp="1"/>
          </p:cNvSpPr>
          <p:nvPr/>
        </p:nvSpPr>
        <p:spPr>
          <a:xfrm xmlns:a="http://schemas.openxmlformats.org/drawingml/2006/main">
            <a:off x="6438900" y="5334000"/>
            <a:ext cx="2000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2222"/>
          </a:bodyPr>
          <a:lstStyle xmlns:a="http://schemas.openxmlformats.org/drawingml/2006/main"/>
          <a:p xmlns:a="http://schemas.openxmlformats.org/drawingml/2006/main">
            <a:pPr>
              <a:defRPr sz="900" b="1">
                <a:solidFill>
                  <a:srgbClr val="7759E8"/>
                </a:solidFill>
                <a:latin typeface="Bitstream Charter"/>
                <a:ea typeface="Bitstream Charter"/>
                <a:cs typeface="Bitstream Charter"/>
              </a:defRPr>
            </a:pPr>
            <a:r>
              <a:rPr sz="900" b="1">
                <a:solidFill>
                  <a:srgbClr val="7759E8"/>
                </a:solidFill>
                <a:latin typeface="Bitstream Charter"/>
                <a:ea typeface="Bitstream Charter"/>
                <a:cs typeface="Bitstream Charter"/>
              </a:rPr>
              <a:t>OBJECTIVES ACHIEVED</a:t>
            </a:r>
          </a:p>
        </p:txBody>
      </p:sp>
      <p:sp>
        <p:nvSpPr>
          <p:cNvPr id="27" name="">
            <a:extLst xmlns:a="http://schemas.openxmlformats.org/drawingml/2006/main">
              <a:ext uri="{FF2B5EF4-FFF2-40B4-BE49-F238E27FC236}">
                <a16:creationId xmlns:a16="http://schemas.microsoft.com/office/drawing/2014/main" id="{9441CCC7-BF21-4452-B0B5-D6297BCB2D27}"/>
              </a:ext>
            </a:extLst>
          </p:cNvPr>
          <p:cNvSpPr>
            <a:spLocks xmlns:a="http://schemas.openxmlformats.org/drawingml/2006/main" noGrp="1"/>
          </p:cNvSpPr>
          <p:nvPr/>
        </p:nvSpPr>
        <p:spPr>
          <a:xfrm xmlns:a="http://schemas.openxmlformats.org/drawingml/2006/main">
            <a:off x="6438900" y="5534025"/>
            <a:ext cx="428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5926"/>
          </a:bodyPr>
          <a:lstStyle xmlns:a="http://schemas.openxmlformats.org/drawingml/2006/main"/>
          <a:p xmlns:a="http://schemas.openxmlformats.org/drawingml/2006/main">
            <a:pPr>
              <a:defRPr sz="1350" b="1">
                <a:solidFill>
                  <a:srgbClr val="14233A"/>
                </a:solidFill>
                <a:latin typeface="Bitstream Charter"/>
                <a:ea typeface="Bitstream Charter"/>
                <a:cs typeface="Bitstream Charter"/>
              </a:defRPr>
            </a:pPr>
            <a:r>
              <a:rPr sz="1350" b="1">
                <a:solidFill>
                  <a:srgbClr val="14233A"/>
                </a:solidFill>
                <a:latin typeface="Bitstream Charter"/>
                <a:ea typeface="Bitstream Charter"/>
                <a:cs typeface="Bitstream Charter"/>
              </a:rPr>
              <a:t>Core functions, validation and real-time reporting</a:t>
            </a:r>
          </a:p>
        </p:txBody>
      </p:sp>
      <p:sp>
        <p:nvSpPr>
          <p:cNvPr id="28" name="">
            <a:extLst xmlns:a="http://schemas.openxmlformats.org/drawingml/2006/main">
              <a:ext uri="{FF2B5EF4-FFF2-40B4-BE49-F238E27FC236}">
                <a16:creationId xmlns:a16="http://schemas.microsoft.com/office/drawing/2014/main" id="{656DECA4-B707-4BF4-93F0-E03EDD25428B}"/>
              </a:ext>
            </a:extLst>
          </p:cNvPr>
          <p:cNvSpPr>
            <a:spLocks xmlns:a="http://schemas.openxmlformats.org/drawingml/2006/main" noGrp="1"/>
          </p:cNvSpPr>
          <p:nvPr/>
        </p:nvSpPr>
        <p:spPr>
          <a:xfrm xmlns:a="http://schemas.openxmlformats.org/drawingml/2006/main">
            <a:off x="685800" y="6496050"/>
            <a:ext cx="6191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0000"/>
          </a:bodyPr>
          <a:lstStyle xmlns:a="http://schemas.openxmlformats.org/drawingml/2006/main"/>
          <a:p xmlns:a="http://schemas.openxmlformats.org/drawingml/2006/main">
            <a:pPr>
              <a:defRPr sz="750" b="1">
                <a:solidFill>
                  <a:srgbClr val="64748B"/>
                </a:solidFill>
                <a:latin typeface="Bitstream Charter"/>
                <a:ea typeface="Bitstream Charter"/>
                <a:cs typeface="Bitstream Charter"/>
              </a:defRPr>
            </a:pPr>
            <a:r>
              <a:rPr sz="750" b="1">
                <a:solidFill>
                  <a:srgbClr val="64748B"/>
                </a:solidFill>
                <a:latin typeface="Bitstream Charter"/>
                <a:ea typeface="Bitstream Charter"/>
                <a:cs typeface="Bitstream Charter"/>
              </a:rPr>
              <a:t>BOOKSHOP SYSTEM  •  BRIGHT MULTISERVICES AND TECH SOLUTIONS</a:t>
            </a:r>
          </a:p>
        </p:txBody>
      </p:sp>
      <p:sp>
        <p:nvSpPr>
          <p:cNvPr id="29" name="">
            <a:extLst xmlns:a="http://schemas.openxmlformats.org/drawingml/2006/main">
              <a:ext uri="{FF2B5EF4-FFF2-40B4-BE49-F238E27FC236}">
                <a16:creationId xmlns:a16="http://schemas.microsoft.com/office/drawing/2014/main" id="{6FC75C53-9E7C-4CF7-8BC0-B256BAF14E77}"/>
              </a:ext>
            </a:extLst>
          </p:cNvPr>
          <p:cNvSpPr>
            <a:spLocks xmlns:a="http://schemas.openxmlformats.org/drawingml/2006/main" noGrp="1"/>
          </p:cNvSpPr>
          <p:nvPr/>
        </p:nvSpPr>
        <p:spPr>
          <a:xfrm xmlns:a="http://schemas.openxmlformats.org/drawingml/2006/main">
            <a:off x="11049000" y="6496050"/>
            <a:ext cx="4572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0000"/>
          </a:bodyPr>
          <a:lstStyle xmlns:a="http://schemas.openxmlformats.org/drawingml/2006/main"/>
          <a:p xmlns:a="http://schemas.openxmlformats.org/drawingml/2006/main">
            <a:pPr>
              <a:defRPr sz="750" b="1">
                <a:solidFill>
                  <a:srgbClr val="64748B"/>
                </a:solidFill>
                <a:latin typeface="Bitstream Charter"/>
                <a:ea typeface="Bitstream Charter"/>
                <a:cs typeface="Bitstream Charter"/>
              </a:defRPr>
            </a:pPr>
            <a:r>
              <a:rPr sz="750" b="1">
                <a:solidFill>
                  <a:srgbClr val="64748B"/>
                </a:solidFill>
                <a:latin typeface="Bitstream Charter"/>
                <a:ea typeface="Bitstream Charter"/>
                <a:cs typeface="Bitstream Charter"/>
              </a:rPr>
              <a:t>09</a:t>
            </a:r>
          </a:p>
        </p:txBody>
      </p:sp>
    </p:spTree>
    <p:extLst>
      <p:ext uri="{BB962C8B-B14F-4D97-AF65-F5344CB8AC3E}">
        <p14:creationId xmlns:p14="http://schemas.microsoft.com/office/powerpoint/2010/main" val="1907837149"/>
      </p:ext>
    </p:extLst>
  </p:cSld>
</p:sld>
</file>

<file path=ppt/slides/slide10.xml><?xml version="1.0" encoding="utf-8"?>
<p:sld xmlns:p="http://schemas.openxmlformats.org/presentationml/2006/main">
  <p:cSld>
    <p:bg>
      <p:bgPr>
        <a:solidFill xmlns:a="http://schemas.openxmlformats.org/drawingml/2006/main">
          <a:srgbClr val="F6F8FC"/>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3BDB1ECF-CD00-47AC-A8B5-ED0B2C99BE72}"/>
              </a:ext>
            </a:extLst>
          </p:cNvPr>
          <p:cNvSpPr>
            <a:spLocks xmlns:a="http://schemas.openxmlformats.org/drawingml/2006/main" noGrp="1"/>
          </p:cNvSpPr>
          <p:nvPr/>
        </p:nvSpPr>
        <p:spPr>
          <a:xfrm xmlns:a="http://schemas.openxmlformats.org/drawingml/2006/main">
            <a:off x="685800" y="361950"/>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308"/>
          </a:bodyPr>
          <a:lstStyle xmlns:a="http://schemas.openxmlformats.org/drawingml/2006/main"/>
          <a:p xmlns:a="http://schemas.openxmlformats.org/drawingml/2006/main">
            <a:pPr>
              <a:defRPr sz="975" b="1">
                <a:solidFill>
                  <a:srgbClr val="7759E8"/>
                </a:solidFill>
                <a:latin typeface="Bitstream Charter"/>
                <a:ea typeface="Bitstream Charter"/>
                <a:cs typeface="Bitstream Charter"/>
              </a:defRPr>
            </a:pPr>
            <a:r>
              <a:rPr sz="975" b="1">
                <a:solidFill>
                  <a:srgbClr val="7759E8"/>
                </a:solidFill>
                <a:latin typeface="Bitstream Charter"/>
                <a:ea typeface="Bitstream Charter"/>
                <a:cs typeface="Bitstream Charter"/>
              </a:rPr>
              <a:t>09 / EVALUATION RESULTS</a:t>
            </a:r>
          </a:p>
        </p:txBody>
      </p:sp>
      <p:sp>
        <p:nvSpPr>
          <p:cNvPr id="2" name="">
            <a:extLst xmlns:a="http://schemas.openxmlformats.org/drawingml/2006/main">
              <a:ext uri="{FF2B5EF4-FFF2-40B4-BE49-F238E27FC236}">
                <a16:creationId xmlns:a16="http://schemas.microsoft.com/office/drawing/2014/main" id="{A9A00E3F-58E5-47E7-844F-5A60A0FA9874}"/>
              </a:ext>
            </a:extLst>
          </p:cNvPr>
          <p:cNvSpPr>
            <a:spLocks xmlns:a="http://schemas.openxmlformats.org/drawingml/2006/main" noGrp="1"/>
          </p:cNvSpPr>
          <p:nvPr/>
        </p:nvSpPr>
        <p:spPr>
          <a:xfrm xmlns:a="http://schemas.openxmlformats.org/drawingml/2006/main">
            <a:off x="685800" y="647700"/>
            <a:ext cx="108204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625" b="1">
                <a:solidFill>
                  <a:srgbClr val="14233A"/>
                </a:solidFill>
                <a:latin typeface="Bitstream Charter"/>
                <a:ea typeface="Bitstream Charter"/>
                <a:cs typeface="Bitstream Charter"/>
              </a:defRPr>
            </a:pPr>
            <a:r>
              <a:rPr sz="2625" b="1">
                <a:solidFill>
                  <a:srgbClr val="14233A"/>
                </a:solidFill>
                <a:latin typeface="Bitstream Charter"/>
                <a:ea typeface="Bitstream Charter"/>
                <a:cs typeface="Bitstream Charter"/>
              </a:rPr>
              <a:t>Testing confirmed performance, accuracy and security</a:t>
            </a:r>
          </a:p>
        </p:txBody>
      </p:sp>
      <p:sp>
        <p:nvSpPr>
          <p:cNvPr id="3" name="">
            <a:extLst xmlns:a="http://schemas.openxmlformats.org/drawingml/2006/main">
              <a:ext uri="{FF2B5EF4-FFF2-40B4-BE49-F238E27FC236}">
                <a16:creationId xmlns:a16="http://schemas.microsoft.com/office/drawing/2014/main" id="{0493F2FB-BEF5-4B68-B2FA-48C10C7E3EE1}"/>
              </a:ext>
            </a:extLst>
          </p:cNvPr>
          <p:cNvSpPr>
            <a:spLocks xmlns:a="http://schemas.openxmlformats.org/drawingml/2006/main" noGrp="1"/>
          </p:cNvSpPr>
          <p:nvPr/>
        </p:nvSpPr>
        <p:spPr>
          <a:xfrm xmlns:a="http://schemas.openxmlformats.org/drawingml/2006/main">
            <a:off x="685800" y="1238250"/>
            <a:ext cx="10287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b="0">
                <a:solidFill>
                  <a:srgbClr val="64748B"/>
                </a:solidFill>
                <a:latin typeface="Bitstream Charter"/>
                <a:ea typeface="Bitstream Charter"/>
                <a:cs typeface="Bitstream Charter"/>
              </a:defRPr>
            </a:pPr>
            <a:r>
              <a:rPr sz="1275" b="0">
                <a:solidFill>
                  <a:srgbClr val="64748B"/>
                </a:solidFill>
                <a:latin typeface="Bitstream Charter"/>
                <a:ea typeface="Bitstream Charter"/>
                <a:cs typeface="Bitstream Charter"/>
              </a:rPr>
              <a:t>The documented Chapter Six metrics met every defined target.</a:t>
            </a:r>
          </a:p>
        </p:txBody>
      </p:sp>
      <p:graphicFrame>
        <p:nvGraphicFramePr>
          <p:cNvPr id="12" name=""/>
          <p:cNvGraphicFramePr/>
          <p:nvPr/>
        </p:nvGraphicFramePr>
        <p:xfrm>
          <a:off xmlns:a="http://schemas.openxmlformats.org/drawingml/2006/main" x="685800" y="1847850"/>
          <a:ext xmlns:a="http://schemas.openxmlformats.org/drawingml/2006/main" cx="10820400" cy="3409950"/>
        </p:xfrm>
        <a:graphic xmlns:a="http://schemas.openxmlformats.org/drawingml/2006/main">
          <a:graphicData uri="http://schemas.openxmlformats.org/drawingml/2006/table">
            <a:tbl>
              <a:tblPr/>
              <a:tblGrid>
                <a:gridCol w="3905250"/>
                <a:gridCol w="2190750"/>
                <a:gridCol w="2190750"/>
                <a:gridCol w="2533650"/>
              </a:tblGrid>
              <a:tr h="487136">
                <a:tc>
                  <a:txBody>
                    <a:bodyPr/>
                    <a:lstStyle/>
                    <a:p>
                      <a:r>
                        <a:rPr sz="1200" b="1">
                          <a:solidFill>
                            <a:srgbClr val="FFFFFF"/>
                          </a:solidFill>
                          <a:latin typeface="Bitstream Charter"/>
                          <a:ea typeface="Bitstream Charter"/>
                          <a:cs typeface="Bitstream Charter"/>
                        </a:rPr>
                        <a:t>Metric</a:t>
                      </a:r>
                    </a:p>
                  </a:txBody>
                  <a:tcPr marL="91440" marR="91440" marT="45720" marB="45720">
                    <a:solidFill>
                      <a:srgbClr val="101829"/>
                    </a:solidFill>
                  </a:tcPr>
                </a:tc>
                <a:tc>
                  <a:txBody>
                    <a:bodyPr/>
                    <a:lstStyle/>
                    <a:p>
                      <a:r>
                        <a:rPr sz="1200" b="1">
                          <a:solidFill>
                            <a:srgbClr val="FFFFFF"/>
                          </a:solidFill>
                          <a:latin typeface="Bitstream Charter"/>
                          <a:ea typeface="Bitstream Charter"/>
                          <a:cs typeface="Bitstream Charter"/>
                        </a:rPr>
                        <a:t>Target</a:t>
                      </a:r>
                    </a:p>
                  </a:txBody>
                  <a:tcPr marL="91440" marR="91440" marT="45720" marB="45720">
                    <a:solidFill>
                      <a:srgbClr val="101829"/>
                    </a:solidFill>
                  </a:tcPr>
                </a:tc>
                <a:tc>
                  <a:txBody>
                    <a:bodyPr/>
                    <a:lstStyle/>
                    <a:p>
                      <a:r>
                        <a:rPr sz="1200" b="1">
                          <a:solidFill>
                            <a:srgbClr val="FFFFFF"/>
                          </a:solidFill>
                          <a:latin typeface="Bitstream Charter"/>
                          <a:ea typeface="Bitstream Charter"/>
                          <a:cs typeface="Bitstream Charter"/>
                        </a:rPr>
                        <a:t>Result</a:t>
                      </a:r>
                    </a:p>
                  </a:txBody>
                  <a:tcPr marL="91440" marR="91440" marT="45720" marB="45720">
                    <a:solidFill>
                      <a:srgbClr val="101829"/>
                    </a:solidFill>
                  </a:tcPr>
                </a:tc>
                <a:tc>
                  <a:txBody>
                    <a:bodyPr/>
                    <a:lstStyle/>
                    <a:p>
                      <a:r>
                        <a:rPr sz="1200" b="1">
                          <a:solidFill>
                            <a:srgbClr val="FFFFFF"/>
                          </a:solidFill>
                          <a:latin typeface="Bitstream Charter"/>
                          <a:ea typeface="Bitstream Charter"/>
                          <a:cs typeface="Bitstream Charter"/>
                        </a:rPr>
                        <a:t>Status</a:t>
                      </a:r>
                    </a:p>
                  </a:txBody>
                  <a:tcPr marL="91440" marR="91440" marT="45720" marB="45720">
                    <a:solidFill>
                      <a:srgbClr val="101829"/>
                    </a:solidFill>
                  </a:tcPr>
                </a:tc>
              </a:tr>
              <a:tr h="487136">
                <a:tc>
                  <a:txBody>
                    <a:bodyPr/>
                    <a:lstStyle/>
                    <a:p>
                      <a:r>
                        <a:rPr sz="1200" b="1">
                          <a:solidFill>
                            <a:srgbClr val="14233A"/>
                          </a:solidFill>
                          <a:latin typeface="Bitstream Charter"/>
                          <a:ea typeface="Bitstream Charter"/>
                          <a:cs typeface="Bitstream Charter"/>
                        </a:rPr>
                        <a:t>Login response</a:t>
                      </a:r>
                    </a:p>
                  </a:txBody>
                  <a:tcPr marL="91440" marR="91440" marT="45720" marB="45720">
                    <a:solidFill>
                      <a:srgbClr val="FFFFFF"/>
                    </a:solidFill>
                  </a:tcPr>
                </a:tc>
                <a:tc>
                  <a:txBody>
                    <a:bodyPr/>
                    <a:lstStyle/>
                    <a:p>
                      <a:r>
                        <a:rPr sz="1200" b="0">
                          <a:solidFill>
                            <a:srgbClr val="14233A"/>
                          </a:solidFill>
                          <a:latin typeface="Bitstream Charter"/>
                          <a:ea typeface="Bitstream Charter"/>
                          <a:cs typeface="Bitstream Charter"/>
                        </a:rPr>
                        <a:t>≤ 2 seconds</a:t>
                      </a:r>
                    </a:p>
                  </a:txBody>
                  <a:tcPr marL="91440" marR="91440" marT="45720" marB="45720">
                    <a:solidFill>
                      <a:srgbClr val="FFFFFF"/>
                    </a:solidFill>
                  </a:tcPr>
                </a:tc>
                <a:tc>
                  <a:txBody>
                    <a:bodyPr/>
                    <a:lstStyle/>
                    <a:p>
                      <a:r>
                        <a:rPr sz="1200" b="0">
                          <a:solidFill>
                            <a:srgbClr val="14233A"/>
                          </a:solidFill>
                          <a:latin typeface="Bitstream Charter"/>
                          <a:ea typeface="Bitstream Charter"/>
                          <a:cs typeface="Bitstream Charter"/>
                        </a:rPr>
                        <a:t>1.3 seconds</a:t>
                      </a:r>
                    </a:p>
                  </a:txBody>
                  <a:tcPr marL="91440" marR="91440" marT="45720" marB="45720">
                    <a:solidFill>
                      <a:srgbClr val="FFFFFF"/>
                    </a:solidFill>
                  </a:tcPr>
                </a:tc>
                <a:tc>
                  <a:txBody>
                    <a:bodyPr/>
                    <a:lstStyle/>
                    <a:p>
                      <a:r>
                        <a:rPr sz="1200" b="1">
                          <a:solidFill>
                            <a:srgbClr val="16A34A"/>
                          </a:solidFill>
                          <a:latin typeface="Bitstream Charter"/>
                          <a:ea typeface="Bitstream Charter"/>
                          <a:cs typeface="Bitstream Charter"/>
                        </a:rPr>
                        <a:t>Achieved</a:t>
                      </a:r>
                    </a:p>
                  </a:txBody>
                  <a:tcPr marL="91440" marR="91440" marT="45720" marB="45720">
                    <a:solidFill>
                      <a:srgbClr val="FFFFFF"/>
                    </a:solidFill>
                  </a:tcPr>
                </a:tc>
              </a:tr>
              <a:tr h="487136">
                <a:tc>
                  <a:txBody>
                    <a:bodyPr/>
                    <a:lstStyle/>
                    <a:p>
                      <a:r>
                        <a:rPr sz="1200" b="1">
                          <a:solidFill>
                            <a:srgbClr val="14233A"/>
                          </a:solidFill>
                          <a:latin typeface="Bitstream Charter"/>
                          <a:ea typeface="Bitstream Charter"/>
                          <a:cs typeface="Bitstream Charter"/>
                        </a:rPr>
                        <a:t>Dashboard loading</a:t>
                      </a:r>
                    </a:p>
                  </a:txBody>
                  <a:tcPr marL="91440" marR="91440" marT="45720" marB="45720">
                    <a:solidFill>
                      <a:srgbClr val="F0F3F8"/>
                    </a:solidFill>
                  </a:tcPr>
                </a:tc>
                <a:tc>
                  <a:txBody>
                    <a:bodyPr/>
                    <a:lstStyle/>
                    <a:p>
                      <a:r>
                        <a:rPr sz="1200" b="0">
                          <a:solidFill>
                            <a:srgbClr val="14233A"/>
                          </a:solidFill>
                          <a:latin typeface="Bitstream Charter"/>
                          <a:ea typeface="Bitstream Charter"/>
                          <a:cs typeface="Bitstream Charter"/>
                        </a:rPr>
                        <a:t>≤ 3 seconds</a:t>
                      </a:r>
                    </a:p>
                  </a:txBody>
                  <a:tcPr marL="91440" marR="91440" marT="45720" marB="45720">
                    <a:solidFill>
                      <a:srgbClr val="F0F3F8"/>
                    </a:solidFill>
                  </a:tcPr>
                </a:tc>
                <a:tc>
                  <a:txBody>
                    <a:bodyPr/>
                    <a:lstStyle/>
                    <a:p>
                      <a:r>
                        <a:rPr sz="1200" b="0">
                          <a:solidFill>
                            <a:srgbClr val="14233A"/>
                          </a:solidFill>
                          <a:latin typeface="Bitstream Charter"/>
                          <a:ea typeface="Bitstream Charter"/>
                          <a:cs typeface="Bitstream Charter"/>
                        </a:rPr>
                        <a:t>2.1 seconds</a:t>
                      </a:r>
                    </a:p>
                  </a:txBody>
                  <a:tcPr marL="91440" marR="91440" marT="45720" marB="45720">
                    <a:solidFill>
                      <a:srgbClr val="F0F3F8"/>
                    </a:solidFill>
                  </a:tcPr>
                </a:tc>
                <a:tc>
                  <a:txBody>
                    <a:bodyPr/>
                    <a:lstStyle/>
                    <a:p>
                      <a:r>
                        <a:rPr sz="1200" b="1">
                          <a:solidFill>
                            <a:srgbClr val="16A34A"/>
                          </a:solidFill>
                          <a:latin typeface="Bitstream Charter"/>
                          <a:ea typeface="Bitstream Charter"/>
                          <a:cs typeface="Bitstream Charter"/>
                        </a:rPr>
                        <a:t>Achieved</a:t>
                      </a:r>
                    </a:p>
                  </a:txBody>
                  <a:tcPr marL="91440" marR="91440" marT="45720" marB="45720">
                    <a:solidFill>
                      <a:srgbClr val="F0F3F8"/>
                    </a:solidFill>
                  </a:tcPr>
                </a:tc>
              </a:tr>
              <a:tr h="487136">
                <a:tc>
                  <a:txBody>
                    <a:bodyPr/>
                    <a:lstStyle/>
                    <a:p>
                      <a:r>
                        <a:rPr sz="1200" b="1">
                          <a:solidFill>
                            <a:srgbClr val="14233A"/>
                          </a:solidFill>
                          <a:latin typeface="Bitstream Charter"/>
                          <a:ea typeface="Bitstream Charter"/>
                          <a:cs typeface="Bitstream Charter"/>
                        </a:rPr>
                        <a:t>Inventory accuracy</a:t>
                      </a:r>
                    </a:p>
                  </a:txBody>
                  <a:tcPr marL="91440" marR="91440" marT="45720" marB="45720">
                    <a:solidFill>
                      <a:srgbClr val="FFFFFF"/>
                    </a:solidFill>
                  </a:tcPr>
                </a:tc>
                <a:tc>
                  <a:txBody>
                    <a:bodyPr/>
                    <a:lstStyle/>
                    <a:p>
                      <a:r>
                        <a:rPr sz="1200" b="0">
                          <a:solidFill>
                            <a:srgbClr val="14233A"/>
                          </a:solidFill>
                          <a:latin typeface="Bitstream Charter"/>
                          <a:ea typeface="Bitstream Charter"/>
                          <a:cs typeface="Bitstream Charter"/>
                        </a:rPr>
                        <a:t>100%</a:t>
                      </a:r>
                    </a:p>
                  </a:txBody>
                  <a:tcPr marL="91440" marR="91440" marT="45720" marB="45720">
                    <a:solidFill>
                      <a:srgbClr val="FFFFFF"/>
                    </a:solidFill>
                  </a:tcPr>
                </a:tc>
                <a:tc>
                  <a:txBody>
                    <a:bodyPr/>
                    <a:lstStyle/>
                    <a:p>
                      <a:r>
                        <a:rPr sz="1200" b="0">
                          <a:solidFill>
                            <a:srgbClr val="14233A"/>
                          </a:solidFill>
                          <a:latin typeface="Bitstream Charter"/>
                          <a:ea typeface="Bitstream Charter"/>
                          <a:cs typeface="Bitstream Charter"/>
                        </a:rPr>
                        <a:t>100%</a:t>
                      </a:r>
                    </a:p>
                  </a:txBody>
                  <a:tcPr marL="91440" marR="91440" marT="45720" marB="45720">
                    <a:solidFill>
                      <a:srgbClr val="FFFFFF"/>
                    </a:solidFill>
                  </a:tcPr>
                </a:tc>
                <a:tc>
                  <a:txBody>
                    <a:bodyPr/>
                    <a:lstStyle/>
                    <a:p>
                      <a:r>
                        <a:rPr sz="1200" b="1">
                          <a:solidFill>
                            <a:srgbClr val="16A34A"/>
                          </a:solidFill>
                          <a:latin typeface="Bitstream Charter"/>
                          <a:ea typeface="Bitstream Charter"/>
                          <a:cs typeface="Bitstream Charter"/>
                        </a:rPr>
                        <a:t>Achieved</a:t>
                      </a:r>
                    </a:p>
                  </a:txBody>
                  <a:tcPr marL="91440" marR="91440" marT="45720" marB="45720">
                    <a:solidFill>
                      <a:srgbClr val="FFFFFF"/>
                    </a:solidFill>
                  </a:tcPr>
                </a:tc>
              </a:tr>
              <a:tr h="487136">
                <a:tc>
                  <a:txBody>
                    <a:bodyPr/>
                    <a:lstStyle/>
                    <a:p>
                      <a:r>
                        <a:rPr sz="1200" b="1">
                          <a:solidFill>
                            <a:srgbClr val="14233A"/>
                          </a:solidFill>
                          <a:latin typeface="Bitstream Charter"/>
                          <a:ea typeface="Bitstream Charter"/>
                          <a:cs typeface="Bitstream Charter"/>
                        </a:rPr>
                        <a:t>Sales accuracy</a:t>
                      </a:r>
                    </a:p>
                  </a:txBody>
                  <a:tcPr marL="91440" marR="91440" marT="45720" marB="45720">
                    <a:solidFill>
                      <a:srgbClr val="F0F3F8"/>
                    </a:solidFill>
                  </a:tcPr>
                </a:tc>
                <a:tc>
                  <a:txBody>
                    <a:bodyPr/>
                    <a:lstStyle/>
                    <a:p>
                      <a:r>
                        <a:rPr sz="1200" b="0">
                          <a:solidFill>
                            <a:srgbClr val="14233A"/>
                          </a:solidFill>
                          <a:latin typeface="Bitstream Charter"/>
                          <a:ea typeface="Bitstream Charter"/>
                          <a:cs typeface="Bitstream Charter"/>
                        </a:rPr>
                        <a:t>100%</a:t>
                      </a:r>
                    </a:p>
                  </a:txBody>
                  <a:tcPr marL="91440" marR="91440" marT="45720" marB="45720">
                    <a:solidFill>
                      <a:srgbClr val="F0F3F8"/>
                    </a:solidFill>
                  </a:tcPr>
                </a:tc>
                <a:tc>
                  <a:txBody>
                    <a:bodyPr/>
                    <a:lstStyle/>
                    <a:p>
                      <a:r>
                        <a:rPr sz="1200" b="0">
                          <a:solidFill>
                            <a:srgbClr val="14233A"/>
                          </a:solidFill>
                          <a:latin typeface="Bitstream Charter"/>
                          <a:ea typeface="Bitstream Charter"/>
                          <a:cs typeface="Bitstream Charter"/>
                        </a:rPr>
                        <a:t>100%</a:t>
                      </a:r>
                    </a:p>
                  </a:txBody>
                  <a:tcPr marL="91440" marR="91440" marT="45720" marB="45720">
                    <a:solidFill>
                      <a:srgbClr val="F0F3F8"/>
                    </a:solidFill>
                  </a:tcPr>
                </a:tc>
                <a:tc>
                  <a:txBody>
                    <a:bodyPr/>
                    <a:lstStyle/>
                    <a:p>
                      <a:r>
                        <a:rPr sz="1200" b="1">
                          <a:solidFill>
                            <a:srgbClr val="16A34A"/>
                          </a:solidFill>
                          <a:latin typeface="Bitstream Charter"/>
                          <a:ea typeface="Bitstream Charter"/>
                          <a:cs typeface="Bitstream Charter"/>
                        </a:rPr>
                        <a:t>Achieved</a:t>
                      </a:r>
                    </a:p>
                  </a:txBody>
                  <a:tcPr marL="91440" marR="91440" marT="45720" marB="45720">
                    <a:solidFill>
                      <a:srgbClr val="F0F3F8"/>
                    </a:solidFill>
                  </a:tcPr>
                </a:tc>
              </a:tr>
              <a:tr h="487136">
                <a:tc>
                  <a:txBody>
                    <a:bodyPr/>
                    <a:lstStyle/>
                    <a:p>
                      <a:r>
                        <a:rPr sz="1200" b="1">
                          <a:solidFill>
                            <a:srgbClr val="14233A"/>
                          </a:solidFill>
                          <a:latin typeface="Bitstream Charter"/>
                          <a:ea typeface="Bitstream Charter"/>
                          <a:cs typeface="Bitstream Charter"/>
                        </a:rPr>
                        <a:t>Report generation</a:t>
                      </a:r>
                    </a:p>
                  </a:txBody>
                  <a:tcPr marL="91440" marR="91440" marT="45720" marB="45720">
                    <a:solidFill>
                      <a:srgbClr val="FFFFFF"/>
                    </a:solidFill>
                  </a:tcPr>
                </a:tc>
                <a:tc>
                  <a:txBody>
                    <a:bodyPr/>
                    <a:lstStyle/>
                    <a:p>
                      <a:r>
                        <a:rPr sz="1200" b="0">
                          <a:solidFill>
                            <a:srgbClr val="14233A"/>
                          </a:solidFill>
                          <a:latin typeface="Bitstream Charter"/>
                          <a:ea typeface="Bitstream Charter"/>
                          <a:cs typeface="Bitstream Charter"/>
                        </a:rPr>
                        <a:t>≤ 5 seconds</a:t>
                      </a:r>
                    </a:p>
                  </a:txBody>
                  <a:tcPr marL="91440" marR="91440" marT="45720" marB="45720">
                    <a:solidFill>
                      <a:srgbClr val="FFFFFF"/>
                    </a:solidFill>
                  </a:tcPr>
                </a:tc>
                <a:tc>
                  <a:txBody>
                    <a:bodyPr/>
                    <a:lstStyle/>
                    <a:p>
                      <a:r>
                        <a:rPr sz="1200" b="0">
                          <a:solidFill>
                            <a:srgbClr val="14233A"/>
                          </a:solidFill>
                          <a:latin typeface="Bitstream Charter"/>
                          <a:ea typeface="Bitstream Charter"/>
                          <a:cs typeface="Bitstream Charter"/>
                        </a:rPr>
                        <a:t>2.8 seconds</a:t>
                      </a:r>
                    </a:p>
                  </a:txBody>
                  <a:tcPr marL="91440" marR="91440" marT="45720" marB="45720">
                    <a:solidFill>
                      <a:srgbClr val="FFFFFF"/>
                    </a:solidFill>
                  </a:tcPr>
                </a:tc>
                <a:tc>
                  <a:txBody>
                    <a:bodyPr/>
                    <a:lstStyle/>
                    <a:p>
                      <a:r>
                        <a:rPr sz="1200" b="1">
                          <a:solidFill>
                            <a:srgbClr val="16A34A"/>
                          </a:solidFill>
                          <a:latin typeface="Bitstream Charter"/>
                          <a:ea typeface="Bitstream Charter"/>
                          <a:cs typeface="Bitstream Charter"/>
                        </a:rPr>
                        <a:t>Achieved</a:t>
                      </a:r>
                    </a:p>
                  </a:txBody>
                  <a:tcPr marL="91440" marR="91440" marT="45720" marB="45720">
                    <a:solidFill>
                      <a:srgbClr val="FFFFFF"/>
                    </a:solidFill>
                  </a:tcPr>
                </a:tc>
              </a:tr>
              <a:tr h="487136">
                <a:tc>
                  <a:txBody>
                    <a:bodyPr/>
                    <a:lstStyle/>
                    <a:p>
                      <a:r>
                        <a:rPr sz="1200" b="1">
                          <a:solidFill>
                            <a:srgbClr val="14233A"/>
                          </a:solidFill>
                          <a:latin typeface="Bitstream Charter"/>
                          <a:ea typeface="Bitstream Charter"/>
                          <a:cs typeface="Bitstream Charter"/>
                        </a:rPr>
                        <a:t>Role-based security</a:t>
                      </a:r>
                    </a:p>
                  </a:txBody>
                  <a:tcPr marL="91440" marR="91440" marT="45720" marB="45720">
                    <a:solidFill>
                      <a:srgbClr val="F0F3F8"/>
                    </a:solidFill>
                  </a:tcPr>
                </a:tc>
                <a:tc>
                  <a:txBody>
                    <a:bodyPr/>
                    <a:lstStyle/>
                    <a:p>
                      <a:r>
                        <a:rPr sz="1200" b="0">
                          <a:solidFill>
                            <a:srgbClr val="14233A"/>
                          </a:solidFill>
                          <a:latin typeface="Bitstream Charter"/>
                          <a:ea typeface="Bitstream Charter"/>
                          <a:cs typeface="Bitstream Charter"/>
                        </a:rPr>
                        <a:t>Implemented</a:t>
                      </a:r>
                    </a:p>
                  </a:txBody>
                  <a:tcPr marL="91440" marR="91440" marT="45720" marB="45720">
                    <a:solidFill>
                      <a:srgbClr val="F0F3F8"/>
                    </a:solidFill>
                  </a:tcPr>
                </a:tc>
                <a:tc>
                  <a:txBody>
                    <a:bodyPr/>
                    <a:lstStyle/>
                    <a:p>
                      <a:r>
                        <a:rPr sz="1200" b="0">
                          <a:solidFill>
                            <a:srgbClr val="14233A"/>
                          </a:solidFill>
                          <a:latin typeface="Bitstream Charter"/>
                          <a:ea typeface="Bitstream Charter"/>
                          <a:cs typeface="Bitstream Charter"/>
                        </a:rPr>
                        <a:t>Implemented</a:t>
                      </a:r>
                    </a:p>
                  </a:txBody>
                  <a:tcPr marL="91440" marR="91440" marT="45720" marB="45720">
                    <a:solidFill>
                      <a:srgbClr val="F0F3F8"/>
                    </a:solidFill>
                  </a:tcPr>
                </a:tc>
                <a:tc>
                  <a:txBody>
                    <a:bodyPr/>
                    <a:lstStyle/>
                    <a:p>
                      <a:r>
                        <a:rPr sz="1200" b="1">
                          <a:solidFill>
                            <a:srgbClr val="16A34A"/>
                          </a:solidFill>
                          <a:latin typeface="Bitstream Charter"/>
                          <a:ea typeface="Bitstream Charter"/>
                          <a:cs typeface="Bitstream Charter"/>
                        </a:rPr>
                        <a:t>Achieved</a:t>
                      </a:r>
                    </a:p>
                  </a:txBody>
                  <a:tcPr marL="91440" marR="91440" marT="45720" marB="45720">
                    <a:solidFill>
                      <a:srgbClr val="F0F3F8"/>
                    </a:solidFill>
                  </a:tcPr>
                </a:tc>
              </a:tr>
            </a:tbl>
          </a:graphicData>
        </a:graphic>
      </p:graphicFrame>
      <p:sp>
        <p:nvSpPr>
          <p:cNvPr id="5" name="">
            <a:extLst xmlns:a="http://schemas.openxmlformats.org/drawingml/2006/main">
              <a:ext uri="{FF2B5EF4-FFF2-40B4-BE49-F238E27FC236}">
                <a16:creationId xmlns:a16="http://schemas.microsoft.com/office/drawing/2014/main" id="{ACBBD20B-B780-45BC-B8E2-89D4596FF57C}"/>
              </a:ext>
            </a:extLst>
          </p:cNvPr>
          <p:cNvSpPr>
            <a:spLocks xmlns:a="http://schemas.openxmlformats.org/drawingml/2006/main" noGrp="1"/>
          </p:cNvSpPr>
          <p:nvPr/>
        </p:nvSpPr>
        <p:spPr>
          <a:xfrm xmlns:a="http://schemas.openxmlformats.org/drawingml/2006/main">
            <a:off x="685800" y="5505450"/>
            <a:ext cx="10820400" cy="514350"/>
          </a:xfrm>
          <a:prstGeom xmlns:a="http://schemas.openxmlformats.org/drawingml/2006/main" prst="roundRect">
            <a:avLst>
              <a:gd name="adj" fmla="val 33333"/>
            </a:avLst>
          </a:prstGeom>
          <a:solidFill xmlns:a="http://schemas.openxmlformats.org/drawingml/2006/main">
            <a:srgbClr val="EEEAFE"/>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B3F76F62-ECEB-42FD-AEE2-8ACFC23665EF}"/>
              </a:ext>
            </a:extLst>
          </p:cNvPr>
          <p:cNvSpPr>
            <a:spLocks xmlns:a="http://schemas.openxmlformats.org/drawingml/2006/main" noGrp="1"/>
          </p:cNvSpPr>
          <p:nvPr/>
        </p:nvSpPr>
        <p:spPr>
          <a:xfrm xmlns:a="http://schemas.openxmlformats.org/drawingml/2006/main">
            <a:off x="876300" y="5591175"/>
            <a:ext cx="104394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b="1">
                <a:solidFill>
                  <a:srgbClr val="7759E8"/>
                </a:solidFill>
                <a:latin typeface="Bitstream Charter"/>
                <a:ea typeface="Bitstream Charter"/>
                <a:cs typeface="Bitstream Charter"/>
              </a:defRPr>
            </a:pPr>
            <a:r>
              <a:rPr sz="1275" b="1">
                <a:solidFill>
                  <a:srgbClr val="7759E8"/>
                </a:solidFill>
                <a:latin typeface="Bitstream Charter"/>
                <a:ea typeface="Bitstream Charter"/>
                <a:cs typeface="Bitstream Charter"/>
              </a:rPr>
              <a:t>Testing also confirmed successful online-order processing, functional delivery processing and positive usability feedback.</a:t>
            </a:r>
          </a:p>
        </p:txBody>
      </p:sp>
      <p:sp>
        <p:nvSpPr>
          <p:cNvPr id="7" name="">
            <a:extLst xmlns:a="http://schemas.openxmlformats.org/drawingml/2006/main">
              <a:ext uri="{FF2B5EF4-FFF2-40B4-BE49-F238E27FC236}">
                <a16:creationId xmlns:a16="http://schemas.microsoft.com/office/drawing/2014/main" id="{F6C77FD0-8E40-4E6D-B469-A490DFFE9457}"/>
              </a:ext>
            </a:extLst>
          </p:cNvPr>
          <p:cNvSpPr>
            <a:spLocks xmlns:a="http://schemas.openxmlformats.org/drawingml/2006/main" noGrp="1"/>
          </p:cNvSpPr>
          <p:nvPr/>
        </p:nvSpPr>
        <p:spPr>
          <a:xfrm xmlns:a="http://schemas.openxmlformats.org/drawingml/2006/main">
            <a:off x="685800" y="6496050"/>
            <a:ext cx="6191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0000"/>
          </a:bodyPr>
          <a:lstStyle xmlns:a="http://schemas.openxmlformats.org/drawingml/2006/main"/>
          <a:p xmlns:a="http://schemas.openxmlformats.org/drawingml/2006/main">
            <a:pPr>
              <a:defRPr sz="750" b="1">
                <a:solidFill>
                  <a:srgbClr val="64748B"/>
                </a:solidFill>
                <a:latin typeface="Bitstream Charter"/>
                <a:ea typeface="Bitstream Charter"/>
                <a:cs typeface="Bitstream Charter"/>
              </a:defRPr>
            </a:pPr>
            <a:r>
              <a:rPr sz="750" b="1">
                <a:solidFill>
                  <a:srgbClr val="64748B"/>
                </a:solidFill>
                <a:latin typeface="Bitstream Charter"/>
                <a:ea typeface="Bitstream Charter"/>
                <a:cs typeface="Bitstream Charter"/>
              </a:rPr>
              <a:t>BOOKSHOP SYSTEM  •  BRIGHT MULTISERVICES AND TECH SOLUTIONS</a:t>
            </a:r>
          </a:p>
        </p:txBody>
      </p:sp>
      <p:sp>
        <p:nvSpPr>
          <p:cNvPr id="8" name="">
            <a:extLst xmlns:a="http://schemas.openxmlformats.org/drawingml/2006/main">
              <a:ext uri="{FF2B5EF4-FFF2-40B4-BE49-F238E27FC236}">
                <a16:creationId xmlns:a16="http://schemas.microsoft.com/office/drawing/2014/main" id="{98B8B01D-ACA7-4753-BFCB-C2E7AC97DEB0}"/>
              </a:ext>
            </a:extLst>
          </p:cNvPr>
          <p:cNvSpPr>
            <a:spLocks xmlns:a="http://schemas.openxmlformats.org/drawingml/2006/main" noGrp="1"/>
          </p:cNvSpPr>
          <p:nvPr/>
        </p:nvSpPr>
        <p:spPr>
          <a:xfrm xmlns:a="http://schemas.openxmlformats.org/drawingml/2006/main">
            <a:off x="11049000" y="6496050"/>
            <a:ext cx="4572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0000"/>
          </a:bodyPr>
          <a:lstStyle xmlns:a="http://schemas.openxmlformats.org/drawingml/2006/main"/>
          <a:p xmlns:a="http://schemas.openxmlformats.org/drawingml/2006/main">
            <a:pPr>
              <a:defRPr sz="750" b="1">
                <a:solidFill>
                  <a:srgbClr val="64748B"/>
                </a:solidFill>
                <a:latin typeface="Bitstream Charter"/>
                <a:ea typeface="Bitstream Charter"/>
                <a:cs typeface="Bitstream Charter"/>
              </a:defRPr>
            </a:pPr>
            <a:r>
              <a:rPr sz="750" b="1">
                <a:solidFill>
                  <a:srgbClr val="64748B"/>
                </a:solidFill>
                <a:latin typeface="Bitstream Charter"/>
                <a:ea typeface="Bitstream Charter"/>
                <a:cs typeface="Bitstream Charter"/>
              </a:rPr>
              <a:t>10</a:t>
            </a:r>
          </a:p>
        </p:txBody>
      </p:sp>
    </p:spTree>
    <p:extLst>
      <p:ext uri="{BB962C8B-B14F-4D97-AF65-F5344CB8AC3E}">
        <p14:creationId xmlns:p14="http://schemas.microsoft.com/office/powerpoint/2010/main" val="1574275012"/>
      </p:ext>
    </p:extLst>
  </p:cSld>
</p:sld>
</file>

<file path=ppt/slides/slide11.xml><?xml version="1.0" encoding="utf-8"?>
<p:sld xmlns:p="http://schemas.openxmlformats.org/presentationml/2006/main">
  <p:cSld>
    <p:bg>
      <p:bgPr>
        <a:solidFill xmlns:a="http://schemas.openxmlformats.org/drawingml/2006/main">
          <a:srgbClr val="F6F8FC"/>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B078FFE6-4AEA-4691-9A68-FE08EFC0FD0C}"/>
              </a:ext>
            </a:extLst>
          </p:cNvPr>
          <p:cNvSpPr>
            <a:spLocks xmlns:a="http://schemas.openxmlformats.org/drawingml/2006/main" noGrp="1"/>
          </p:cNvSpPr>
          <p:nvPr/>
        </p:nvSpPr>
        <p:spPr>
          <a:xfrm xmlns:a="http://schemas.openxmlformats.org/drawingml/2006/main">
            <a:off x="685800" y="361950"/>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308"/>
          </a:bodyPr>
          <a:lstStyle xmlns:a="http://schemas.openxmlformats.org/drawingml/2006/main"/>
          <a:p xmlns:a="http://schemas.openxmlformats.org/drawingml/2006/main">
            <a:pPr>
              <a:defRPr sz="975" b="1">
                <a:solidFill>
                  <a:srgbClr val="7759E8"/>
                </a:solidFill>
                <a:latin typeface="Bitstream Charter"/>
                <a:ea typeface="Bitstream Charter"/>
                <a:cs typeface="Bitstream Charter"/>
              </a:defRPr>
            </a:pPr>
            <a:r>
              <a:rPr sz="975" b="1">
                <a:solidFill>
                  <a:srgbClr val="7759E8"/>
                </a:solidFill>
                <a:latin typeface="Bitstream Charter"/>
                <a:ea typeface="Bitstream Charter"/>
                <a:cs typeface="Bitstream Charter"/>
              </a:rPr>
              <a:t>10 / PROBLEMS ADDRESSED</a:t>
            </a:r>
          </a:p>
        </p:txBody>
      </p:sp>
      <p:sp>
        <p:nvSpPr>
          <p:cNvPr id="2" name="">
            <a:extLst xmlns:a="http://schemas.openxmlformats.org/drawingml/2006/main">
              <a:ext uri="{FF2B5EF4-FFF2-40B4-BE49-F238E27FC236}">
                <a16:creationId xmlns:a16="http://schemas.microsoft.com/office/drawing/2014/main" id="{09E2E82B-3978-454A-A9EF-A35F5ECAD72D}"/>
              </a:ext>
            </a:extLst>
          </p:cNvPr>
          <p:cNvSpPr>
            <a:spLocks xmlns:a="http://schemas.openxmlformats.org/drawingml/2006/main" noGrp="1"/>
          </p:cNvSpPr>
          <p:nvPr/>
        </p:nvSpPr>
        <p:spPr>
          <a:xfrm xmlns:a="http://schemas.openxmlformats.org/drawingml/2006/main">
            <a:off x="685800" y="647700"/>
            <a:ext cx="108204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625" b="1">
                <a:solidFill>
                  <a:srgbClr val="14233A"/>
                </a:solidFill>
                <a:latin typeface="Bitstream Charter"/>
                <a:ea typeface="Bitstream Charter"/>
                <a:cs typeface="Bitstream Charter"/>
              </a:defRPr>
            </a:pPr>
            <a:r>
              <a:rPr sz="2625" b="1">
                <a:solidFill>
                  <a:srgbClr val="14233A"/>
                </a:solidFill>
                <a:latin typeface="Bitstream Charter"/>
                <a:ea typeface="Bitstream Charter"/>
                <a:cs typeface="Bitstream Charter"/>
              </a:rPr>
              <a:t>Manual problems and implemented responses</a:t>
            </a:r>
          </a:p>
        </p:txBody>
      </p:sp>
      <p:sp>
        <p:nvSpPr>
          <p:cNvPr id="3" name="">
            <a:extLst xmlns:a="http://schemas.openxmlformats.org/drawingml/2006/main">
              <a:ext uri="{FF2B5EF4-FFF2-40B4-BE49-F238E27FC236}">
                <a16:creationId xmlns:a16="http://schemas.microsoft.com/office/drawing/2014/main" id="{A837E555-23CB-488E-AD61-DEAA8A915476}"/>
              </a:ext>
            </a:extLst>
          </p:cNvPr>
          <p:cNvSpPr>
            <a:spLocks xmlns:a="http://schemas.openxmlformats.org/drawingml/2006/main" noGrp="1"/>
          </p:cNvSpPr>
          <p:nvPr/>
        </p:nvSpPr>
        <p:spPr>
          <a:xfrm xmlns:a="http://schemas.openxmlformats.org/drawingml/2006/main">
            <a:off x="685800" y="1238250"/>
            <a:ext cx="10287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b="0">
                <a:solidFill>
                  <a:srgbClr val="64748B"/>
                </a:solidFill>
                <a:latin typeface="Bitstream Charter"/>
                <a:ea typeface="Bitstream Charter"/>
                <a:cs typeface="Bitstream Charter"/>
              </a:defRPr>
            </a:pPr>
            <a:r>
              <a:rPr sz="1275" b="0">
                <a:solidFill>
                  <a:srgbClr val="64748B"/>
                </a:solidFill>
                <a:latin typeface="Bitstream Charter"/>
                <a:ea typeface="Bitstream Charter"/>
                <a:cs typeface="Bitstream Charter"/>
              </a:rPr>
              <a:t>Every major weakness identified in Chapter One received a corresponding system function.</a:t>
            </a:r>
          </a:p>
        </p:txBody>
      </p:sp>
      <p:graphicFrame>
        <p:nvGraphicFramePr>
          <p:cNvPr id="10" name=""/>
          <p:cNvGraphicFramePr/>
          <p:nvPr/>
        </p:nvGraphicFramePr>
        <p:xfrm>
          <a:off xmlns:a="http://schemas.openxmlformats.org/drawingml/2006/main" x="685800" y="1790700"/>
          <a:ext xmlns:a="http://schemas.openxmlformats.org/drawingml/2006/main" cx="10820400" cy="3943350"/>
        </p:xfrm>
        <a:graphic xmlns:a="http://schemas.openxmlformats.org/drawingml/2006/main">
          <a:graphicData uri="http://schemas.openxmlformats.org/drawingml/2006/table">
            <a:tbl>
              <a:tblPr/>
              <a:tblGrid>
                <a:gridCol w="4476750"/>
                <a:gridCol w="6343650"/>
              </a:tblGrid>
              <a:tr h="492919">
                <a:tc>
                  <a:txBody>
                    <a:bodyPr/>
                    <a:lstStyle/>
                    <a:p>
                      <a:r>
                        <a:rPr sz="1275" b="1">
                          <a:solidFill>
                            <a:srgbClr val="FFFFFF"/>
                          </a:solidFill>
                          <a:latin typeface="Bitstream Charter"/>
                          <a:ea typeface="Bitstream Charter"/>
                          <a:cs typeface="Bitstream Charter"/>
                        </a:rPr>
                        <a:t>Chapter One problem</a:t>
                      </a:r>
                    </a:p>
                  </a:txBody>
                  <a:tcPr marL="91440" marR="91440" marT="45720" marB="45720">
                    <a:solidFill>
                      <a:srgbClr val="101829"/>
                    </a:solidFill>
                  </a:tcPr>
                </a:tc>
                <a:tc>
                  <a:txBody>
                    <a:bodyPr/>
                    <a:lstStyle/>
                    <a:p>
                      <a:r>
                        <a:rPr sz="1275" b="1">
                          <a:solidFill>
                            <a:srgbClr val="FFFFFF"/>
                          </a:solidFill>
                          <a:latin typeface="Bitstream Charter"/>
                          <a:ea typeface="Bitstream Charter"/>
                          <a:cs typeface="Bitstream Charter"/>
                        </a:rPr>
                        <a:t>Implemented response</a:t>
                      </a:r>
                    </a:p>
                  </a:txBody>
                  <a:tcPr marL="91440" marR="91440" marT="45720" marB="45720">
                    <a:solidFill>
                      <a:srgbClr val="101829"/>
                    </a:solidFill>
                  </a:tcPr>
                </a:tc>
              </a:tr>
              <a:tr h="492919">
                <a:tc>
                  <a:txBody>
                    <a:bodyPr/>
                    <a:lstStyle/>
                    <a:p>
                      <a:r>
                        <a:rPr sz="1125" b="0">
                          <a:solidFill>
                            <a:srgbClr val="64748B"/>
                          </a:solidFill>
                          <a:latin typeface="Bitstream Charter"/>
                          <a:ea typeface="Bitstream Charter"/>
                          <a:cs typeface="Bitstream Charter"/>
                        </a:rPr>
                        <a:t>Manual product records</a:t>
                      </a:r>
                    </a:p>
                  </a:txBody>
                  <a:tcPr marL="91440" marR="91440" marT="45720" marB="45720">
                    <a:solidFill>
                      <a:srgbClr val="FFFFFF"/>
                    </a:solidFill>
                  </a:tcPr>
                </a:tc>
                <a:tc>
                  <a:txBody>
                    <a:bodyPr/>
                    <a:lstStyle/>
                    <a:p>
                      <a:r>
                        <a:rPr sz="1125" b="1">
                          <a:solidFill>
                            <a:srgbClr val="14233A"/>
                          </a:solidFill>
                          <a:latin typeface="Bitstream Charter"/>
                          <a:ea typeface="Bitstream Charter"/>
                          <a:cs typeface="Bitstream Charter"/>
                        </a:rPr>
                        <a:t>Centralized product and catalog database</a:t>
                      </a:r>
                    </a:p>
                  </a:txBody>
                  <a:tcPr marL="91440" marR="91440" marT="45720" marB="45720">
                    <a:solidFill>
                      <a:srgbClr val="FFFFFF"/>
                    </a:solidFill>
                  </a:tcPr>
                </a:tc>
              </a:tr>
              <a:tr h="492919">
                <a:tc>
                  <a:txBody>
                    <a:bodyPr/>
                    <a:lstStyle/>
                    <a:p>
                      <a:r>
                        <a:rPr sz="1125" b="0">
                          <a:solidFill>
                            <a:srgbClr val="64748B"/>
                          </a:solidFill>
                          <a:latin typeface="Bitstream Charter"/>
                          <a:ea typeface="Bitstream Charter"/>
                          <a:cs typeface="Bitstream Charter"/>
                        </a:rPr>
                        <a:t>Manual stock counting</a:t>
                      </a:r>
                    </a:p>
                  </a:txBody>
                  <a:tcPr marL="91440" marR="91440" marT="45720" marB="45720">
                    <a:solidFill>
                      <a:srgbClr val="F0F3F8"/>
                    </a:solidFill>
                  </a:tcPr>
                </a:tc>
                <a:tc>
                  <a:txBody>
                    <a:bodyPr/>
                    <a:lstStyle/>
                    <a:p>
                      <a:r>
                        <a:rPr sz="1125" b="1">
                          <a:solidFill>
                            <a:srgbClr val="14233A"/>
                          </a:solidFill>
                          <a:latin typeface="Bitstream Charter"/>
                          <a:ea typeface="Bitstream Charter"/>
                          <a:cs typeface="Bitstream Charter"/>
                        </a:rPr>
                        <a:t>Automatic inventory updates and stock movement history</a:t>
                      </a:r>
                    </a:p>
                  </a:txBody>
                  <a:tcPr marL="91440" marR="91440" marT="45720" marB="45720">
                    <a:solidFill>
                      <a:srgbClr val="F0F3F8"/>
                    </a:solidFill>
                  </a:tcPr>
                </a:tc>
              </a:tr>
              <a:tr h="492919">
                <a:tc>
                  <a:txBody>
                    <a:bodyPr/>
                    <a:lstStyle/>
                    <a:p>
                      <a:r>
                        <a:rPr sz="1125" b="0">
                          <a:solidFill>
                            <a:srgbClr val="64748B"/>
                          </a:solidFill>
                          <a:latin typeface="Bitstream Charter"/>
                          <a:ea typeface="Bitstream Charter"/>
                          <a:cs typeface="Bitstream Charter"/>
                        </a:rPr>
                        <a:t>Paper-based sales</a:t>
                      </a:r>
                    </a:p>
                  </a:txBody>
                  <a:tcPr marL="91440" marR="91440" marT="45720" marB="45720">
                    <a:solidFill>
                      <a:srgbClr val="FFFFFF"/>
                    </a:solidFill>
                  </a:tcPr>
                </a:tc>
                <a:tc>
                  <a:txBody>
                    <a:bodyPr/>
                    <a:lstStyle/>
                    <a:p>
                      <a:r>
                        <a:rPr sz="1125" b="1">
                          <a:solidFill>
                            <a:srgbClr val="14233A"/>
                          </a:solidFill>
                          <a:latin typeface="Bitstream Charter"/>
                          <a:ea typeface="Bitstream Charter"/>
                          <a:cs typeface="Bitstream Charter"/>
                        </a:rPr>
                        <a:t>POS and automated transaction recording</a:t>
                      </a:r>
                    </a:p>
                  </a:txBody>
                  <a:tcPr marL="91440" marR="91440" marT="45720" marB="45720">
                    <a:solidFill>
                      <a:srgbClr val="FFFFFF"/>
                    </a:solidFill>
                  </a:tcPr>
                </a:tc>
              </a:tr>
              <a:tr h="492919">
                <a:tc>
                  <a:txBody>
                    <a:bodyPr/>
                    <a:lstStyle/>
                    <a:p>
                      <a:r>
                        <a:rPr sz="1125" b="0">
                          <a:solidFill>
                            <a:srgbClr val="64748B"/>
                          </a:solidFill>
                          <a:latin typeface="Bitstream Charter"/>
                          <a:ea typeface="Bitstream Charter"/>
                          <a:cs typeface="Bitstream Charter"/>
                        </a:rPr>
                        <a:t>No online ordering</a:t>
                      </a:r>
                    </a:p>
                  </a:txBody>
                  <a:tcPr marL="91440" marR="91440" marT="45720" marB="45720">
                    <a:solidFill>
                      <a:srgbClr val="F0F3F8"/>
                    </a:solidFill>
                  </a:tcPr>
                </a:tc>
                <a:tc>
                  <a:txBody>
                    <a:bodyPr/>
                    <a:lstStyle/>
                    <a:p>
                      <a:r>
                        <a:rPr sz="1125" b="1">
                          <a:solidFill>
                            <a:srgbClr val="14233A"/>
                          </a:solidFill>
                          <a:latin typeface="Bitstream Charter"/>
                          <a:ea typeface="Bitstream Charter"/>
                          <a:cs typeface="Bitstream Charter"/>
                        </a:rPr>
                        <a:t>Customer-facing web store and order management</a:t>
                      </a:r>
                    </a:p>
                  </a:txBody>
                  <a:tcPr marL="91440" marR="91440" marT="45720" marB="45720">
                    <a:solidFill>
                      <a:srgbClr val="F0F3F8"/>
                    </a:solidFill>
                  </a:tcPr>
                </a:tc>
              </a:tr>
              <a:tr h="492919">
                <a:tc>
                  <a:txBody>
                    <a:bodyPr/>
                    <a:lstStyle/>
                    <a:p>
                      <a:r>
                        <a:rPr sz="1125" b="0">
                          <a:solidFill>
                            <a:srgbClr val="64748B"/>
                          </a:solidFill>
                          <a:latin typeface="Bitstream Charter"/>
                          <a:ea typeface="Bitstream Charter"/>
                          <a:cs typeface="Bitstream Charter"/>
                        </a:rPr>
                        <a:t>Manual delivery follow-up</a:t>
                      </a:r>
                    </a:p>
                  </a:txBody>
                  <a:tcPr marL="91440" marR="91440" marT="45720" marB="45720">
                    <a:solidFill>
                      <a:srgbClr val="FFFFFF"/>
                    </a:solidFill>
                  </a:tcPr>
                </a:tc>
                <a:tc>
                  <a:txBody>
                    <a:bodyPr/>
                    <a:lstStyle/>
                    <a:p>
                      <a:r>
                        <a:rPr sz="1125" b="1">
                          <a:solidFill>
                            <a:srgbClr val="14233A"/>
                          </a:solidFill>
                          <a:latin typeface="Bitstream Charter"/>
                          <a:ea typeface="Bitstream Charter"/>
                          <a:cs typeface="Bitstream Charter"/>
                        </a:rPr>
                        <a:t>Delivery assignment, status and confirmation workflow</a:t>
                      </a:r>
                    </a:p>
                  </a:txBody>
                  <a:tcPr marL="91440" marR="91440" marT="45720" marB="45720">
                    <a:solidFill>
                      <a:srgbClr val="FFFFFF"/>
                    </a:solidFill>
                  </a:tcPr>
                </a:tc>
              </a:tr>
              <a:tr h="492919">
                <a:tc>
                  <a:txBody>
                    <a:bodyPr/>
                    <a:lstStyle/>
                    <a:p>
                      <a:r>
                        <a:rPr sz="1125" b="0">
                          <a:solidFill>
                            <a:srgbClr val="64748B"/>
                          </a:solidFill>
                          <a:latin typeface="Bitstream Charter"/>
                          <a:ea typeface="Bitstream Charter"/>
                          <a:cs typeface="Bitstream Charter"/>
                        </a:rPr>
                        <a:t>Delayed manual reports</a:t>
                      </a:r>
                    </a:p>
                  </a:txBody>
                  <a:tcPr marL="91440" marR="91440" marT="45720" marB="45720">
                    <a:solidFill>
                      <a:srgbClr val="F0F3F8"/>
                    </a:solidFill>
                  </a:tcPr>
                </a:tc>
                <a:tc>
                  <a:txBody>
                    <a:bodyPr/>
                    <a:lstStyle/>
                    <a:p>
                      <a:r>
                        <a:rPr sz="1125" b="1">
                          <a:solidFill>
                            <a:srgbClr val="14233A"/>
                          </a:solidFill>
                          <a:latin typeface="Bitstream Charter"/>
                          <a:ea typeface="Bitstream Charter"/>
                          <a:cs typeface="Bitstream Charter"/>
                        </a:rPr>
                        <a:t>Current operational dashboards and reports</a:t>
                      </a:r>
                    </a:p>
                  </a:txBody>
                  <a:tcPr marL="91440" marR="91440" marT="45720" marB="45720">
                    <a:solidFill>
                      <a:srgbClr val="F0F3F8"/>
                    </a:solidFill>
                  </a:tcPr>
                </a:tc>
              </a:tr>
              <a:tr h="492919">
                <a:tc>
                  <a:txBody>
                    <a:bodyPr/>
                    <a:lstStyle/>
                    <a:p>
                      <a:r>
                        <a:rPr sz="1125" b="0">
                          <a:solidFill>
                            <a:srgbClr val="64748B"/>
                          </a:solidFill>
                          <a:latin typeface="Bitstream Charter"/>
                          <a:ea typeface="Bitstream Charter"/>
                          <a:cs typeface="Bitstream Charter"/>
                        </a:rPr>
                        <a:t>Limited access control</a:t>
                      </a:r>
                    </a:p>
                  </a:txBody>
                  <a:tcPr marL="91440" marR="91440" marT="45720" marB="45720">
                    <a:solidFill>
                      <a:srgbClr val="FFFFFF"/>
                    </a:solidFill>
                  </a:tcPr>
                </a:tc>
                <a:tc>
                  <a:txBody>
                    <a:bodyPr/>
                    <a:lstStyle/>
                    <a:p>
                      <a:r>
                        <a:rPr sz="1125" b="1">
                          <a:solidFill>
                            <a:srgbClr val="14233A"/>
                          </a:solidFill>
                          <a:latin typeface="Bitstream Charter"/>
                          <a:ea typeface="Bitstream Charter"/>
                          <a:cs typeface="Bitstream Charter"/>
                        </a:rPr>
                        <a:t>Authentication and role-based permissions</a:t>
                      </a:r>
                    </a:p>
                  </a:txBody>
                  <a:tcPr marL="91440" marR="91440" marT="45720" marB="45720">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0557B5BF-E37C-411E-A5C3-8515B99D59A2}"/>
              </a:ext>
            </a:extLst>
          </p:cNvPr>
          <p:cNvSpPr>
            <a:spLocks xmlns:a="http://schemas.openxmlformats.org/drawingml/2006/main" noGrp="1"/>
          </p:cNvSpPr>
          <p:nvPr/>
        </p:nvSpPr>
        <p:spPr>
          <a:xfrm xmlns:a="http://schemas.openxmlformats.org/drawingml/2006/main">
            <a:off x="685800" y="6496050"/>
            <a:ext cx="6191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0000"/>
          </a:bodyPr>
          <a:lstStyle xmlns:a="http://schemas.openxmlformats.org/drawingml/2006/main"/>
          <a:p xmlns:a="http://schemas.openxmlformats.org/drawingml/2006/main">
            <a:pPr>
              <a:defRPr sz="750" b="1">
                <a:solidFill>
                  <a:srgbClr val="64748B"/>
                </a:solidFill>
                <a:latin typeface="Bitstream Charter"/>
                <a:ea typeface="Bitstream Charter"/>
                <a:cs typeface="Bitstream Charter"/>
              </a:defRPr>
            </a:pPr>
            <a:r>
              <a:rPr sz="750" b="1">
                <a:solidFill>
                  <a:srgbClr val="64748B"/>
                </a:solidFill>
                <a:latin typeface="Bitstream Charter"/>
                <a:ea typeface="Bitstream Charter"/>
                <a:cs typeface="Bitstream Charter"/>
              </a:rPr>
              <a:t>BOOKSHOP SYSTEM  •  BRIGHT MULTISERVICES AND TECH SOLUTIONS</a:t>
            </a:r>
          </a:p>
        </p:txBody>
      </p:sp>
      <p:sp>
        <p:nvSpPr>
          <p:cNvPr id="6" name="">
            <a:extLst xmlns:a="http://schemas.openxmlformats.org/drawingml/2006/main">
              <a:ext uri="{FF2B5EF4-FFF2-40B4-BE49-F238E27FC236}">
                <a16:creationId xmlns:a16="http://schemas.microsoft.com/office/drawing/2014/main" id="{0CC341A2-6E2D-4869-B4EC-6E43F77B55AF}"/>
              </a:ext>
            </a:extLst>
          </p:cNvPr>
          <p:cNvSpPr>
            <a:spLocks xmlns:a="http://schemas.openxmlformats.org/drawingml/2006/main" noGrp="1"/>
          </p:cNvSpPr>
          <p:nvPr/>
        </p:nvSpPr>
        <p:spPr>
          <a:xfrm xmlns:a="http://schemas.openxmlformats.org/drawingml/2006/main">
            <a:off x="11049000" y="6496050"/>
            <a:ext cx="4572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0000"/>
          </a:bodyPr>
          <a:lstStyle xmlns:a="http://schemas.openxmlformats.org/drawingml/2006/main"/>
          <a:p xmlns:a="http://schemas.openxmlformats.org/drawingml/2006/main">
            <a:pPr>
              <a:defRPr sz="750" b="1">
                <a:solidFill>
                  <a:srgbClr val="64748B"/>
                </a:solidFill>
                <a:latin typeface="Bitstream Charter"/>
                <a:ea typeface="Bitstream Charter"/>
                <a:cs typeface="Bitstream Charter"/>
              </a:defRPr>
            </a:pPr>
            <a:r>
              <a:rPr sz="750" b="1">
                <a:solidFill>
                  <a:srgbClr val="64748B"/>
                </a:solidFill>
                <a:latin typeface="Bitstream Charter"/>
                <a:ea typeface="Bitstream Charter"/>
                <a:cs typeface="Bitstream Charter"/>
              </a:rPr>
              <a:t>11</a:t>
            </a:r>
          </a:p>
        </p:txBody>
      </p:sp>
    </p:spTree>
    <p:extLst>
      <p:ext uri="{BB962C8B-B14F-4D97-AF65-F5344CB8AC3E}">
        <p14:creationId xmlns:p14="http://schemas.microsoft.com/office/powerpoint/2010/main" val="1396242686"/>
      </p:ext>
    </p:extLst>
  </p:cSld>
</p:sld>
</file>

<file path=ppt/slides/slide12.xml><?xml version="1.0" encoding="utf-8"?>
<p:sld xmlns:p="http://schemas.openxmlformats.org/presentationml/2006/main">
  <p:cSld>
    <p:bg>
      <p:bgPr>
        <a:solidFill xmlns:a="http://schemas.openxmlformats.org/drawingml/2006/main">
          <a:srgbClr val="101829"/>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98E94412-60F4-47EC-8E13-1B5DCFC36B98}"/>
              </a:ext>
            </a:extLst>
          </p:cNvPr>
          <p:cNvSpPr>
            <a:spLocks xmlns:a="http://schemas.openxmlformats.org/drawingml/2006/main" noGrp="1"/>
          </p:cNvSpPr>
          <p:nvPr/>
        </p:nvSpPr>
        <p:spPr>
          <a:xfrm xmlns:a="http://schemas.openxmlformats.org/drawingml/2006/main">
            <a:off x="685800" y="361950"/>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308"/>
          </a:bodyPr>
          <a:lstStyle xmlns:a="http://schemas.openxmlformats.org/drawingml/2006/main"/>
          <a:p xmlns:a="http://schemas.openxmlformats.org/drawingml/2006/main">
            <a:pPr>
              <a:defRPr sz="975" b="1">
                <a:solidFill>
                  <a:srgbClr val="A78BFA"/>
                </a:solidFill>
                <a:latin typeface="Bitstream Charter"/>
                <a:ea typeface="Bitstream Charter"/>
                <a:cs typeface="Bitstream Charter"/>
              </a:defRPr>
            </a:pPr>
            <a:r>
              <a:rPr sz="975" b="1">
                <a:solidFill>
                  <a:srgbClr val="A78BFA"/>
                </a:solidFill>
                <a:latin typeface="Bitstream Charter"/>
                <a:ea typeface="Bitstream Charter"/>
                <a:cs typeface="Bitstream Charter"/>
              </a:rPr>
              <a:t>11 / CONCLUSION</a:t>
            </a:r>
          </a:p>
        </p:txBody>
      </p:sp>
      <p:sp>
        <p:nvSpPr>
          <p:cNvPr id="2" name="">
            <a:extLst xmlns:a="http://schemas.openxmlformats.org/drawingml/2006/main">
              <a:ext uri="{FF2B5EF4-FFF2-40B4-BE49-F238E27FC236}">
                <a16:creationId xmlns:a16="http://schemas.microsoft.com/office/drawing/2014/main" id="{97335CDF-A729-48F4-BA01-D1C0C3BCCEB1}"/>
              </a:ext>
            </a:extLst>
          </p:cNvPr>
          <p:cNvSpPr>
            <a:spLocks xmlns:a="http://schemas.openxmlformats.org/drawingml/2006/main" noGrp="1"/>
          </p:cNvSpPr>
          <p:nvPr/>
        </p:nvSpPr>
        <p:spPr>
          <a:xfrm xmlns:a="http://schemas.openxmlformats.org/drawingml/2006/main">
            <a:off x="685800" y="647700"/>
            <a:ext cx="108204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625" b="1">
                <a:solidFill>
                  <a:srgbClr val="FFFFFF"/>
                </a:solidFill>
                <a:latin typeface="Bitstream Charter"/>
                <a:ea typeface="Bitstream Charter"/>
                <a:cs typeface="Bitstream Charter"/>
              </a:defRPr>
            </a:pPr>
            <a:r>
              <a:rPr sz="2625" b="1">
                <a:solidFill>
                  <a:srgbClr val="FFFFFF"/>
                </a:solidFill>
                <a:latin typeface="Bitstream Charter"/>
                <a:ea typeface="Bitstream Charter"/>
                <a:cs typeface="Bitstream Charter"/>
              </a:rPr>
              <a:t>The project achieved its research purpose</a:t>
            </a:r>
          </a:p>
        </p:txBody>
      </p:sp>
      <p:sp>
        <p:nvSpPr>
          <p:cNvPr id="3" name="">
            <a:extLst xmlns:a="http://schemas.openxmlformats.org/drawingml/2006/main">
              <a:ext uri="{FF2B5EF4-FFF2-40B4-BE49-F238E27FC236}">
                <a16:creationId xmlns:a16="http://schemas.microsoft.com/office/drawing/2014/main" id="{5046D0FD-86F1-4314-8D78-82BC2CDA94E6}"/>
              </a:ext>
            </a:extLst>
          </p:cNvPr>
          <p:cNvSpPr>
            <a:spLocks xmlns:a="http://schemas.openxmlformats.org/drawingml/2006/main" noGrp="1"/>
          </p:cNvSpPr>
          <p:nvPr/>
        </p:nvSpPr>
        <p:spPr>
          <a:xfrm xmlns:a="http://schemas.openxmlformats.org/drawingml/2006/main">
            <a:off x="685800" y="1238250"/>
            <a:ext cx="10287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b="0">
                <a:solidFill>
                  <a:srgbClr val="BFC8D8"/>
                </a:solidFill>
                <a:latin typeface="Bitstream Charter"/>
                <a:ea typeface="Bitstream Charter"/>
                <a:cs typeface="Bitstream Charter"/>
              </a:defRPr>
            </a:pPr>
            <a:r>
              <a:rPr sz="1275" b="0">
                <a:solidFill>
                  <a:srgbClr val="BFC8D8"/>
                </a:solidFill>
                <a:latin typeface="Bitstream Charter"/>
                <a:ea typeface="Bitstream Charter"/>
                <a:cs typeface="Bitstream Charter"/>
              </a:rPr>
              <a:t>BrightMTS now has a tested foundation for centralized digital operations.</a:t>
            </a:r>
          </a:p>
        </p:txBody>
      </p:sp>
      <p:sp>
        <p:nvSpPr>
          <p:cNvPr id="4" name="">
            <a:extLst xmlns:a="http://schemas.openxmlformats.org/drawingml/2006/main">
              <a:ext uri="{FF2B5EF4-FFF2-40B4-BE49-F238E27FC236}">
                <a16:creationId xmlns:a16="http://schemas.microsoft.com/office/drawing/2014/main" id="{BB784B99-D2D5-4414-85A7-C2F18716F84F}"/>
              </a:ext>
            </a:extLst>
          </p:cNvPr>
          <p:cNvSpPr>
            <a:spLocks xmlns:a="http://schemas.openxmlformats.org/drawingml/2006/main" noGrp="1"/>
          </p:cNvSpPr>
          <p:nvPr/>
        </p:nvSpPr>
        <p:spPr>
          <a:xfrm xmlns:a="http://schemas.openxmlformats.org/drawingml/2006/main">
            <a:off x="685800" y="1952625"/>
            <a:ext cx="5105400" cy="1190625"/>
          </a:xfrm>
          <a:prstGeom xmlns:a="http://schemas.openxmlformats.org/drawingml/2006/main" prst="roundRect">
            <a:avLst>
              <a:gd name="adj" fmla="val 14400"/>
            </a:avLst>
          </a:prstGeom>
          <a:solidFill xmlns:a="http://schemas.openxmlformats.org/drawingml/2006/main">
            <a:srgbClr val="1D2940"/>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039D83B3-40CB-43A8-A72B-D77CD3E2F8BA}"/>
              </a:ext>
            </a:extLst>
          </p:cNvPr>
          <p:cNvSpPr>
            <a:spLocks xmlns:a="http://schemas.openxmlformats.org/drawingml/2006/main" noGrp="1"/>
          </p:cNvSpPr>
          <p:nvPr/>
        </p:nvSpPr>
        <p:spPr>
          <a:xfrm xmlns:a="http://schemas.openxmlformats.org/drawingml/2006/main">
            <a:off x="933450" y="2124075"/>
            <a:ext cx="190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9487"/>
          </a:bodyPr>
          <a:lstStyle xmlns:a="http://schemas.openxmlformats.org/drawingml/2006/main"/>
          <a:p xmlns:a="http://schemas.openxmlformats.org/drawingml/2006/main">
            <a:pPr>
              <a:defRPr sz="975" b="1">
                <a:solidFill>
                  <a:srgbClr val="16A34A"/>
                </a:solidFill>
                <a:latin typeface="Bitstream Charter"/>
                <a:ea typeface="Bitstream Charter"/>
                <a:cs typeface="Bitstream Charter"/>
              </a:defRPr>
            </a:pPr>
            <a:r>
              <a:rPr sz="975" b="1">
                <a:solidFill>
                  <a:srgbClr val="16A34A"/>
                </a:solidFill>
                <a:latin typeface="Bitstream Charter"/>
                <a:ea typeface="Bitstream Charter"/>
                <a:cs typeface="Bitstream Charter"/>
              </a:rPr>
              <a:t>CENTRALIZED</a:t>
            </a:r>
          </a:p>
        </p:txBody>
      </p:sp>
      <p:sp>
        <p:nvSpPr>
          <p:cNvPr id="6" name="">
            <a:extLst xmlns:a="http://schemas.openxmlformats.org/drawingml/2006/main">
              <a:ext uri="{FF2B5EF4-FFF2-40B4-BE49-F238E27FC236}">
                <a16:creationId xmlns:a16="http://schemas.microsoft.com/office/drawing/2014/main" id="{395A0FF4-565C-4699-9F37-78462CF9EE0C}"/>
              </a:ext>
            </a:extLst>
          </p:cNvPr>
          <p:cNvSpPr>
            <a:spLocks xmlns:a="http://schemas.openxmlformats.org/drawingml/2006/main" noGrp="1"/>
          </p:cNvSpPr>
          <p:nvPr/>
        </p:nvSpPr>
        <p:spPr>
          <a:xfrm xmlns:a="http://schemas.openxmlformats.org/drawingml/2006/main">
            <a:off x="933450" y="2428875"/>
            <a:ext cx="4572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8333"/>
          </a:bodyPr>
          <a:lstStyle xmlns:a="http://schemas.openxmlformats.org/drawingml/2006/main"/>
          <a:p xmlns:a="http://schemas.openxmlformats.org/drawingml/2006/main">
            <a:pPr>
              <a:defRPr sz="1500" b="1">
                <a:solidFill>
                  <a:srgbClr val="FFFFFF"/>
                </a:solidFill>
                <a:latin typeface="Bitstream Charter"/>
                <a:ea typeface="Bitstream Charter"/>
                <a:cs typeface="Bitstream Charter"/>
              </a:defRPr>
            </a:pPr>
            <a:r>
              <a:rPr sz="1500" b="1">
                <a:solidFill>
                  <a:srgbClr val="FFFFFF"/>
                </a:solidFill>
                <a:latin typeface="Bitstream Charter"/>
                <a:ea typeface="Bitstream Charter"/>
                <a:cs typeface="Bitstream Charter"/>
              </a:rPr>
              <a:t>Products, stock, customers, sales, orders, payments and delivery</a:t>
            </a:r>
          </a:p>
        </p:txBody>
      </p:sp>
      <p:sp>
        <p:nvSpPr>
          <p:cNvPr id="7" name="">
            <a:extLst xmlns:a="http://schemas.openxmlformats.org/drawingml/2006/main">
              <a:ext uri="{FF2B5EF4-FFF2-40B4-BE49-F238E27FC236}">
                <a16:creationId xmlns:a16="http://schemas.microsoft.com/office/drawing/2014/main" id="{45B62FA9-65A7-4B3A-9AA3-E245A1E5060F}"/>
              </a:ext>
            </a:extLst>
          </p:cNvPr>
          <p:cNvSpPr>
            <a:spLocks xmlns:a="http://schemas.openxmlformats.org/drawingml/2006/main" noGrp="1"/>
          </p:cNvSpPr>
          <p:nvPr/>
        </p:nvSpPr>
        <p:spPr>
          <a:xfrm xmlns:a="http://schemas.openxmlformats.org/drawingml/2006/main">
            <a:off x="6096000" y="1952625"/>
            <a:ext cx="5105400" cy="1190625"/>
          </a:xfrm>
          <a:prstGeom xmlns:a="http://schemas.openxmlformats.org/drawingml/2006/main" prst="roundRect">
            <a:avLst>
              <a:gd name="adj" fmla="val 14400"/>
            </a:avLst>
          </a:prstGeom>
          <a:solidFill xmlns:a="http://schemas.openxmlformats.org/drawingml/2006/main">
            <a:srgbClr val="1D2940"/>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7CF5331B-CC6B-4840-9545-1468EA1FF902}"/>
              </a:ext>
            </a:extLst>
          </p:cNvPr>
          <p:cNvSpPr>
            <a:spLocks xmlns:a="http://schemas.openxmlformats.org/drawingml/2006/main" noGrp="1"/>
          </p:cNvSpPr>
          <p:nvPr/>
        </p:nvSpPr>
        <p:spPr>
          <a:xfrm xmlns:a="http://schemas.openxmlformats.org/drawingml/2006/main">
            <a:off x="6343650" y="2124075"/>
            <a:ext cx="190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9487"/>
          </a:bodyPr>
          <a:lstStyle xmlns:a="http://schemas.openxmlformats.org/drawingml/2006/main"/>
          <a:p xmlns:a="http://schemas.openxmlformats.org/drawingml/2006/main">
            <a:pPr>
              <a:defRPr sz="975" b="1">
                <a:solidFill>
                  <a:srgbClr val="16A6D9"/>
                </a:solidFill>
                <a:latin typeface="Bitstream Charter"/>
                <a:ea typeface="Bitstream Charter"/>
                <a:cs typeface="Bitstream Charter"/>
              </a:defRPr>
            </a:pPr>
            <a:r>
              <a:rPr sz="975" b="1">
                <a:solidFill>
                  <a:srgbClr val="16A6D9"/>
                </a:solidFill>
                <a:latin typeface="Bitstream Charter"/>
                <a:ea typeface="Bitstream Charter"/>
                <a:cs typeface="Bitstream Charter"/>
              </a:rPr>
              <a:t>AUTOMATED</a:t>
            </a:r>
          </a:p>
        </p:txBody>
      </p:sp>
      <p:sp>
        <p:nvSpPr>
          <p:cNvPr id="9" name="">
            <a:extLst xmlns:a="http://schemas.openxmlformats.org/drawingml/2006/main">
              <a:ext uri="{FF2B5EF4-FFF2-40B4-BE49-F238E27FC236}">
                <a16:creationId xmlns:a16="http://schemas.microsoft.com/office/drawing/2014/main" id="{06AF146F-CAAA-493A-8D68-3D9F12913CF2}"/>
              </a:ext>
            </a:extLst>
          </p:cNvPr>
          <p:cNvSpPr>
            <a:spLocks xmlns:a="http://schemas.openxmlformats.org/drawingml/2006/main" noGrp="1"/>
          </p:cNvSpPr>
          <p:nvPr/>
        </p:nvSpPr>
        <p:spPr>
          <a:xfrm xmlns:a="http://schemas.openxmlformats.org/drawingml/2006/main">
            <a:off x="6343650" y="2428875"/>
            <a:ext cx="4572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8333"/>
          </a:bodyPr>
          <a:lstStyle xmlns:a="http://schemas.openxmlformats.org/drawingml/2006/main"/>
          <a:p xmlns:a="http://schemas.openxmlformats.org/drawingml/2006/main">
            <a:pPr>
              <a:defRPr sz="1500" b="1">
                <a:solidFill>
                  <a:srgbClr val="FFFFFF"/>
                </a:solidFill>
                <a:latin typeface="Bitstream Charter"/>
                <a:ea typeface="Bitstream Charter"/>
                <a:cs typeface="Bitstream Charter"/>
              </a:defRPr>
            </a:pPr>
            <a:r>
              <a:rPr sz="1500" b="1">
                <a:solidFill>
                  <a:srgbClr val="FFFFFF"/>
                </a:solidFill>
                <a:latin typeface="Bitstream Charter"/>
                <a:ea typeface="Bitstream Charter"/>
                <a:cs typeface="Bitstream Charter"/>
              </a:rPr>
              <a:t>Inventory updates, notifications and operational reporting</a:t>
            </a:r>
          </a:p>
        </p:txBody>
      </p:sp>
      <p:sp>
        <p:nvSpPr>
          <p:cNvPr id="10" name="">
            <a:extLst xmlns:a="http://schemas.openxmlformats.org/drawingml/2006/main">
              <a:ext uri="{FF2B5EF4-FFF2-40B4-BE49-F238E27FC236}">
                <a16:creationId xmlns:a16="http://schemas.microsoft.com/office/drawing/2014/main" id="{D66492F0-E639-4FFF-961F-C716588E2D53}"/>
              </a:ext>
            </a:extLst>
          </p:cNvPr>
          <p:cNvSpPr>
            <a:spLocks xmlns:a="http://schemas.openxmlformats.org/drawingml/2006/main" noGrp="1"/>
          </p:cNvSpPr>
          <p:nvPr/>
        </p:nvSpPr>
        <p:spPr>
          <a:xfrm xmlns:a="http://schemas.openxmlformats.org/drawingml/2006/main">
            <a:off x="685800" y="3429000"/>
            <a:ext cx="5105400" cy="1190625"/>
          </a:xfrm>
          <a:prstGeom xmlns:a="http://schemas.openxmlformats.org/drawingml/2006/main" prst="roundRect">
            <a:avLst>
              <a:gd name="adj" fmla="val 14400"/>
            </a:avLst>
          </a:prstGeom>
          <a:solidFill xmlns:a="http://schemas.openxmlformats.org/drawingml/2006/main">
            <a:srgbClr val="1D2940"/>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F6CAED85-A3E3-43D7-83F4-244FB8C7BE51}"/>
              </a:ext>
            </a:extLst>
          </p:cNvPr>
          <p:cNvSpPr>
            <a:spLocks xmlns:a="http://schemas.openxmlformats.org/drawingml/2006/main" noGrp="1"/>
          </p:cNvSpPr>
          <p:nvPr/>
        </p:nvSpPr>
        <p:spPr>
          <a:xfrm xmlns:a="http://schemas.openxmlformats.org/drawingml/2006/main">
            <a:off x="933450" y="3600450"/>
            <a:ext cx="190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9487"/>
          </a:bodyPr>
          <a:lstStyle xmlns:a="http://schemas.openxmlformats.org/drawingml/2006/main"/>
          <a:p xmlns:a="http://schemas.openxmlformats.org/drawingml/2006/main">
            <a:pPr>
              <a:defRPr sz="975" b="1">
                <a:solidFill>
                  <a:srgbClr val="7759E8"/>
                </a:solidFill>
                <a:latin typeface="Bitstream Charter"/>
                <a:ea typeface="Bitstream Charter"/>
                <a:cs typeface="Bitstream Charter"/>
              </a:defRPr>
            </a:pPr>
            <a:r>
              <a:rPr sz="975" b="1">
                <a:solidFill>
                  <a:srgbClr val="7759E8"/>
                </a:solidFill>
                <a:latin typeface="Bitstream Charter"/>
                <a:ea typeface="Bitstream Charter"/>
                <a:cs typeface="Bitstream Charter"/>
              </a:rPr>
              <a:t>VALIDATED</a:t>
            </a:r>
          </a:p>
        </p:txBody>
      </p:sp>
      <p:sp>
        <p:nvSpPr>
          <p:cNvPr id="12" name="">
            <a:extLst xmlns:a="http://schemas.openxmlformats.org/drawingml/2006/main">
              <a:ext uri="{FF2B5EF4-FFF2-40B4-BE49-F238E27FC236}">
                <a16:creationId xmlns:a16="http://schemas.microsoft.com/office/drawing/2014/main" id="{D6E5E230-30B0-4107-859D-A5455F7C026C}"/>
              </a:ext>
            </a:extLst>
          </p:cNvPr>
          <p:cNvSpPr>
            <a:spLocks xmlns:a="http://schemas.openxmlformats.org/drawingml/2006/main" noGrp="1"/>
          </p:cNvSpPr>
          <p:nvPr/>
        </p:nvSpPr>
        <p:spPr>
          <a:xfrm xmlns:a="http://schemas.openxmlformats.org/drawingml/2006/main">
            <a:off x="933450" y="3905250"/>
            <a:ext cx="4572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752"/>
          </a:bodyPr>
          <a:lstStyle xmlns:a="http://schemas.openxmlformats.org/drawingml/2006/main"/>
          <a:p xmlns:a="http://schemas.openxmlformats.org/drawingml/2006/main">
            <a:pPr>
              <a:defRPr sz="1500" b="1">
                <a:solidFill>
                  <a:srgbClr val="FFFFFF"/>
                </a:solidFill>
                <a:latin typeface="Bitstream Charter"/>
                <a:ea typeface="Bitstream Charter"/>
                <a:cs typeface="Bitstream Charter"/>
              </a:defRPr>
            </a:pPr>
            <a:r>
              <a:rPr sz="1500" b="1">
                <a:solidFill>
                  <a:srgbClr val="FFFFFF"/>
                </a:solidFill>
                <a:latin typeface="Bitstream Charter"/>
                <a:ea typeface="Bitstream Charter"/>
                <a:cs typeface="Bitstream Charter"/>
              </a:rPr>
              <a:t>Unit, integration, system and user acceptance testing</a:t>
            </a:r>
          </a:p>
        </p:txBody>
      </p:sp>
      <p:sp>
        <p:nvSpPr>
          <p:cNvPr id="13" name="">
            <a:extLst xmlns:a="http://schemas.openxmlformats.org/drawingml/2006/main">
              <a:ext uri="{FF2B5EF4-FFF2-40B4-BE49-F238E27FC236}">
                <a16:creationId xmlns:a16="http://schemas.microsoft.com/office/drawing/2014/main" id="{1C390016-C028-46B8-857B-C55483F76DAF}"/>
              </a:ext>
            </a:extLst>
          </p:cNvPr>
          <p:cNvSpPr>
            <a:spLocks xmlns:a="http://schemas.openxmlformats.org/drawingml/2006/main" noGrp="1"/>
          </p:cNvSpPr>
          <p:nvPr/>
        </p:nvSpPr>
        <p:spPr>
          <a:xfrm xmlns:a="http://schemas.openxmlformats.org/drawingml/2006/main">
            <a:off x="6096000" y="3429000"/>
            <a:ext cx="5105400" cy="1190625"/>
          </a:xfrm>
          <a:prstGeom xmlns:a="http://schemas.openxmlformats.org/drawingml/2006/main" prst="roundRect">
            <a:avLst>
              <a:gd name="adj" fmla="val 14400"/>
            </a:avLst>
          </a:prstGeom>
          <a:solidFill xmlns:a="http://schemas.openxmlformats.org/drawingml/2006/main">
            <a:srgbClr val="1D2940"/>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242BD541-909E-4A69-8619-84DAFF44ED04}"/>
              </a:ext>
            </a:extLst>
          </p:cNvPr>
          <p:cNvSpPr>
            <a:spLocks xmlns:a="http://schemas.openxmlformats.org/drawingml/2006/main" noGrp="1"/>
          </p:cNvSpPr>
          <p:nvPr/>
        </p:nvSpPr>
        <p:spPr>
          <a:xfrm xmlns:a="http://schemas.openxmlformats.org/drawingml/2006/main">
            <a:off x="6343650" y="3600450"/>
            <a:ext cx="190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9487"/>
          </a:bodyPr>
          <a:lstStyle xmlns:a="http://schemas.openxmlformats.org/drawingml/2006/main"/>
          <a:p xmlns:a="http://schemas.openxmlformats.org/drawingml/2006/main">
            <a:pPr>
              <a:defRPr sz="975" b="1">
                <a:solidFill>
                  <a:srgbClr val="F59E0B"/>
                </a:solidFill>
                <a:latin typeface="Bitstream Charter"/>
                <a:ea typeface="Bitstream Charter"/>
                <a:cs typeface="Bitstream Charter"/>
              </a:defRPr>
            </a:pPr>
            <a:r>
              <a:rPr sz="975" b="1">
                <a:solidFill>
                  <a:srgbClr val="F59E0B"/>
                </a:solidFill>
                <a:latin typeface="Bitstream Charter"/>
                <a:ea typeface="Bitstream Charter"/>
                <a:cs typeface="Bitstream Charter"/>
              </a:rPr>
              <a:t>DECISION SUPPORT</a:t>
            </a:r>
          </a:p>
        </p:txBody>
      </p:sp>
      <p:sp>
        <p:nvSpPr>
          <p:cNvPr id="15" name="">
            <a:extLst xmlns:a="http://schemas.openxmlformats.org/drawingml/2006/main">
              <a:ext uri="{FF2B5EF4-FFF2-40B4-BE49-F238E27FC236}">
                <a16:creationId xmlns:a16="http://schemas.microsoft.com/office/drawing/2014/main" id="{92900F6B-91AE-43E1-ADCB-216EE94777E2}"/>
              </a:ext>
            </a:extLst>
          </p:cNvPr>
          <p:cNvSpPr>
            <a:spLocks xmlns:a="http://schemas.openxmlformats.org/drawingml/2006/main" noGrp="1"/>
          </p:cNvSpPr>
          <p:nvPr/>
        </p:nvSpPr>
        <p:spPr>
          <a:xfrm xmlns:a="http://schemas.openxmlformats.org/drawingml/2006/main">
            <a:off x="6343650" y="3905250"/>
            <a:ext cx="4572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4062"/>
          </a:bodyPr>
          <a:lstStyle xmlns:a="http://schemas.openxmlformats.org/drawingml/2006/main"/>
          <a:p xmlns:a="http://schemas.openxmlformats.org/drawingml/2006/main">
            <a:pPr>
              <a:defRPr sz="1500" b="1">
                <a:solidFill>
                  <a:srgbClr val="FFFFFF"/>
                </a:solidFill>
                <a:latin typeface="Bitstream Charter"/>
                <a:ea typeface="Bitstream Charter"/>
                <a:cs typeface="Bitstream Charter"/>
              </a:defRPr>
            </a:pPr>
            <a:r>
              <a:rPr sz="1500" b="1">
                <a:solidFill>
                  <a:srgbClr val="FFFFFF"/>
                </a:solidFill>
                <a:latin typeface="Bitstream Charter"/>
                <a:ea typeface="Bitstream Charter"/>
                <a:cs typeface="Bitstream Charter"/>
              </a:rPr>
              <a:t>Current dashboards and reports for authorized users</a:t>
            </a:r>
          </a:p>
        </p:txBody>
      </p:sp>
      <p:sp>
        <p:nvSpPr>
          <p:cNvPr id="16" name="">
            <a:extLst xmlns:a="http://schemas.openxmlformats.org/drawingml/2006/main">
              <a:ext uri="{FF2B5EF4-FFF2-40B4-BE49-F238E27FC236}">
                <a16:creationId xmlns:a16="http://schemas.microsoft.com/office/drawing/2014/main" id="{C9823C25-F074-496A-B9B0-4A6C5C2AE080}"/>
              </a:ext>
            </a:extLst>
          </p:cNvPr>
          <p:cNvSpPr>
            <a:spLocks xmlns:a="http://schemas.openxmlformats.org/drawingml/2006/main" noGrp="1"/>
          </p:cNvSpPr>
          <p:nvPr/>
        </p:nvSpPr>
        <p:spPr>
          <a:xfrm xmlns:a="http://schemas.openxmlformats.org/drawingml/2006/main">
            <a:off x="685800" y="5400675"/>
            <a:ext cx="108204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800" b="1">
                <a:solidFill>
                  <a:srgbClr val="DDE4F0"/>
                </a:solidFill>
                <a:latin typeface="Bitstream Charter"/>
                <a:ea typeface="Bitstream Charter"/>
                <a:cs typeface="Bitstream Charter"/>
              </a:defRPr>
            </a:pPr>
            <a:r>
              <a:rPr sz="1800" b="1">
                <a:solidFill>
                  <a:srgbClr val="DDE4F0"/>
                </a:solidFill>
                <a:latin typeface="Bitstream Charter"/>
                <a:ea typeface="Bitstream Charter"/>
                <a:cs typeface="Bitstream Charter"/>
              </a:rPr>
              <a:t>THANK YOU  •  QUESTIONS AND DISCUSSION</a:t>
            </a:r>
          </a:p>
        </p:txBody>
      </p:sp>
      <p:sp>
        <p:nvSpPr>
          <p:cNvPr id="17" name="">
            <a:extLst xmlns:a="http://schemas.openxmlformats.org/drawingml/2006/main">
              <a:ext uri="{FF2B5EF4-FFF2-40B4-BE49-F238E27FC236}">
                <a16:creationId xmlns:a16="http://schemas.microsoft.com/office/drawing/2014/main" id="{6CB22260-3569-4280-9D58-9F5B1E91B465}"/>
              </a:ext>
            </a:extLst>
          </p:cNvPr>
          <p:cNvSpPr>
            <a:spLocks xmlns:a="http://schemas.openxmlformats.org/drawingml/2006/main" noGrp="1"/>
          </p:cNvSpPr>
          <p:nvPr/>
        </p:nvSpPr>
        <p:spPr>
          <a:xfrm xmlns:a="http://schemas.openxmlformats.org/drawingml/2006/main">
            <a:off x="685800" y="6496050"/>
            <a:ext cx="6191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0000"/>
          </a:bodyPr>
          <a:lstStyle xmlns:a="http://schemas.openxmlformats.org/drawingml/2006/main"/>
          <a:p xmlns:a="http://schemas.openxmlformats.org/drawingml/2006/main">
            <a:pPr>
              <a:defRPr sz="750" b="1">
                <a:solidFill>
                  <a:srgbClr val="9EABC0"/>
                </a:solidFill>
                <a:latin typeface="Bitstream Charter"/>
                <a:ea typeface="Bitstream Charter"/>
                <a:cs typeface="Bitstream Charter"/>
              </a:defRPr>
            </a:pPr>
            <a:r>
              <a:rPr sz="750" b="1">
                <a:solidFill>
                  <a:srgbClr val="9EABC0"/>
                </a:solidFill>
                <a:latin typeface="Bitstream Charter"/>
                <a:ea typeface="Bitstream Charter"/>
                <a:cs typeface="Bitstream Charter"/>
              </a:rPr>
              <a:t>BOOKSHOP SYSTEM  •  BRIGHT MULTISERVICES AND TECH SOLUTIONS</a:t>
            </a:r>
          </a:p>
        </p:txBody>
      </p:sp>
      <p:sp>
        <p:nvSpPr>
          <p:cNvPr id="18" name="">
            <a:extLst xmlns:a="http://schemas.openxmlformats.org/drawingml/2006/main">
              <a:ext uri="{FF2B5EF4-FFF2-40B4-BE49-F238E27FC236}">
                <a16:creationId xmlns:a16="http://schemas.microsoft.com/office/drawing/2014/main" id="{4B744367-75C6-4008-AA0A-543D688C5E6A}"/>
              </a:ext>
            </a:extLst>
          </p:cNvPr>
          <p:cNvSpPr>
            <a:spLocks xmlns:a="http://schemas.openxmlformats.org/drawingml/2006/main" noGrp="1"/>
          </p:cNvSpPr>
          <p:nvPr/>
        </p:nvSpPr>
        <p:spPr>
          <a:xfrm xmlns:a="http://schemas.openxmlformats.org/drawingml/2006/main">
            <a:off x="11049000" y="6496050"/>
            <a:ext cx="4572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0000"/>
          </a:bodyPr>
          <a:lstStyle xmlns:a="http://schemas.openxmlformats.org/drawingml/2006/main"/>
          <a:p xmlns:a="http://schemas.openxmlformats.org/drawingml/2006/main">
            <a:pPr>
              <a:defRPr sz="750" b="1">
                <a:solidFill>
                  <a:srgbClr val="9EABC0"/>
                </a:solidFill>
                <a:latin typeface="Bitstream Charter"/>
                <a:ea typeface="Bitstream Charter"/>
                <a:cs typeface="Bitstream Charter"/>
              </a:defRPr>
            </a:pPr>
            <a:r>
              <a:rPr sz="750" b="1">
                <a:solidFill>
                  <a:srgbClr val="9EABC0"/>
                </a:solidFill>
                <a:latin typeface="Bitstream Charter"/>
                <a:ea typeface="Bitstream Charter"/>
                <a:cs typeface="Bitstream Charter"/>
              </a:rPr>
              <a:t>12</a:t>
            </a:r>
          </a:p>
        </p:txBody>
      </p:sp>
    </p:spTree>
    <p:extLst>
      <p:ext uri="{BB962C8B-B14F-4D97-AF65-F5344CB8AC3E}">
        <p14:creationId xmlns:p14="http://schemas.microsoft.com/office/powerpoint/2010/main" val="210811312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2026-09-18T19:28:24.6940000Z</dcterms:created>
  <dcterms:modified xsi:type="dcterms:W3CDTF">2026-09-18T19:28:24.6940000Z</dcterms:modified>
</coreProperties>
</file>